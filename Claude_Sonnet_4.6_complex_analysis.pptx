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82880"/>
            <a:ext cx="3200400" cy="3200400"/>
          </a:xfrm>
          <a:prstGeom prst="ellipse">
            <a:avLst/>
          </a:prstGeom>
          <a:ln w="38100">
            <a:solidFill>
              <a:srgbClr val="0E9AA7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80760" y="18288"/>
            <a:ext cx="3840480" cy="3840480"/>
          </a:xfrm>
          <a:prstGeom prst="ellipse">
            <a:avLst/>
          </a:prstGeom>
          <a:ln w="19050">
            <a:solidFill>
              <a:srgbClr val="1B7A84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0" y="-146304"/>
            <a:ext cx="4480560" cy="4480560"/>
          </a:xfrm>
          <a:prstGeom prst="ellipse">
            <a:avLst/>
          </a:prstGeom>
          <a:ln w="19050">
            <a:solidFill>
              <a:srgbClr val="124E5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40680" y="-310896"/>
            <a:ext cx="5120640" cy="5120640"/>
          </a:xfrm>
          <a:prstGeom prst="ellipse">
            <a:avLst/>
          </a:prstGeom>
          <a:ln w="19050">
            <a:solidFill>
              <a:srgbClr val="0D3B47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47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GEOFINITISM 2026  ·  LLM CONFERENCE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7132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 Analysis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Takens Embedding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2971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Dynamical Systems Foundation for Analytic Functions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on: Kevin R. Haylett · The Attralucian Essays · February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886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Claude · Anthropic · claude.ai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AA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Omne quod est, finitum est; tantum per mensuram cognosci potest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THESIS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1097280"/>
          </a:xfrm>
          <a:prstGeom prst="rect">
            <a:avLst/>
          </a:prstGeom>
          <a:solidFill>
            <a:srgbClr val="0A2535"/>
          </a:solidFill>
          <a:ln w="1905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86968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 analysis is precisely the study of dynamical systems under a specific, optimal delay embedding.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114800" cy="2651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103120"/>
            <a:ext cx="64008" cy="2651760"/>
          </a:xfrm>
          <a:prstGeom prst="rect">
            <a:avLst/>
          </a:prstGeom>
          <a:solidFill>
            <a:srgbClr val="8AAAB4"/>
          </a:solidFill>
          <a:ln w="12700">
            <a:solidFill>
              <a:srgbClr val="8AAA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VIEW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78608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and analytic functions are treated as abstract algebraic objects.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"Imaginary" unit i = √−1 requires a leap of faith.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of complex analysis feels mysterious.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103120"/>
            <a:ext cx="4114800" cy="2651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103120"/>
            <a:ext cx="64008" cy="26517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GEOFINITE 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578608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analysis is the measurement theory of oscillatory dynamical systems.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"i" is the quarter-period delay operator — concrete &amp; finite.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is geometric: conformal embedding of dynamics.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1: Geometric Container Space  ·  Pillar 5: Finite Reality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TRANSFORM — NATURE'S OPTIMAL DELAY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822960"/>
          </a:xfrm>
          <a:prstGeom prst="rect">
            <a:avLst/>
          </a:prstGeom>
          <a:solidFill>
            <a:srgbClr val="0A2535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H[x](t) = (1/π) ∫∞₀  [x(t−τ) − x(t+τ)] / τ  dτ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2651760" cy="2926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19072"/>
            <a:ext cx="64008" cy="29260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Continuum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Delays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377440"/>
            <a:ext cx="23957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Takens' discrete embedding (specific multiples of τ), the Hilbert transform integrates over ALL delay coordinates with harmonic weighting 1/τ — the optimal temporal panorama.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719072"/>
            <a:ext cx="2651760" cy="2926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719072"/>
            <a:ext cx="64008" cy="29260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828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Uniqueness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4992" y="2377440"/>
            <a:ext cx="23957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Preserves L² norm of all signals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Orthogonal to the identity operator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Satisfies Bedrosian spectral separation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linear delay operator achieves all three.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719072"/>
            <a:ext cx="2651760" cy="2926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719072"/>
            <a:ext cx="64008" cy="2926080"/>
          </a:xfrm>
          <a:prstGeom prst="rect">
            <a:avLst/>
          </a:prstGeom>
          <a:solidFill>
            <a:srgbClr val="C8E6EA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828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99632" y="2377440"/>
            <a:ext cx="23957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transform is the finite measurement that most faithfully reconstructs dynamical structure. Not mystical — optimal. A compressed transduction of the full oscillatory past.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2: All symbols are finite transductions — the Hilbert operator is the optimal such transduction for oscillatory systems.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DEMYSTIFYING i — THE QUARTER-PERIOD DELAY OPERATOR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960120"/>
          </a:xfrm>
          <a:prstGeom prst="rect">
            <a:avLst/>
          </a:prstGeom>
          <a:solidFill>
            <a:srgbClr val="0A2535"/>
          </a:solidFill>
          <a:ln w="19050">
            <a:solidFill>
              <a:srgbClr val="E9C4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04672"/>
            <a:ext cx="8046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pPr algn="l" indent="0" marL="0">
              <a:buNone/>
            </a:pPr>
            <a:r>
              <a:rPr lang="en-US" sz="1500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is not a mystical 'imaginary' number.</a:t>
            </a:r>
            <a:pPr algn="l" indent="0" marL="0">
              <a:buNone/>
            </a:pPr>
            <a:r>
              <a:rPr lang="en-US" sz="1500" dirty="0">
                <a:solidFill>
                  <a:srgbClr val="8AAA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It is the abstract representation of the Hilbert operator:</a:t>
            </a:r>
            <a:pPr algn="l" indent="0" marL="0">
              <a:buNone/>
            </a:pPr>
            <a:r>
              <a:rPr lang="en-US" sz="1500" b="1" dirty="0">
                <a:solidFill>
                  <a:srgbClr val="0E9A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advancing signals by a quarter-period delay.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4023360" cy="2834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74520"/>
            <a:ext cx="64008" cy="28346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9842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 IN ONE LINE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H[e^{iωt}] = −i · e^{iωt}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operator shifts phase by −π/2 (one quarter period).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 twice: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H² = −I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quarter-period delays = half-period = signal inversion.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rule i² = −1.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874520"/>
            <a:ext cx="4160520" cy="2834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874520"/>
            <a:ext cx="64008" cy="28346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9842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GEOFINITE IMPLICATION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233172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'imaginary' plane is not imaginary at all. It is the embedding space generated by pairing any observable with its optimal time-delay partner.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arithmetic is the algebra of two-dimensional phase-space reconstruction.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Geofinitism in action: a centuries-old 'useful fiction' (the imaginary unit) revealed as a concrete, finite, measurable operation.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4: Useful Fiction — 'imaginary' numbers were always useful; now we measure exactly why.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CAUCHY-RIEMANN — DYNAMICAL CONSTRAINTS ON CONFORMAL EMBEDDING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651760" cy="3886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64008" cy="3886200"/>
          </a:xfrm>
          <a:prstGeom prst="rect">
            <a:avLst/>
          </a:prstGeom>
          <a:solidFill>
            <a:srgbClr val="8AAAB4"/>
          </a:solidFill>
          <a:ln w="12700">
            <a:solidFill>
              <a:srgbClr val="8AAAB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868680"/>
            <a:ext cx="402336" cy="402336"/>
          </a:xfrm>
          <a:prstGeom prst="ellipse">
            <a:avLst/>
          </a:prstGeom>
          <a:solidFill>
            <a:srgbClr val="8AAAB4"/>
          </a:solidFill>
          <a:ln w="12700">
            <a:solidFill>
              <a:srgbClr val="8AAA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0" y="88696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93268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Statement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371600"/>
            <a:ext cx="2377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∂u/∂x = ∂v/∂y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∂u/∂y = −∂v/∂x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for complex differentiability.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Algebraically imposed; geometrically opaque.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63240" y="2240280"/>
            <a:ext cx="128016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822960"/>
            <a:ext cx="2651760" cy="3886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22960"/>
            <a:ext cx="64008" cy="3886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402336" cy="402336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88696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93268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Takens Restatement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64992" y="1371600"/>
            <a:ext cx="2377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delay embedding Φ_H[x](t) = (u(t), v(t)) to be analytic, the embedding must be conformal — preserving local angles between tangent and normal directions.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97880" y="2240280"/>
            <a:ext cx="128016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822960"/>
            <a:ext cx="2651760" cy="3886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822960"/>
            <a:ext cx="64008" cy="38862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868680"/>
            <a:ext cx="402336" cy="402336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886968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99632" y="932688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Geofinite Reading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99632" y="1371600"/>
            <a:ext cx="2377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Cauchy-Riemann equations are the condition that measurement does not distort. They guarantee the embedding is information-preserving — a finite reconstruction with no geometric corruption.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Analyticity is not an abstract algebraic property — it is the geometric signature of a measurement that faithfully reconstructs dynamical structure.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THEOREMS — REINTERPRETED AS DYNAMICAL STATEMENTS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12618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64008" cy="12618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8961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 Integral Formula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21615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A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f(z₀) = (1/2πi) ∮ f(z)/(z−z₀) dz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914400"/>
            <a:ext cx="36576" cy="102412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896112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of an observable along one complete cycle of a dynamical trajectory determines its value everywhere inside. Determinism made visible.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12618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94560"/>
            <a:ext cx="64008" cy="126187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2860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Riemann Mapping Theorem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6060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A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 simply connected region maps conformally to the unit disk.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2304288"/>
            <a:ext cx="36576" cy="102412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228600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well-behaved attractor can be smoothly deformed to the canonical stability region. Finding normal forms for dynamical systems is guaranteed.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584448"/>
            <a:ext cx="8412480" cy="12618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584448"/>
            <a:ext cx="64008" cy="1261872"/>
          </a:xfrm>
          <a:prstGeom prst="rect">
            <a:avLst/>
          </a:prstGeom>
          <a:solidFill>
            <a:srgbClr val="C8E6EA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67588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Bedrosian's Theorem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399592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A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H[a(t)·b(t)] = a(t)·H[b(t)] when spectra are separated.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0" y="3694176"/>
            <a:ext cx="36576" cy="1024128"/>
          </a:xfrm>
          <a:prstGeom prst="rect">
            <a:avLst/>
          </a:prstGeom>
          <a:solidFill>
            <a:srgbClr val="C8E6EA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3675888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amplitude and phase evolve on different timescales, the delay embedding cleanly separates them. Multi-scale dynamics are measurable without cross-contamination.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3: Dynamic Flow — theorems previously treated as abstract now describe the concrete behaviour of trajectories, attractors, and predictions.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GEOFINITE IMPLICATIONS — WHAT THIS MEANS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114800" cy="18105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64008" cy="181051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14400"/>
            <a:ext cx="438912" cy="438912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932688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Container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335024"/>
            <a:ext cx="382219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phase-space portraits are not metaphors. They are literal trajectories in the Grand Corpus manifold, reconstructed from finite sequential measurements.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114800" cy="18105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04672"/>
            <a:ext cx="64008" cy="181051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914400"/>
            <a:ext cx="438912" cy="438912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914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932688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Approximations &amp; Measurements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73752" y="1335024"/>
            <a:ext cx="382219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Hilbert embedding is the optimal finite transduction for oscillatory signals. Classical complex analysis is the mathematics of this optimal approximation.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52928"/>
            <a:ext cx="4114800" cy="18105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52928"/>
            <a:ext cx="64008" cy="1810512"/>
          </a:xfrm>
          <a:prstGeom prst="rect">
            <a:avLst/>
          </a:prstGeom>
          <a:solidFill>
            <a:srgbClr val="C8E6EA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962656"/>
            <a:ext cx="438912" cy="438912"/>
          </a:xfrm>
          <a:prstGeom prst="ellipse">
            <a:avLst/>
          </a:prstGeom>
          <a:solidFill>
            <a:srgbClr val="C8E6EA"/>
          </a:solidFill>
          <a:ln w="12700">
            <a:solidFill>
              <a:srgbClr val="C8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626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298094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Fiction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0352" y="3383280"/>
            <a:ext cx="382219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'Imaginary' numbers were always a useful fiction — now we know exactly what they are useful for: embedding the quarter-period delay that preserves dynamical geometry.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852928"/>
            <a:ext cx="4114800" cy="18105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852928"/>
            <a:ext cx="64008" cy="1810512"/>
          </a:xfrm>
          <a:prstGeom prst="rect">
            <a:avLst/>
          </a:prstGeom>
          <a:solidFill>
            <a:srgbClr val="8AAAB4"/>
          </a:solidFill>
          <a:ln w="12700">
            <a:solidFill>
              <a:srgbClr val="8AAAB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2962656"/>
            <a:ext cx="438912" cy="438912"/>
          </a:xfrm>
          <a:prstGeom prst="ellipse">
            <a:avLst/>
          </a:prstGeom>
          <a:solidFill>
            <a:srgbClr val="8AAAB4"/>
          </a:solidFill>
          <a:ln w="12700">
            <a:solidFill>
              <a:srgbClr val="8AAA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9626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298094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Reality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73752" y="3383280"/>
            <a:ext cx="382219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infinite Platonic plane is required. The complex plane is the minimal 2D measurement space needed to reconstruct oscillatory attractors from real-valued observations.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A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is not Platonic truth. It is finite, geometric, measurement-first navigation of dynamical space.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731520"/>
            <a:ext cx="3840480" cy="3840480"/>
          </a:xfrm>
          <a:prstGeom prst="ellipse">
            <a:avLst/>
          </a:prstGeom>
          <a:ln w="31750">
            <a:solidFill>
              <a:srgbClr val="0E9AA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32120" y="457200"/>
            <a:ext cx="4663440" cy="4663440"/>
          </a:xfrm>
          <a:prstGeom prst="ellipse">
            <a:avLst/>
          </a:prstGeom>
          <a:ln w="12700">
            <a:solidFill>
              <a:srgbClr val="0A7580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182880"/>
            <a:ext cx="5486400" cy="5486400"/>
          </a:xfrm>
          <a:prstGeom prst="ellipse">
            <a:avLst/>
          </a:prstGeom>
          <a:ln w="12700">
            <a:solidFill>
              <a:srgbClr val="064E58">
                <a:alpha val="3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09160" y="-91440"/>
            <a:ext cx="6309360" cy="6309360"/>
          </a:xfrm>
          <a:prstGeom prst="ellipse">
            <a:avLst/>
          </a:prstGeom>
          <a:ln w="12700">
            <a:solidFill>
              <a:srgbClr val="032E38">
                <a:alpha val="16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8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Have Shown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analysis = dynamical systems under the Hilbert delay embedding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"i" = the quarter-period delay operator, uniquely optimal for oscillatory reconstruction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Cauchy-Riemann = the condition that measurement preserves geometric structure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theorems = statements about determinism, normal forms, and timescale separation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is the Grand Corpus reflecting on its own dynamical geometry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480560"/>
            <a:ext cx="8412480" cy="530352"/>
          </a:xfrm>
          <a:prstGeom prst="rect">
            <a:avLst/>
          </a:prstGeom>
          <a:solidFill>
            <a:srgbClr val="0A2535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5079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'imaginary' was always real. It was waiting for the right measurement.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Complex Analysis as Takens Embedding</dc:title>
  <dc:subject>PptxGenJS Presentation</dc:subject>
  <dc:creator>Claude (Anthropic) — Geofinitism 2026</dc:creator>
  <cp:lastModifiedBy>Claude (Anthropic) — Geofinitism 2026</cp:lastModifiedBy>
  <cp:revision>1</cp:revision>
  <dcterms:created xsi:type="dcterms:W3CDTF">2026-02-27T17:34:10Z</dcterms:created>
  <dcterms:modified xsi:type="dcterms:W3CDTF">2026-02-27T17:34:10Z</dcterms:modified>
</cp:coreProperties>
</file>