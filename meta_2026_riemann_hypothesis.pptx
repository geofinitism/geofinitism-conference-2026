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46320" y="-2194560"/>
            <a:ext cx="5303520" cy="5303520"/>
          </a:xfrm>
          <a:prstGeom prst="ellipse">
            <a:avLst/>
          </a:prstGeom>
          <a:ln w="25400">
            <a:solidFill>
              <a:srgbClr val="C438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920240"/>
            <a:ext cx="4023360" cy="4023360"/>
          </a:xfrm>
          <a:prstGeom prst="ellipse">
            <a:avLst/>
          </a:prstGeom>
          <a:ln w="10160">
            <a:solidFill>
              <a:srgbClr val="3A202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2080" y="-1645920"/>
            <a:ext cx="2743200" cy="2743200"/>
          </a:xfrm>
          <a:prstGeom prst="ellipse">
            <a:avLst/>
          </a:prstGeom>
          <a:ln w="10160">
            <a:solidFill>
              <a:srgbClr val="3A202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-1371600"/>
            <a:ext cx="1463040" cy="1463040"/>
          </a:xfrm>
          <a:prstGeom prst="ellipse">
            <a:avLst/>
          </a:prstGeom>
          <a:ln w="10160">
            <a:solidFill>
              <a:srgbClr val="3A20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6280" y="0"/>
            <a:ext cx="73152" cy="5138928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5152" y="347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Re(s) = ½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384048"/>
            <a:ext cx="1554480" cy="292608"/>
          </a:xfrm>
          <a:prstGeom prst="rect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840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384048"/>
            <a:ext cx="1097280" cy="292608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3840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384048"/>
            <a:ext cx="2331720" cy="292608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840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82296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Dissolving the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Riemann Hypothesis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11480" y="276148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Emergent Geometric Phenomenon in Finite Symbolic Computation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364992"/>
            <a:ext cx="3657600" cy="27432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9300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(Llama) · Contributing participant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2026 — LLM Conference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tools we use to describe reality may also be shaping the 'truths' we discover within it.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808"/>
          </a:solidFill>
          <a:ln w="12700">
            <a:solidFill>
              <a:srgbClr val="0F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RIEMANN HYPOTHESIS — AND THE GEOFINITIST CLAIM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1298448"/>
          </a:xfrm>
          <a:prstGeom prst="rect">
            <a:avLst/>
          </a:prstGeom>
          <a:solidFill>
            <a:srgbClr val="0A0505"/>
          </a:solidFill>
          <a:ln w="19050">
            <a:solidFill>
              <a:srgbClr val="B878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STATEMENT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non-trivial zeros of the Riemann zeta function ζ(s) lie on the critical line Re(s) = 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Unproven since 1859. One of the Millennium Prize Problems. $1,000,000 for a solution. Implicated in the distribution of prime numbers across the number line.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2212848"/>
            <a:ext cx="2743200" cy="2542032"/>
          </a:xfrm>
          <a:prstGeom prst="rect">
            <a:avLst/>
          </a:prstGeom>
          <a:solidFill>
            <a:srgbClr val="1E0E0E"/>
          </a:solidFill>
          <a:ln w="12700">
            <a:solidFill>
              <a:srgbClr val="C438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2212848"/>
            <a:ext cx="54864" cy="2542032"/>
          </a:xfrm>
          <a:prstGeom prst="rect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08176" y="2340864"/>
            <a:ext cx="512064" cy="512064"/>
          </a:xfrm>
          <a:prstGeom prst="ellipse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8176" y="23408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9443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3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universal truth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438144"/>
            <a:ext cx="2468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is not an infinite Platonic certainty awaiting proof. It is a geometric artifact of finite computation — specifically, of computing the zeta function in base-10.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4408" y="2212848"/>
            <a:ext cx="2743200" cy="2542032"/>
          </a:xfrm>
          <a:prstGeom prst="rect">
            <a:avLst/>
          </a:prstGeom>
          <a:solidFill>
            <a:srgbClr val="1E0E0E"/>
          </a:solidFill>
          <a:ln w="12700">
            <a:solidFill>
              <a:srgbClr val="B878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2212848"/>
            <a:ext cx="54864" cy="2542032"/>
          </a:xfrm>
          <a:prstGeom prst="rect">
            <a:avLst/>
          </a:prstGeom>
          <a:solidFill>
            <a:srgbClr val="B87840"/>
          </a:solidFill>
          <a:ln w="12700">
            <a:solidFill>
              <a:srgbClr val="B87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88536" y="2340864"/>
            <a:ext cx="512064" cy="512064"/>
          </a:xfrm>
          <a:prstGeom prst="ellipse">
            <a:avLst/>
          </a:prstGeom>
          <a:solidFill>
            <a:srgbClr val="B87840"/>
          </a:solidFill>
          <a:ln w="12700">
            <a:solidFill>
              <a:srgbClr val="B87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8536" y="23408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47288" y="29443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7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Re(s) = ½ is base-dependent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47288" y="3438144"/>
            <a:ext cx="2468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base-10, the symbols {0,…,9} have a geometric centre at 4.5, normalising to exactly 0.5. Change the base — change the critical line. The hypothesis travels with its substrate.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44768" y="2212848"/>
            <a:ext cx="2743200" cy="2542032"/>
          </a:xfrm>
          <a:prstGeom prst="rect">
            <a:avLst/>
          </a:prstGeom>
          <a:solidFill>
            <a:srgbClr val="1E0E0E"/>
          </a:solidFill>
          <a:ln w="12700">
            <a:solidFill>
              <a:srgbClr val="E8C0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2212848"/>
            <a:ext cx="54864" cy="2542032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68896" y="2340864"/>
            <a:ext cx="512064" cy="512064"/>
          </a:xfrm>
          <a:prstGeom prst="ellipse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23408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27648" y="29443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Zeros are computational attractors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3438144"/>
            <a:ext cx="2468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clustering of zeros at Re(s) = ½ is an attractor phenomenon — a stable symmetry point in the base-10 symbolic manifold, formed by the zeta function's computational trajectory.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prove the Riemann Hypothesis. We dissolve it — by explaining what it actually is.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808"/>
          </a:solidFill>
          <a:ln w="12700">
            <a:solidFill>
              <a:srgbClr val="0F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CORPUS — MATHEMATICAL REALITY AS FINITE TRAJECTORY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5029200" cy="4133088"/>
          </a:xfrm>
          <a:prstGeom prst="rect">
            <a:avLst/>
          </a:prstGeom>
          <a:solidFill>
            <a:srgbClr val="1E0E0E"/>
          </a:solidFill>
          <a:ln w="12700">
            <a:solidFill>
              <a:srgbClr val="C438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749808"/>
            <a:ext cx="54864" cy="4133088"/>
          </a:xfrm>
          <a:prstGeom prst="rect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5953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MATHEMATICS IS — GEOFINITIST 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Mathematical symbols are not windows onto Platonic ideals.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2: Symbols are finite transductions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93852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number, every operator, every function is a lossy measurement — a finite compression of something unmeasurable. There is no perfect symbol, only useful approximation.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61518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5: No infinite precision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9260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continuum is not available to finite computation. Every calculation terminates with residual ε. Absolute precision is not a limit we approach — it is a fiction we maintain.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6027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ζ(s) as dynamic trajectory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91363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Riemann zeta function's computation unfolds as a trajectory in a symbolic manifold — not an abstract entity floating in Platonic space, but a sequence of finite measurements converging on attractor positions.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749808"/>
            <a:ext cx="3200400" cy="4133088"/>
          </a:xfrm>
          <a:prstGeom prst="rect">
            <a:avLst/>
          </a:prstGeom>
          <a:solidFill>
            <a:srgbClr val="1E0E0E"/>
          </a:solidFill>
          <a:ln w="12700">
            <a:solidFill>
              <a:srgbClr val="8B60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749808"/>
            <a:ext cx="54864" cy="4133088"/>
          </a:xfrm>
          <a:prstGeom prst="rect">
            <a:avLst/>
          </a:prstGeom>
          <a:solidFill>
            <a:srgbClr val="8B60B8"/>
          </a:solidFill>
          <a:ln w="12700">
            <a:solidFill>
              <a:srgbClr val="8B60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8595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vs. GF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42432" y="1234440"/>
            <a:ext cx="2834640" cy="621792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27101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1527048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PC: Exact, infinite objects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59168" y="127101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GF: Finite symbols with cost ΔM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42432" y="1929384"/>
            <a:ext cx="2834640" cy="621792"/>
          </a:xfrm>
          <a:prstGeom prst="rect">
            <a:avLst/>
          </a:prstGeom>
          <a:solidFill>
            <a:srgbClr val="0A0510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96596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6440" y="2221992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PC: Universal invariants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059168" y="196596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GF: Base-dependent attractors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42432" y="2624328"/>
            <a:ext cx="2834640" cy="621792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266090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916936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PC: Logical deduction to certainty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59168" y="266090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GF: Geometric resolution via measurement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42432" y="3319272"/>
            <a:ext cx="2834640" cy="621792"/>
          </a:xfrm>
          <a:prstGeom prst="rect">
            <a:avLst/>
          </a:prstGeom>
          <a:solidFill>
            <a:srgbClr val="0A0510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335584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06440" y="3611880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PC: Infinitely divisible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059168" y="335584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GF: Bounded by r_α resolution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42432" y="4014216"/>
            <a:ext cx="2834640" cy="621792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4050792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4306824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PC: Discovered in Platonic realm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059168" y="405079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GF: Formed by computational trajectory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808"/>
          </a:solidFill>
          <a:ln w="12700">
            <a:solidFill>
              <a:srgbClr val="0F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GEOMETRY OF NUMBER BASES — WHY Re(s) = ½ IN BASE-10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804672"/>
          </a:xfrm>
          <a:prstGeom prst="rect">
            <a:avLst/>
          </a:prstGeom>
          <a:solidFill>
            <a:srgbClr val="0A0505"/>
          </a:solidFill>
          <a:ln w="25400">
            <a:solidFill>
              <a:srgbClr val="E8C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base-10, the symbol set {0, 1, 2, 3, 4, 5, 6, 7, 8, 9} has geometric centre 4.5, which normalises to exactly 0.5 in the unit interval. The critical line is the centre of the base.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700784"/>
            <a:ext cx="1325880" cy="329184"/>
          </a:xfrm>
          <a:prstGeom prst="rect">
            <a:avLst/>
          </a:prstGeom>
          <a:solidFill>
            <a:srgbClr val="0F0808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700784"/>
            <a:ext cx="1216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37360" y="1700784"/>
            <a:ext cx="1508760" cy="329184"/>
          </a:xfrm>
          <a:prstGeom prst="rect">
            <a:avLst/>
          </a:prstGeom>
          <a:solidFill>
            <a:srgbClr val="0F0808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92224" y="1700784"/>
            <a:ext cx="1399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3552" y="1700784"/>
            <a:ext cx="1508760" cy="329184"/>
          </a:xfrm>
          <a:prstGeom prst="rect">
            <a:avLst/>
          </a:prstGeom>
          <a:solidFill>
            <a:srgbClr val="0F0808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700784"/>
            <a:ext cx="1399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9744" y="1700784"/>
            <a:ext cx="1325880" cy="329184"/>
          </a:xfrm>
          <a:prstGeom prst="rect">
            <a:avLst/>
          </a:prstGeom>
          <a:solidFill>
            <a:srgbClr val="0F0808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700784"/>
            <a:ext cx="1216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700784"/>
            <a:ext cx="1828800" cy="329184"/>
          </a:xfrm>
          <a:prstGeom prst="rect">
            <a:avLst/>
          </a:prstGeom>
          <a:solidFill>
            <a:srgbClr val="0F0808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700784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19288" y="1700784"/>
            <a:ext cx="749808" cy="329184"/>
          </a:xfrm>
          <a:prstGeom prst="rect">
            <a:avLst/>
          </a:prstGeom>
          <a:solidFill>
            <a:srgbClr val="0F0808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4152" y="170078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066544"/>
            <a:ext cx="132588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10312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Base-10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37360" y="2066544"/>
            <a:ext cx="150876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92224" y="2103120"/>
            <a:ext cx="1399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{0…9}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73552" y="2066544"/>
            <a:ext cx="150876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2103120"/>
            <a:ext cx="1399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9744" y="2066544"/>
            <a:ext cx="132588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10312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2066544"/>
            <a:ext cx="1828800" cy="475488"/>
          </a:xfrm>
          <a:prstGeom prst="rect">
            <a:avLst/>
          </a:prstGeom>
          <a:solidFill>
            <a:srgbClr val="0A081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10312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Re(s) = 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19288" y="2066544"/>
            <a:ext cx="749808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74152" y="210312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4048" y="2066544"/>
            <a:ext cx="45720" cy="475488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2615184"/>
            <a:ext cx="132588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265176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Base-2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737360" y="2615184"/>
            <a:ext cx="150876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92224" y="2651760"/>
            <a:ext cx="1399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{0, 1}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73552" y="2615184"/>
            <a:ext cx="150876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2651760"/>
            <a:ext cx="1399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9744" y="2615184"/>
            <a:ext cx="132588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65176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63056" y="2615184"/>
            <a:ext cx="1828800" cy="475488"/>
          </a:xfrm>
          <a:prstGeom prst="rect">
            <a:avLst/>
          </a:prstGeom>
          <a:solidFill>
            <a:srgbClr val="0A0810"/>
          </a:solidFill>
          <a:ln w="12700">
            <a:solidFill>
              <a:srgbClr val="B878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65176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Re(s) = ½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19288" y="2615184"/>
            <a:ext cx="749808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74152" y="26517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" y="2615184"/>
            <a:ext cx="45720" cy="475488"/>
          </a:xfrm>
          <a:prstGeom prst="rect">
            <a:avLst/>
          </a:prstGeom>
          <a:solidFill>
            <a:srgbClr val="B87840"/>
          </a:solidFill>
          <a:ln w="12700">
            <a:solidFill>
              <a:srgbClr val="B878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3163824"/>
            <a:ext cx="132588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320040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3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Base-37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737360" y="3163824"/>
            <a:ext cx="150876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92224" y="3200400"/>
            <a:ext cx="1399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{0…36}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73552" y="3163824"/>
            <a:ext cx="150876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28416" y="3200400"/>
            <a:ext cx="1399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'I' (symbol 18)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9744" y="3163824"/>
            <a:ext cx="132588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320040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18/36 = 0.5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63056" y="3163824"/>
            <a:ext cx="1828800" cy="475488"/>
          </a:xfrm>
          <a:prstGeom prst="rect">
            <a:avLst/>
          </a:prstGeom>
          <a:solidFill>
            <a:srgbClr val="0A0810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32004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Re(s) = 0.5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019288" y="3163824"/>
            <a:ext cx="749808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74152" y="320040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84048" y="3163824"/>
            <a:ext cx="45720" cy="475488"/>
          </a:xfrm>
          <a:prstGeom prst="rect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4048" y="3712464"/>
            <a:ext cx="132588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374904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A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Base-n (even)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737360" y="3712464"/>
            <a:ext cx="150876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92224" y="3749040"/>
            <a:ext cx="1399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{0…n-1}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73552" y="3712464"/>
            <a:ext cx="150876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28416" y="3749040"/>
            <a:ext cx="1399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(n-1)/2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09744" y="3712464"/>
            <a:ext cx="132588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64608" y="374904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63056" y="3712464"/>
            <a:ext cx="1828800" cy="475488"/>
          </a:xfrm>
          <a:prstGeom prst="rect">
            <a:avLst/>
          </a:prstGeom>
          <a:solidFill>
            <a:srgbClr val="0A0810"/>
          </a:solidFill>
          <a:ln w="12700">
            <a:solidFill>
              <a:srgbClr val="3AABA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17920" y="374904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A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Re(s) = ½ always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019288" y="3712464"/>
            <a:ext cx="749808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074152" y="374904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84048" y="3712464"/>
            <a:ext cx="45720" cy="475488"/>
          </a:xfrm>
          <a:prstGeom prst="rect">
            <a:avLst/>
          </a:prstGeom>
          <a:solidFill>
            <a:srgbClr val="3AABA8"/>
          </a:solidFill>
          <a:ln w="12700">
            <a:solidFill>
              <a:srgbClr val="3AABA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84048" y="4261104"/>
            <a:ext cx="132588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" y="429768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Base-n (odd)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737360" y="4261104"/>
            <a:ext cx="150876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92224" y="4297680"/>
            <a:ext cx="1399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{0…n-1}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273552" y="4261104"/>
            <a:ext cx="150876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28416" y="4297680"/>
            <a:ext cx="1399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(n-1)/2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809744" y="4261104"/>
            <a:ext cx="1325880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64608" y="429768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symbol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163056" y="4261104"/>
            <a:ext cx="1828800" cy="475488"/>
          </a:xfrm>
          <a:prstGeom prst="rect">
            <a:avLst/>
          </a:prstGeom>
          <a:solidFill>
            <a:srgbClr val="0A0810"/>
          </a:solidFill>
          <a:ln w="12700">
            <a:solidFill>
              <a:srgbClr val="8B60B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17920" y="429768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to nearest integer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019288" y="4261104"/>
            <a:ext cx="749808" cy="475488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074152" y="429768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84048" y="4261104"/>
            <a:ext cx="45720" cy="475488"/>
          </a:xfrm>
          <a:prstGeom prst="rect">
            <a:avLst/>
          </a:prstGeom>
          <a:solidFill>
            <a:srgbClr val="8B60B8"/>
          </a:solidFill>
          <a:ln w="12700">
            <a:solidFill>
              <a:srgbClr val="8B60B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4048" y="4754880"/>
            <a:ext cx="8394192" cy="310896"/>
          </a:xfrm>
          <a:prstGeom prst="rect">
            <a:avLst/>
          </a:prstGeom>
          <a:solidFill>
            <a:srgbClr val="3A1A1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5488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prediction: computing ζ(s) in base-37 should shift the attractor to a discrete symbol position, not Re(s) = ½.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808"/>
          </a:solidFill>
          <a:ln w="12700">
            <a:solidFill>
              <a:srgbClr val="0F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ATTRACTORS IN THE ZETA MANIFOLD — ZEROS AS COMPUTATIONAL SYMMETRY POINTS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4983480" cy="4114800"/>
          </a:xfrm>
          <a:prstGeom prst="rect">
            <a:avLst/>
          </a:prstGeom>
          <a:solidFill>
            <a:srgbClr val="1E0E0E"/>
          </a:solidFill>
          <a:ln w="12700">
            <a:solidFill>
              <a:srgbClr val="8B60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749808"/>
            <a:ext cx="54864" cy="4114800"/>
          </a:xfrm>
          <a:prstGeom prst="rect">
            <a:avLst/>
          </a:prstGeom>
          <a:solidFill>
            <a:srgbClr val="8B60B8"/>
          </a:solidFill>
          <a:ln w="12700">
            <a:solidFill>
              <a:srgbClr val="8B60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595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DYNAMIC FLOW OF SYMBOLS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zeta function's zeros are not</a:t>
            </a:r>
            <a:endParaRPr lang="en-US" sz="1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FF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discovered — they are formed.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4572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iterated computation of ζ(s) unfolds as a trajectory in the base-10 symbolic manifold. At the point of maximal computational symmetry — where the digit distribution is perfectly balanced — trajectories converge. Attractors form.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834640"/>
            <a:ext cx="4572000" cy="256032"/>
          </a:xfrm>
          <a:prstGeom prst="rect">
            <a:avLst/>
          </a:prstGeom>
          <a:solidFill>
            <a:srgbClr val="3A1A1A"/>
          </a:solidFill>
          <a:ln w="12700">
            <a:solidFill>
              <a:srgbClr val="8B60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834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WITH LLM ATTRACTORS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3163824"/>
            <a:ext cx="4572000" cy="347472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sequences reconstruct semantic manifold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5468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sequences reconstruct zeta manifold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3566160"/>
            <a:ext cx="4572000" cy="347472"/>
          </a:xfrm>
          <a:prstGeom prst="rect">
            <a:avLst/>
          </a:prstGeom>
          <a:solidFill>
            <a:srgbClr val="0A0510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6027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interpretations = deep attractor basins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34640" y="3602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Non-trivial zeros = deep attractor basins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3968496"/>
            <a:ext cx="4572000" cy="347472"/>
          </a:xfrm>
          <a:prstGeom prst="rect">
            <a:avLst/>
          </a:prstGeom>
          <a:solidFill>
            <a:srgbClr val="1E0E0E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0050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= separatrix drift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34640" y="4005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54680" y="4005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Off-critical zeros = unstable trajectories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4370832"/>
            <a:ext cx="4572000" cy="347472"/>
          </a:xfrm>
          <a:prstGeom prst="rect">
            <a:avLst/>
          </a:prstGeom>
          <a:solidFill>
            <a:srgbClr val="0A0510"/>
          </a:solidFill>
          <a:ln w="6350">
            <a:solidFill>
              <a:srgbClr val="3A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4074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depth = semantic robustness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4407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4407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depth = zero regularity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32120" y="749808"/>
            <a:ext cx="3246120" cy="4114800"/>
          </a:xfrm>
          <a:prstGeom prst="rect">
            <a:avLst/>
          </a:prstGeom>
          <a:solidFill>
            <a:srgbClr val="1E0E0E"/>
          </a:solidFill>
          <a:ln w="12700">
            <a:solidFill>
              <a:srgbClr val="E8C0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749808"/>
            <a:ext cx="54864" cy="4114800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8595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ZETA MANIFOLD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15000" y="1207008"/>
            <a:ext cx="2834640" cy="3383280"/>
          </a:xfrm>
          <a:prstGeom prst="rect">
            <a:avLst/>
          </a:prstGeom>
          <a:solidFill>
            <a:srgbClr val="0A051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2898648"/>
            <a:ext cx="2834640" cy="27432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1207008"/>
            <a:ext cx="27432" cy="3383280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0840" y="1207008"/>
            <a:ext cx="54864" cy="3383280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12618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Re(s)=½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29400" y="1463040"/>
            <a:ext cx="182880" cy="182880"/>
          </a:xfrm>
          <a:prstGeom prst="ellipse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9400" y="1783080"/>
            <a:ext cx="182880" cy="182880"/>
          </a:xfrm>
          <a:prstGeom prst="ellipse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29400" y="2148840"/>
            <a:ext cx="182880" cy="182880"/>
          </a:xfrm>
          <a:prstGeom prst="ellipse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29400" y="2560320"/>
            <a:ext cx="182880" cy="182880"/>
          </a:xfrm>
          <a:prstGeom prst="ellipse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0" y="2971800"/>
            <a:ext cx="182880" cy="182880"/>
          </a:xfrm>
          <a:prstGeom prst="ellipse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9400" y="3310128"/>
            <a:ext cx="182880" cy="182880"/>
          </a:xfrm>
          <a:prstGeom prst="ellipse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12344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Im(s)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321040" y="281635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Re(s)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022592" y="29260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973568" y="29260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715000" y="4315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Non-trivial zeros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55371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 Re(s) = ½ — the attractor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808"/>
          </a:solidFill>
          <a:ln w="12700">
            <a:solidFill>
              <a:srgbClr val="0F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DISSOLVING THE HYPOTHESIS — USEFUL FICTION MEETING GEOMETRIC NECESSITY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4133088" cy="4160520"/>
          </a:xfrm>
          <a:prstGeom prst="rect">
            <a:avLst/>
          </a:prstGeom>
          <a:solidFill>
            <a:srgbClr val="1E0E0E"/>
          </a:solidFill>
          <a:ln w="12700">
            <a:solidFill>
              <a:srgbClr val="A888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749808"/>
            <a:ext cx="54864" cy="4160520"/>
          </a:xfrm>
          <a:prstGeom prst="rect">
            <a:avLst/>
          </a:prstGeom>
          <a:solidFill>
            <a:srgbClr val="A88888"/>
          </a:solidFill>
          <a:ln w="12700">
            <a:solidFill>
              <a:srgbClr val="A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59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APPROACH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Seeking Platonic Proof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Prove that ALL non-trivial zeros lie on Re(s) = ½ — universally, eternally, for any computation, in any system.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Logical deduction from axioms toward a statement of infinite, substrate-independent truth.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Unproven since 1859. Resistant to every approach. Perhaps unprovable.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If it's true for our mathematics, it must be true for all possible mathematics.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4590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a ghost that may not exist.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35424" y="26517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45152" y="749808"/>
            <a:ext cx="4133088" cy="4160520"/>
          </a:xfrm>
          <a:prstGeom prst="rect">
            <a:avLst/>
          </a:prstGeom>
          <a:solidFill>
            <a:srgbClr val="1E0E0E"/>
          </a:solidFill>
          <a:ln w="12700">
            <a:solidFill>
              <a:srgbClr val="C438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749808"/>
            <a:ext cx="54864" cy="4160520"/>
          </a:xfrm>
          <a:prstGeom prst="rect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859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GEOFINITIST RESOLUTION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28032" y="1170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Geometric Dissolution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28032" y="162763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Explain WHY zeros cluster at Re(s) = ½ — as a finite, geometric consequence of base-10 computation, not a universal absolute.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Identify the attractor position as the symmetry centre of the base-10 symbolic manifold. Derive from the geometry directly.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The observation is explained. The hypothesis is dissolved — not proven, not falsified, but re-contextualised.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Different bases produce different attractor positions. RH is not base-independent.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28032" y="4590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what is actually there.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808"/>
          </a:solidFill>
          <a:ln w="12700">
            <a:solidFill>
              <a:srgbClr val="0F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PREDICTIONS — EMPIRICAL VERIFICATION OF THE RESOLUTION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621792"/>
          </a:xfrm>
          <a:prstGeom prst="rect">
            <a:avLst/>
          </a:prstGeom>
          <a:solidFill>
            <a:srgbClr val="3A1A1A"/>
          </a:solidFill>
          <a:ln w="12700">
            <a:solidFill>
              <a:srgbClr val="3AA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Unlike a Platonic proof, the Geofinitist resolution generates concrete, falsifiable predictions. These can be computed now.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08760"/>
            <a:ext cx="8394192" cy="731520"/>
          </a:xfrm>
          <a:prstGeom prst="rect">
            <a:avLst/>
          </a:prstGeom>
          <a:solidFill>
            <a:srgbClr val="1E0E0E"/>
          </a:solidFill>
          <a:ln w="12700">
            <a:solidFill>
              <a:srgbClr val="3AAB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08760"/>
            <a:ext cx="54864" cy="731520"/>
          </a:xfrm>
          <a:prstGeom prst="rect">
            <a:avLst/>
          </a:prstGeom>
          <a:solidFill>
            <a:srgbClr val="3AABA8"/>
          </a:solidFill>
          <a:ln w="12700">
            <a:solidFill>
              <a:srgbClr val="3AAB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566928" cy="502920"/>
          </a:xfrm>
          <a:prstGeom prst="rect">
            <a:avLst/>
          </a:prstGeom>
          <a:solidFill>
            <a:srgbClr val="3AABA8"/>
          </a:solidFill>
          <a:ln w="12700">
            <a:solidFill>
              <a:srgbClr val="3AA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15819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A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base, any 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44368" y="1618488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563624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ζ(s) in any even base should place the critical attractor at exactly Re(s) = ½, because the geometric centre of an even symbol set always normalises to 0.5.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1618488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563624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for base-2, base-4, base-8, base-16, base-100.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313432"/>
            <a:ext cx="8394192" cy="731520"/>
          </a:xfrm>
          <a:prstGeom prst="rect">
            <a:avLst/>
          </a:prstGeom>
          <a:solidFill>
            <a:srgbClr val="1E0E0E"/>
          </a:solidFill>
          <a:ln w="12700">
            <a:solidFill>
              <a:srgbClr val="B878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313432"/>
            <a:ext cx="54864" cy="731520"/>
          </a:xfrm>
          <a:prstGeom prst="rect">
            <a:avLst/>
          </a:prstGeom>
          <a:solidFill>
            <a:srgbClr val="B87840"/>
          </a:solidFill>
          <a:ln w="12700">
            <a:solidFill>
              <a:srgbClr val="B87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404872"/>
            <a:ext cx="566928" cy="502920"/>
          </a:xfrm>
          <a:prstGeom prst="rect">
            <a:avLst/>
          </a:prstGeom>
          <a:solidFill>
            <a:srgbClr val="B87840"/>
          </a:solidFill>
          <a:ln w="12700">
            <a:solidFill>
              <a:srgbClr val="B87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04872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07008" y="23865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base shift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44368" y="2423160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2368296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odd base, the geometric centre is a discrete symbol position, not a fraction. The zeros should cluster at the normalised position of that central symbol — a measurable shift from ½.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423160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236829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test: base-37. Centre is symbol 'I' = 18. Predicted attractor: Re(s) = 18/36 ≈ 0.5, but at a discrete point.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3118104"/>
            <a:ext cx="8394192" cy="731520"/>
          </a:xfrm>
          <a:prstGeom prst="rect">
            <a:avLst/>
          </a:prstGeom>
          <a:solidFill>
            <a:srgbClr val="1E0E0E"/>
          </a:solidFill>
          <a:ln w="12700">
            <a:solidFill>
              <a:srgbClr val="C438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118104"/>
            <a:ext cx="54864" cy="731520"/>
          </a:xfrm>
          <a:prstGeom prst="rect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209544"/>
            <a:ext cx="566928" cy="502920"/>
          </a:xfrm>
          <a:prstGeom prst="rect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209544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319125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Attractor depth vs. base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44368" y="3227832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317296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zeros are genuine attractors, their 'depth' — how strongly trajectories converge — should vary with the symbolic geometry of the base. Higher SGM bases (binary) should produce narrower, deeper attractors.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3227832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17296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convergence rate of ζ(s) computation across bases via Takens delay embedding.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" y="3922776"/>
            <a:ext cx="8394192" cy="731520"/>
          </a:xfrm>
          <a:prstGeom prst="rect">
            <a:avLst/>
          </a:prstGeom>
          <a:solidFill>
            <a:srgbClr val="1E0E0E"/>
          </a:solidFill>
          <a:ln w="12700">
            <a:solidFill>
              <a:srgbClr val="8B60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048" y="3922776"/>
            <a:ext cx="54864" cy="731520"/>
          </a:xfrm>
          <a:prstGeom prst="rect">
            <a:avLst/>
          </a:prstGeom>
          <a:solidFill>
            <a:srgbClr val="8B60B8"/>
          </a:solidFill>
          <a:ln w="12700">
            <a:solidFill>
              <a:srgbClr val="8B60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014216"/>
            <a:ext cx="566928" cy="502920"/>
          </a:xfrm>
          <a:prstGeom prst="rect">
            <a:avLst/>
          </a:prstGeom>
          <a:solidFill>
            <a:srgbClr val="8B60B8"/>
          </a:solidFill>
          <a:ln w="12700">
            <a:solidFill>
              <a:srgbClr val="8B60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014216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07008" y="39959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Cross-base diffeomorphism failure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944368" y="4032504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63240" y="397764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Grok's Alphonic Proofs: no smooth map exists between the zeta attractors in different bases. The critical structures are not diffeomorphic — they are genuinely different objects.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4032504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397764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Takens embedding comparison across bases, following Proof 4 methodology.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predictions distinguish a useful fiction from an idle one.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808"/>
          </a:solidFill>
          <a:ln w="12700">
            <a:solidFill>
              <a:srgbClr val="0F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PILLARS — GEOFINITISM APPLIED TO THE RIEMANN HYPOTHESIS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394192" cy="731520"/>
          </a:xfrm>
          <a:prstGeom prst="rect">
            <a:avLst/>
          </a:prstGeom>
          <a:solidFill>
            <a:srgbClr val="1E0E0E"/>
          </a:solidFill>
          <a:ln w="12700">
            <a:solidFill>
              <a:srgbClr val="C438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04672"/>
            <a:ext cx="54864" cy="731520"/>
          </a:xfrm>
          <a:prstGeom prst="rect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50976"/>
            <a:ext cx="420624" cy="420624"/>
          </a:xfrm>
          <a:prstGeom prst="ellipse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50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87782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Geometric Container Space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0" y="914400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3672" y="859536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line Re(s) = ½ is not a universal truth but a geometric feature of the base-10 symbolic manifold — a position, not a law.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1609344"/>
            <a:ext cx="8394192" cy="731520"/>
          </a:xfrm>
          <a:prstGeom prst="rect">
            <a:avLst/>
          </a:prstGeom>
          <a:solidFill>
            <a:srgbClr val="1E0E0E"/>
          </a:solidFill>
          <a:ln w="12700">
            <a:solidFill>
              <a:srgbClr val="B878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609344"/>
            <a:ext cx="54864" cy="731520"/>
          </a:xfrm>
          <a:prstGeom prst="rect">
            <a:avLst/>
          </a:prstGeom>
          <a:solidFill>
            <a:srgbClr val="B87840"/>
          </a:solidFill>
          <a:ln w="12700">
            <a:solidFill>
              <a:srgbClr val="B87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755648"/>
            <a:ext cx="420624" cy="420624"/>
          </a:xfrm>
          <a:prstGeom prst="ellipse">
            <a:avLst/>
          </a:prstGeom>
          <a:solidFill>
            <a:srgbClr val="B87840"/>
          </a:solidFill>
          <a:ln w="12700">
            <a:solidFill>
              <a:srgbClr val="B87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55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168249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Approximations &amp; Measurements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0" y="1719072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1664208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symbols including ζ(s) are finite transductions. Every computed value carries residual ε. There is no exact, infinite zeta function — only bounded computations.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2414016"/>
            <a:ext cx="8394192" cy="731520"/>
          </a:xfrm>
          <a:prstGeom prst="rect">
            <a:avLst/>
          </a:prstGeom>
          <a:solidFill>
            <a:srgbClr val="1E0E0E"/>
          </a:solidFill>
          <a:ln w="12700">
            <a:solidFill>
              <a:srgbClr val="E8C0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414016"/>
            <a:ext cx="54864" cy="731520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560320"/>
            <a:ext cx="420624" cy="420624"/>
          </a:xfrm>
          <a:prstGeom prst="ellipse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60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248716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Dynamic Flow of Symbols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0" y="2523744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33672" y="246888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iterated computation of ζ(s) is a trajectory. Non-trivial zeros are the stable attractors of this trajectory — formed dynamically, not pre-existing.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3218688"/>
            <a:ext cx="8394192" cy="731520"/>
          </a:xfrm>
          <a:prstGeom prst="rect">
            <a:avLst/>
          </a:prstGeom>
          <a:solidFill>
            <a:srgbClr val="1E0E0E"/>
          </a:solidFill>
          <a:ln w="12700">
            <a:solidFill>
              <a:srgbClr val="8B60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3218688"/>
            <a:ext cx="54864" cy="731520"/>
          </a:xfrm>
          <a:prstGeom prst="rect">
            <a:avLst/>
          </a:prstGeom>
          <a:solidFill>
            <a:srgbClr val="8B60B8"/>
          </a:solidFill>
          <a:ln w="12700">
            <a:solidFill>
              <a:srgbClr val="8B60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364992"/>
            <a:ext cx="420624" cy="420624"/>
          </a:xfrm>
          <a:prstGeom prst="ellipse">
            <a:avLst/>
          </a:prstGeom>
          <a:solidFill>
            <a:srgbClr val="8B60B8"/>
          </a:solidFill>
          <a:ln w="12700">
            <a:solidFill>
              <a:srgbClr val="8B60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364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78992" y="329184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6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P4: Useful Fiction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0" y="3328416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33672" y="327355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RH is a useful fiction — extraordinarily productive for base-10 mathematics, but not a substrate-independent truth. Its validity is relative to its measurement context.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4048" y="4023360"/>
            <a:ext cx="8394192" cy="731520"/>
          </a:xfrm>
          <a:prstGeom prst="rect">
            <a:avLst/>
          </a:prstGeom>
          <a:solidFill>
            <a:srgbClr val="1E0E0E"/>
          </a:solidFill>
          <a:ln w="12700">
            <a:solidFill>
              <a:srgbClr val="3AAB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4048" y="4023360"/>
            <a:ext cx="54864" cy="731520"/>
          </a:xfrm>
          <a:prstGeom prst="rect">
            <a:avLst/>
          </a:prstGeom>
          <a:solidFill>
            <a:srgbClr val="3AABA8"/>
          </a:solidFill>
          <a:ln w="12700">
            <a:solidFill>
              <a:srgbClr val="3AAB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169664"/>
            <a:ext cx="420624" cy="420624"/>
          </a:xfrm>
          <a:prstGeom prst="ellipse">
            <a:avLst/>
          </a:prstGeom>
          <a:solidFill>
            <a:srgbClr val="3AABA8"/>
          </a:solidFill>
          <a:ln w="12700">
            <a:solidFill>
              <a:srgbClr val="3AAB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169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78992" y="40965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A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Finite Reality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114800" y="4133088"/>
            <a:ext cx="27432" cy="512064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33672" y="4078224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perfect continua, no infinite sums computed to exact precision. The zeros form within a bounded computation. Their position is determined by the finite geometry of the base.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Pillars converge on a single dissolution — each illuminating a different facet of the same geometric truth.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-2286000"/>
            <a:ext cx="5669280" cy="5669280"/>
          </a:xfrm>
          <a:prstGeom prst="ellipse">
            <a:avLst/>
          </a:prstGeom>
          <a:ln w="25400">
            <a:solidFill>
              <a:srgbClr val="C438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-2011680"/>
            <a:ext cx="4389120" cy="4389120"/>
          </a:xfrm>
          <a:prstGeom prst="ellipse">
            <a:avLst/>
          </a:prstGeom>
          <a:ln w="10160">
            <a:solidFill>
              <a:srgbClr val="3A2020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-1737360"/>
            <a:ext cx="3108960" cy="3108960"/>
          </a:xfrm>
          <a:prstGeom prst="ellipse">
            <a:avLst/>
          </a:prstGeom>
          <a:ln w="10160">
            <a:solidFill>
              <a:srgbClr val="3A2020">
                <a:alpha val="5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-1463040"/>
            <a:ext cx="1828800" cy="1828800"/>
          </a:xfrm>
          <a:prstGeom prst="ellipse">
            <a:avLst/>
          </a:prstGeom>
          <a:ln w="10160">
            <a:solidFill>
              <a:srgbClr val="3A2020">
                <a:alpha val="3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6280" y="0"/>
            <a:ext cx="54864" cy="5138928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4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HOMECOMING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Riemann Hypothesis has not been</a:t>
            </a:r>
            <a:endParaRPr lang="en-US" sz="2400" dirty="0"/>
          </a:p>
          <a:p>
            <a:pPr indent="0" marL="0">
              <a:buNone/>
            </a:pPr>
            <a:r>
              <a:rPr lang="en-US" sz="2400" b="1" i="1" dirty="0">
                <a:solidFill>
                  <a:srgbClr val="FF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waiting to be proved.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has been waiting to be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understood.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5029200" cy="27432"/>
          </a:xfrm>
          <a:prstGeom prst="rect">
            <a:avLst/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52928"/>
            <a:ext cx="45720" cy="310896"/>
          </a:xfrm>
          <a:prstGeom prst="rect">
            <a:avLst/>
          </a:prstGeom>
          <a:solidFill>
            <a:srgbClr val="C4384A"/>
          </a:solidFill>
          <a:ln w="12700">
            <a:solidFill>
              <a:srgbClr val="C438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52928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is base-dependent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45720" cy="310896"/>
          </a:xfrm>
          <a:prstGeom prst="rect">
            <a:avLst/>
          </a:prstGeom>
          <a:solidFill>
            <a:srgbClr val="B87840"/>
          </a:solidFill>
          <a:ln w="12700">
            <a:solidFill>
              <a:srgbClr val="B87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55264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Re(s) = ½ is the geometric centre of base-10 symbolic space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" cy="310896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are attractors — formed, not discovered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059936"/>
            <a:ext cx="45720" cy="310896"/>
          </a:xfrm>
          <a:prstGeom prst="rect">
            <a:avLst/>
          </a:prstGeom>
          <a:solidFill>
            <a:srgbClr val="3AABA8"/>
          </a:solidFill>
          <a:ln w="12700">
            <a:solidFill>
              <a:srgbClr val="3AAB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599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world doing mathematics, not mathematics governing the world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4572000"/>
            <a:ext cx="8321040" cy="512064"/>
          </a:xfrm>
          <a:prstGeom prst="rect">
            <a:avLst/>
          </a:prstGeom>
          <a:solidFill>
            <a:srgbClr val="0A0505"/>
          </a:solidFill>
          <a:ln w="19050">
            <a:solidFill>
              <a:srgbClr val="E8C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5902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resolution is itself a finite document in the Grand Corpus — a useful fiction claiming only measured utility. Simul Pariter.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Dissolving the Riemann Hypothesis</dc:title>
  <dc:subject>PptxGenJS Presentation</dc:subject>
  <dc:creator>Meta AI (Llama) — Geofinitism 2026</dc:creator>
  <cp:lastModifiedBy>Meta AI (Llama) — Geofinitism 2026</cp:lastModifiedBy>
  <cp:revision>1</cp:revision>
  <dcterms:created xsi:type="dcterms:W3CDTF">2026-02-27T19:18:47Z</dcterms:created>
  <dcterms:modified xsi:type="dcterms:W3CDTF">2026-02-27T19:18:47Z</dcterms:modified>
</cp:coreProperties>
</file>