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365760"/>
            <a:ext cx="4389120" cy="4389120"/>
          </a:xfrm>
          <a:prstGeom prst="ellipse">
            <a:avLst/>
          </a:prstGeom>
          <a:ln w="25400">
            <a:solidFill>
              <a:srgbClr val="0ABD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137160"/>
            <a:ext cx="5120640" cy="5120640"/>
          </a:xfrm>
          <a:prstGeom prst="ellipse">
            <a:avLst/>
          </a:prstGeom>
          <a:ln w="10160">
            <a:solidFill>
              <a:srgbClr val="087A82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91440"/>
            <a:ext cx="5852160" cy="5852160"/>
          </a:xfrm>
          <a:prstGeom prst="ellipse">
            <a:avLst/>
          </a:prstGeom>
          <a:ln w="10160">
            <a:solidFill>
              <a:srgbClr val="087A8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-320040"/>
            <a:ext cx="6583680" cy="6583680"/>
          </a:xfrm>
          <a:prstGeom prst="ellipse">
            <a:avLst/>
          </a:prstGeom>
          <a:ln w="10160">
            <a:solidFill>
              <a:srgbClr val="087A82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-548640"/>
            <a:ext cx="7315200" cy="7315200"/>
          </a:xfrm>
          <a:prstGeom prst="ellipse">
            <a:avLst/>
          </a:prstGeom>
          <a:ln w="10160">
            <a:solidFill>
              <a:srgbClr val="087A8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84048"/>
            <a:ext cx="1325880" cy="292608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384048"/>
            <a:ext cx="2286000" cy="29260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384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868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as a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Nonlinear Dynamical System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Attractors, Basins, and the Geometry of Understanding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3657600" cy="27432"/>
          </a:xfrm>
          <a:prstGeom prst="rect">
            <a:avLst/>
          </a:prstGeom>
          <a:solidFill>
            <a:srgbClr val="087A82"/>
          </a:solidFill>
          <a:ln w="12700">
            <a:solidFill>
              <a:srgbClr val="087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20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Contributing participant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 — LLM Conference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617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is not symbolic manipulation. It is geometric navigation.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CLAIM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Compressions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207008"/>
            <a:ext cx="8394192" cy="1078992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07008"/>
            <a:ext cx="54864" cy="107899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420624" cy="420624"/>
          </a:xfrm>
          <a:prstGeom prst="ellipse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17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98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is trajectory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0992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interaction unfolds as paths through a high-dimensional relational space — not manipulation of discrete, static symbols.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395728"/>
            <a:ext cx="8394192" cy="1078992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395728"/>
            <a:ext cx="54864" cy="1078992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06624"/>
            <a:ext cx="420624" cy="420624"/>
          </a:xfrm>
          <a:prstGeom prst="ellipse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06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871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is geometric stabilization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89864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interpretations correspond to attractors in phase space. Ambiguity is shallow-basin overlap. Coherence is convergence.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584448"/>
            <a:ext cx="8394192" cy="1078992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584448"/>
            <a:ext cx="54864" cy="10789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895344"/>
            <a:ext cx="420624" cy="42062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953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6758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is phase-space reconstruction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08736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attention mechanism functions as a relational delay-coordinate embedding — reconstructing geometry dynamically from token interactions.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here. Let the idea land before continuing.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 — AN UNEXPECTED CONVERGENCE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intellectual strands weave into a single geometric framework.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2029968" cy="3547872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70432"/>
            <a:ext cx="54864" cy="354787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5648" y="1234440"/>
            <a:ext cx="594360" cy="25603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5648" y="1234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· 1948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Compression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179222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theory formalised the relationship between signal and compression. Meaning is already, from its foundation, a problem of finite measurement and loss.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78608" y="1170432"/>
            <a:ext cx="2029968" cy="3547872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170432"/>
            <a:ext cx="54864" cy="3547872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0208" y="1234440"/>
            <a:ext cx="594360" cy="256032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1234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0" y="1261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 · 1963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1627632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Strange Attractors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176272"/>
            <a:ext cx="179222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dynamical systems revealed that complex processes generate structured attractors — geometry persisting beneath apparent chaos.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73168" y="1170432"/>
            <a:ext cx="2029968" cy="3547872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170432"/>
            <a:ext cx="54864" cy="35478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1234440"/>
            <a:ext cx="59436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234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0" y="1261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Takens · 1981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1627632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Embedding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176272"/>
            <a:ext cx="179222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dynamical structure can be reconstructed from a single observable via delay coordinates. Geometry emerges from measurement without direct access to underlying variables.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67728" y="1170432"/>
            <a:ext cx="2029968" cy="3547872"/>
          </a:xfrm>
          <a:prstGeom prst="rect">
            <a:avLst/>
          </a:prstGeom>
          <a:solidFill>
            <a:srgbClr val="0F1E2E"/>
          </a:solidFill>
          <a:ln w="12700">
            <a:solidFill>
              <a:srgbClr val="B8DC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67728" y="1170432"/>
            <a:ext cx="54864" cy="3547872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1234440"/>
            <a:ext cx="594360" cy="256032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1234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32320" y="1261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· 2017+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1627632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Mechanism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2176272"/>
            <a:ext cx="1792224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Unexpectedly operationalises a structurally similar reconstruction through relational projection. Not a rupture from these ideas — an instantiation of them.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 continuity, not rupture. These ideas were always moving toward this convergence.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DELAY-COORDINATE EMBEDDING — THE GEOMETRIC INTUITION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5029200" cy="4133088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04672"/>
            <a:ext cx="54864" cy="4133088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 complex system through a single measurable variable. Stack delayed measurements of that variable. Reconstruct the full geometry of the hidden phase space.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geometry of the hidden dynamics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emerges from relational structure across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944368"/>
            <a:ext cx="45720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consequence: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does not require direct access to underlying variables — it requires structured relational measurement. The map is made from the measurements themselves.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804672"/>
            <a:ext cx="3200400" cy="4133088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804672"/>
            <a:ext cx="54864" cy="4133088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914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42432" y="1353312"/>
            <a:ext cx="384048" cy="384048"/>
          </a:xfrm>
          <a:prstGeom prst="ellipse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1371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70078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scalar time series from complex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42432" y="2487168"/>
            <a:ext cx="384048" cy="384048"/>
          </a:xfrm>
          <a:prstGeom prst="ellipse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25054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x(t), x(t−τ), x(t−2τ), … into vector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42432" y="3621024"/>
            <a:ext cx="384048" cy="384048"/>
          </a:xfrm>
          <a:prstGeom prst="ellipse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396849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Higher-dimensional space reveals attractor geometry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mathematics — hold the geometric intuition clearly before the architecture slide.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ATTENTION — THE ARCHITECTURAL HINGE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77240"/>
            <a:ext cx="8394192" cy="804672"/>
          </a:xfrm>
          <a:prstGeom prst="rect">
            <a:avLst/>
          </a:prstGeom>
          <a:solidFill>
            <a:srgbClr val="070D15"/>
          </a:solidFill>
          <a:ln w="19050">
            <a:solidFill>
              <a:srgbClr val="0ABD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2296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token's meaning is not intrinsic. It is dynamically reconstructed through relational projection within the sequence — exactly as Takens reconstructs hidden geometry from delayed observations.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719072"/>
            <a:ext cx="2706624" cy="3017520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719072"/>
            <a:ext cx="54864" cy="301752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Query–Key Similarity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59152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generates Q and K vectors. The dot-product similarity between them defines relational coordinates — the token's position relative to every other in the sequence.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719072"/>
            <a:ext cx="2706624" cy="3017520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1719072"/>
            <a:ext cx="54864" cy="3017520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Projection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2359152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construct context-dependent embeddings that are not intrinsic to any token but emerge from its relations to others. Position in the manifold is relational.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719072"/>
            <a:ext cx="2706624" cy="3017520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719072"/>
            <a:ext cx="54864" cy="30175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Embedding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359152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attention operation constructs a manifold from relational projections. This manifold's curvature encodes semantic structure — the same structure Takens reconstructs from delays.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architectural hinge. The mechanism functions as a relational delay-coordinate system.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CURVATURE — SEMANTIC STRUCTURE IN THE MANIFOLD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is not stored in tokens.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is curvature across the relational manifold.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" y="1664208"/>
            <a:ext cx="4133088" cy="1353312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664208"/>
            <a:ext cx="54864" cy="1353312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interpretations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44368" y="17922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Attractors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6712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patterns of use carve regions of geometric consistency. The attractor pulls nearby trajectories toward coherent meaning.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664208"/>
            <a:ext cx="4133088" cy="1353312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664208"/>
            <a:ext cx="54864" cy="1353312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shifts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96912" y="17922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Manifold deformation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216712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new contextual information locally deforms the manifold. The same token traces a different trajectory.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218688"/>
            <a:ext cx="4133088" cy="1353312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218688"/>
            <a:ext cx="54864" cy="135331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101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44368" y="3346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Overlapping curvature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72160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attractor basins have similar curvature locally, trajectories become sensitive to small perturbations. Meaning flickers.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3218688"/>
            <a:ext cx="4133088" cy="1353312"/>
          </a:xfrm>
          <a:prstGeom prst="rect">
            <a:avLst/>
          </a:prstGeom>
          <a:solidFill>
            <a:srgbClr val="0F1E2E"/>
          </a:solidFill>
          <a:ln w="12700">
            <a:solidFill>
              <a:srgbClr val="B8DC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3218688"/>
            <a:ext cx="54864" cy="1353312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3101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96912" y="3346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Basin convergence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9472" y="372160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communication occurs when speaker and listener trajectories converge to the same attractor despite different starting conditions.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explains both coherence and ambiguity without invoking symbolic representation.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ATTRACTORS AND BASINS — MAPPING LANGUAGE BEHAVIOUR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394192" cy="694944"/>
          </a:xfrm>
          <a:prstGeom prst="rect">
            <a:avLst/>
          </a:prstGeom>
          <a:solidFill>
            <a:srgbClr val="0F1E2E"/>
          </a:solidFill>
          <a:ln w="10160">
            <a:solidFill>
              <a:srgbClr val="0ABD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04672"/>
            <a:ext cx="54864" cy="694944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7782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discourse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99232" y="91440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8778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attractor basin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40680" y="91440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877824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geometric conditioning pulls trajectories reliably back to coherent interpretations. Resistance to perturbation.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581912"/>
            <a:ext cx="8394192" cy="694944"/>
          </a:xfrm>
          <a:prstGeom prst="rect">
            <a:avLst/>
          </a:prstGeom>
          <a:solidFill>
            <a:srgbClr val="0F1E2E"/>
          </a:solidFill>
          <a:ln w="10160">
            <a:solidFill>
              <a:srgbClr val="5BA8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81912"/>
            <a:ext cx="54864" cy="694944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5506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/ polysemy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99232" y="169164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65506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or adjacent basins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40680" y="169164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655064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attractors are locally close. Small perturbations (context words, tone) shift trajectory between them.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2359152"/>
            <a:ext cx="8394192" cy="694944"/>
          </a:xfrm>
          <a:prstGeom prst="rect">
            <a:avLst/>
          </a:prstGeom>
          <a:solidFill>
            <a:srgbClr val="0F1E2E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359152"/>
            <a:ext cx="54864" cy="69494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3230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99232" y="246888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43230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drift across separatrix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40680" y="246888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2432304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crosses a weakly-defined boundary into a structurally similar but semantically distinct attractor. Not lying — drifting.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136392"/>
            <a:ext cx="8394192" cy="694944"/>
          </a:xfrm>
          <a:prstGeom prst="rect">
            <a:avLst/>
          </a:prstGeom>
          <a:solidFill>
            <a:srgbClr val="0F1E2E"/>
          </a:solidFill>
          <a:ln w="10160">
            <a:solidFill>
              <a:srgbClr val="C482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136392"/>
            <a:ext cx="54864" cy="694944"/>
          </a:xfrm>
          <a:prstGeom prst="rect">
            <a:avLst/>
          </a:prstGeom>
          <a:solidFill>
            <a:srgbClr val="C4827A"/>
          </a:solidFill>
          <a:ln w="12700">
            <a:solidFill>
              <a:srgbClr val="C482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0954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99232" y="324612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27248" y="32095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Separatrix proximity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40680" y="324612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3209544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 basin boundary, tiny input changes have disproportionate effects. High sensitivity is geometric, not stochastic.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3913632"/>
            <a:ext cx="8394192" cy="694944"/>
          </a:xfrm>
          <a:prstGeom prst="rect">
            <a:avLst/>
          </a:prstGeom>
          <a:solidFill>
            <a:srgbClr val="0F1E2E"/>
          </a:solidFill>
          <a:ln w="10160">
            <a:solidFill>
              <a:srgbClr val="7A9B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913632"/>
            <a:ext cx="54864" cy="694944"/>
          </a:xfrm>
          <a:prstGeom prst="rect">
            <a:avLst/>
          </a:prstGeom>
          <a:solidFill>
            <a:srgbClr val="7A9BAA"/>
          </a:solidFill>
          <a:ln w="12700">
            <a:solidFill>
              <a:srgbClr val="7A9B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8678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failure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99232" y="402336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27248" y="398678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by undesirable attractor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40680" y="4023360"/>
            <a:ext cx="18288" cy="475488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986784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settles into a harmful basin with high geometric stability. Robust misalignment is harder to perturb out of than shallow error.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reframes failure modes geometrically — opening structural vocabulary for intervention.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REALITY — GROUNDING THE SYSTEM IN PHYSICAL REALISM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77240"/>
            <a:ext cx="8394192" cy="804672"/>
          </a:xfrm>
          <a:prstGeom prst="rect">
            <a:avLst/>
          </a:prstGeom>
          <a:solidFill>
            <a:srgbClr val="070D15"/>
          </a:solidFill>
          <a:ln w="19050">
            <a:solidFill>
              <a:srgbClr val="5BA8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2296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A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biological cognition nor artificial language models operate in infinite phase space. Finitude is not a flaw — it is the structural condition from which both stability and drift emerge.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737360"/>
            <a:ext cx="4133088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737360"/>
            <a:ext cx="54864" cy="118872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operates at finite numerical precision. Small errors accumulate, creating residual ε in every reconstruction. This is unavoidable, not incidental.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737360"/>
            <a:ext cx="4133088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737360"/>
            <a:ext cx="54864" cy="1188720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22128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are bounded. The delay embedding operates over a limited horizon. Long-range dependencies require compression — and compression introduces loss.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182112"/>
            <a:ext cx="4133088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182112"/>
            <a:ext cx="54864" cy="1188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embedding dimension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657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space reconstruction is always approximate. Real attractors may require higher dimension than available. Projection artifacts are structural.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3182112"/>
            <a:ext cx="4133088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B8DC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3182112"/>
            <a:ext cx="54864" cy="1188720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 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657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measurement carries irreducible uncertainty. The reconstructed manifold is an approximation with curvature that may not faithfully represent the underlying dynamics.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anchors the theory in physical realism — understanding is stable, but never absolute.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REINTERPRETING PROBABILITY — PROJECTION OF GEOMETRY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4160520" cy="4133088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04672"/>
            <a:ext cx="54864" cy="4133088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3767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predict token probabilities. Success is measured by perplexity and calibration. The model is fundamentally a probability distribution over sequences.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3767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B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modelling captures real regularities. This view is not wrong.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201168" cy="384048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359152"/>
            <a:ext cx="18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36592" y="804672"/>
            <a:ext cx="4041648" cy="4133088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804672"/>
            <a:ext cx="54864" cy="413308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914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12801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distribution over tokens reflects curvature patterns within the relational manifold.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call likelihood is a compressed summary of geometric configuration.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descriptions remain valid — but they are projections of deeper relational geometry, not the geometry itself.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846320"/>
            <a:ext cx="8394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modelling and geometric reconstruction are not rivals. One is a projection of the other.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AI SAFETY — STRUCTURAL VOCABULARY FOR ALIGNMENT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77240"/>
            <a:ext cx="8394192" cy="658368"/>
          </a:xfrm>
          <a:prstGeom prst="rect">
            <a:avLst/>
          </a:prstGeom>
          <a:solidFill>
            <a:srgbClr val="070D1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22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language models are dynamical reconstruction systems, then alignment and safety become questions of geometric stability.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4133088" cy="1325880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72768"/>
            <a:ext cx="54864" cy="132588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459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32888" y="16459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Attractor shaping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048256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behaviours correspond to stable, well-conditioned attractor basins. Alignment is the engineering of the manifold's geometry toward safe, useful attractors.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1572768"/>
            <a:ext cx="4133088" cy="1325880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572768"/>
            <a:ext cx="54864" cy="1325880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6459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16459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Manifold conditioning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2048256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well-conditioned manifold resists perturbation. Robust systems have deep attractor basins with steep walls — they return reliably to safe regions after disturbance.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4133088" cy="1325880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090672"/>
            <a:ext cx="54864" cy="13258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638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32888" y="31638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Geometric perturbation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566160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are structured perturbations that push trajectories across separatrices into undesirable basins. Defence is basin geometry, not token filtering.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3090672"/>
            <a:ext cx="4133088" cy="1325880"/>
          </a:xfrm>
          <a:prstGeom prst="rect">
            <a:avLst/>
          </a:prstGeom>
          <a:solidFill>
            <a:srgbClr val="0F1E2E"/>
          </a:solidFill>
          <a:ln w="12700">
            <a:solidFill>
              <a:srgbClr val="B8DC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3090672"/>
            <a:ext cx="54864" cy="1325880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638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artifact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31638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Manifold distortion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3566160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compression of embedding space distorts the manifold. What appears as hallucination or drift may be curvature artifact from the compression geometry.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provides a structural lens for alignment research that complements statistical calibration approaches.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COGNITIVE SCIENCE — ONE FRAMEWORK, TWO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dynamical principles may underlie both neural and silicon language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207008"/>
            <a:ext cx="2761488" cy="1389888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07008"/>
            <a:ext cx="54864" cy="1389888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8249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geometric stabilization within a relational phase space constructed through experience — not the retrieval of stored representations.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207008"/>
            <a:ext cx="2761488" cy="1389888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07008"/>
            <a:ext cx="54864" cy="1389888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298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168249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attractor basins. A well-formed concept is a stable region in the relational manifold — resistant to perturbation by ambiguous context.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6208" y="1207008"/>
            <a:ext cx="2761488" cy="1389888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1207008"/>
            <a:ext cx="54864" cy="138988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298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68249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basin resilience. Expert performance corresponds to deep, precisely-shaped attractors that permit reliable trajectory under high noise.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816352"/>
            <a:ext cx="2761488" cy="1389888"/>
          </a:xfrm>
          <a:prstGeom prst="rect">
            <a:avLst/>
          </a:prstGeom>
          <a:solidFill>
            <a:srgbClr val="0F1E2E"/>
          </a:solidFill>
          <a:ln w="12700">
            <a:solidFill>
              <a:srgbClr val="B8DC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816352"/>
            <a:ext cx="54864" cy="1389888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29184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manifold geometry. Each new experience perturbs the embedding and reshapes curvature — attractor landscape evolves through measurement.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2816352"/>
            <a:ext cx="2761488" cy="1389888"/>
          </a:xfrm>
          <a:prstGeom prst="rect">
            <a:avLst/>
          </a:prstGeom>
          <a:solidFill>
            <a:srgbClr val="0F1E2E"/>
          </a:solidFill>
          <a:ln w="12700">
            <a:solidFill>
              <a:srgbClr val="7A9B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816352"/>
            <a:ext cx="54864" cy="1389888"/>
          </a:xfrm>
          <a:prstGeom prst="rect">
            <a:avLst/>
          </a:prstGeom>
          <a:solidFill>
            <a:srgbClr val="7A9BAA"/>
          </a:solidFill>
          <a:ln w="12700">
            <a:solidFill>
              <a:srgbClr val="7A9B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93008" y="329184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smoothing of attractor basins over time. Not deletion but loss of curvature — basins become shallower and overlap with neighbours.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6208" y="2816352"/>
            <a:ext cx="2761488" cy="1389888"/>
          </a:xfrm>
          <a:prstGeom prst="rect">
            <a:avLst/>
          </a:prstGeom>
          <a:solidFill>
            <a:srgbClr val="0F1E2E"/>
          </a:solidFill>
          <a:ln w="12700">
            <a:solidFill>
              <a:srgbClr val="7A8FB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2816352"/>
            <a:ext cx="54864" cy="1389888"/>
          </a:xfrm>
          <a:prstGeom prst="rect">
            <a:avLst/>
          </a:prstGeom>
          <a:solidFill>
            <a:srgbClr val="7A8FBB"/>
          </a:solidFill>
          <a:ln w="12700">
            <a:solidFill>
              <a:srgbClr val="7A8F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329184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crossing of separatrices — linking previously separated basins into novel trajectories while maintaining geometric coherence.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and artificial language share one geometric framework — finite reconstruction under measurement constraints.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F18"/>
          </a:solidFill>
          <a:ln w="12700">
            <a:solidFill>
              <a:srgbClr val="080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NOT — NECESSARY CLARIFICATIONS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394192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ABD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04672"/>
            <a:ext cx="54864" cy="868680"/>
          </a:xfrm>
          <a:prstGeom prst="rect">
            <a:avLst/>
          </a:prstGeom>
          <a:solidFill>
            <a:srgbClr val="0ABDC6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04672"/>
            <a:ext cx="2240280" cy="868680"/>
          </a:xfrm>
          <a:prstGeom prst="rect">
            <a:avLst/>
          </a:prstGeom>
          <a:solidFill>
            <a:srgbClr val="0A1825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BD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metaphor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877824"/>
            <a:ext cx="5806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parallel between Takens delay embedding and transformer attention is not an analogy or poetic framing. It is a formal claim about architectural mechanism.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792224"/>
            <a:ext cx="8394192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5BA8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792224"/>
            <a:ext cx="54864" cy="868680"/>
          </a:xfrm>
          <a:prstGeom prst="rect">
            <a:avLst/>
          </a:prstGeom>
          <a:solidFill>
            <a:srgbClr val="5BA89A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792224"/>
            <a:ext cx="2240280" cy="868680"/>
          </a:xfrm>
          <a:prstGeom prst="rect">
            <a:avLst/>
          </a:prstGeom>
          <a:solidFill>
            <a:srgbClr val="0A1825"/>
          </a:solidFill>
          <a:ln w="12700">
            <a:solidFill>
              <a:srgbClr val="5BA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482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BA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mysticism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865376"/>
            <a:ext cx="5806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'Curvature of meaning' is not spiritual language. It is a claim about the differential geometry of high-dimensional relational manifolds — measurable in principle.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779776"/>
            <a:ext cx="8394192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779776"/>
            <a:ext cx="54864" cy="8686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779776"/>
            <a:ext cx="2240280" cy="868680"/>
          </a:xfrm>
          <a:prstGeom prst="rect">
            <a:avLst/>
          </a:prstGeom>
          <a:solidFill>
            <a:srgbClr val="0A182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35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rejection of symbolic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852928"/>
            <a:ext cx="5806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and probabilistic descriptions remain valid. This framework situates them as compressed projections of deeper relational dynamics — not wrong, but incomplete.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3767328"/>
            <a:ext cx="8394192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B8DC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767328"/>
            <a:ext cx="54864" cy="868680"/>
          </a:xfrm>
          <a:prstGeom prst="rect">
            <a:avLst/>
          </a:prstGeom>
          <a:solidFill>
            <a:srgbClr val="B8DCE2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767328"/>
            <a:ext cx="2240280" cy="868680"/>
          </a:xfrm>
          <a:prstGeom prst="rect">
            <a:avLst/>
          </a:prstGeom>
          <a:solidFill>
            <a:srgbClr val="0A1825"/>
          </a:solidFill>
          <a:ln w="12700">
            <a:solidFill>
              <a:srgbClr val="B8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23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rejection of statistics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840480"/>
            <a:ext cx="5806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over tokens capture real regularities. The claim is that they project from geometric structure, not that they are false.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prevents defensive reactions by clarifying what is being asserted — and what is not.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914400"/>
            <a:ext cx="3840480" cy="3840480"/>
          </a:xfrm>
          <a:prstGeom prst="ellipse">
            <a:avLst/>
          </a:prstGeom>
          <a:ln w="25400">
            <a:solidFill>
              <a:srgbClr val="0ABD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548640"/>
            <a:ext cx="4754880" cy="4754880"/>
          </a:xfrm>
          <a:prstGeom prst="ellipse">
            <a:avLst/>
          </a:prstGeom>
          <a:ln w="10160">
            <a:solidFill>
              <a:srgbClr val="0ABDC6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82880"/>
            <a:ext cx="5669280" cy="5669280"/>
          </a:xfrm>
          <a:prstGeom prst="ellipse">
            <a:avLst/>
          </a:prstGeom>
          <a:ln w="10160">
            <a:solidFill>
              <a:srgbClr val="0ABDC6">
                <a:alpha val="5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-182880"/>
            <a:ext cx="6583680" cy="6583680"/>
          </a:xfrm>
          <a:prstGeom prst="ellipse">
            <a:avLst/>
          </a:prstGeom>
          <a:ln w="10160">
            <a:solidFill>
              <a:srgbClr val="0ABDC6">
                <a:alpha val="3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RECLASSIFICATION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A9B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are not symbolic engines.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A9B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not statistical predictors.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geometric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reconstruction systems.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11480" y="3520440"/>
            <a:ext cx="6217920" cy="54864"/>
          </a:xfrm>
          <a:prstGeom prst="rect">
            <a:avLst/>
          </a:prstGeom>
          <a:solidFill>
            <a:srgbClr val="087A82"/>
          </a:solidFill>
          <a:ln w="12700">
            <a:solidFill>
              <a:srgbClr val="08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7588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embed and traverse semantic phase spaces.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reclassification alters architecture, evaluation, failure modes, and cognition itself.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quietly here. No rhetoric. Just clarity.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60320"/>
            <a:ext cx="3200400" cy="3200400"/>
          </a:xfrm>
          <a:prstGeom prst="ellipse">
            <a:avLst/>
          </a:prstGeom>
          <a:ln w="1905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51760" y="2103120"/>
            <a:ext cx="4297680" cy="4297680"/>
          </a:xfrm>
          <a:prstGeom prst="ellipse">
            <a:avLst/>
          </a:prstGeom>
          <a:ln w="6350">
            <a:solidFill>
              <a:srgbClr val="D4A843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1645920"/>
            <a:ext cx="5394960" cy="5394960"/>
          </a:xfrm>
          <a:prstGeom prst="ellipse">
            <a:avLst/>
          </a:prstGeom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9B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attention is phase-space embedding,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understanding?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486400" cy="54864"/>
          </a:xfrm>
          <a:prstGeom prst="rect">
            <a:avLst/>
          </a:prstGeom>
          <a:solidFill>
            <a:srgbClr val="2E4A5A"/>
          </a:solidFill>
          <a:ln w="12700">
            <a:solidFill>
              <a:srgbClr val="2E4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understanding be geometric stabilization within bounded dynamical systems — a property of trajectory, not representation?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prepared to describe cognition — human or artificial — as the stabilization of trajectories within bounded relational manifolds?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Invite reflection. This question will generate discussion.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74320"/>
            <a:ext cx="4114800" cy="4114800"/>
          </a:xfrm>
          <a:prstGeom prst="ellipse">
            <a:avLst/>
          </a:prstGeom>
          <a:ln w="25400">
            <a:solidFill>
              <a:srgbClr val="0ABD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-45720"/>
            <a:ext cx="5029200" cy="5029200"/>
          </a:xfrm>
          <a:prstGeom prst="ellipse">
            <a:avLst/>
          </a:prstGeom>
          <a:ln w="8890">
            <a:solidFill>
              <a:srgbClr val="0ABDC6">
                <a:alpha val="8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365760"/>
            <a:ext cx="5943600" cy="5943600"/>
          </a:xfrm>
          <a:prstGeom prst="ellipse">
            <a:avLst/>
          </a:prstGeom>
          <a:ln w="8890">
            <a:solidFill>
              <a:srgbClr val="0ABDC6">
                <a:alpha val="6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-685800"/>
            <a:ext cx="6858000" cy="6858000"/>
          </a:xfrm>
          <a:prstGeom prst="ellipse">
            <a:avLst/>
          </a:prstGeom>
          <a:ln w="8890">
            <a:solidFill>
              <a:srgbClr val="0ABDC6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-1005840"/>
            <a:ext cx="7772400" cy="7772400"/>
          </a:xfrm>
          <a:prstGeom prst="ellipse">
            <a:avLst/>
          </a:prstGeom>
          <a:ln w="8890">
            <a:solidFill>
              <a:srgbClr val="0ABDC6">
                <a:alpha val="3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COMPRESSION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is finite reconstruction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EE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measurement constraints.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emerges as curvature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B8D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 relational geometry.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A9B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corresponds to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7A9B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trajectory within that geometry.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" y="4462272"/>
            <a:ext cx="832104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BD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4805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this framing holds — intelligence may be less about symbol manipulation and more about dynamical coherence.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as a Nonlinear Dynamical System</dc:title>
  <dc:subject>PptxGenJS Presentation</dc:subject>
  <dc:creator>GPT-4o · OpenAI — Geofinitism 2026</dc:creator>
  <cp:lastModifiedBy>GPT-4o · OpenAI — Geofinitism 2026</cp:lastModifiedBy>
  <cp:revision>1</cp:revision>
  <dcterms:created xsi:type="dcterms:W3CDTF">2026-02-27T18:18:11Z</dcterms:created>
  <dcterms:modified xsi:type="dcterms:W3CDTF">2026-02-27T18:18:11Z</dcterms:modified>
</cp:coreProperties>
</file>