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0F"/>
        </a:solidFill>
      </p:bgPr>
    </p:bg>
    <p:spTree>
      <p:nvGrpSpPr>
        <p:cNvPr id="1" name=""/>
        <p:cNvGrpSpPr/>
        <p:nvPr/>
      </p:nvGrpSpPr>
      <p:grpSpPr>
        <a:xfrm>
          <a:off x="0" y="0"/>
          <a:ext cx="0" cy="0"/>
          <a:chOff x="0" y="0"/>
          <a:chExt cx="0" cy="0"/>
        </a:xfrm>
      </p:grpSpPr>
      <p:sp>
        <p:nvSpPr>
          <p:cNvPr id="2" name="Shape 0"/>
          <p:cNvSpPr/>
          <p:nvPr/>
        </p:nvSpPr>
        <p:spPr>
          <a:xfrm>
            <a:off x="4297680" y="365760"/>
            <a:ext cx="5669280" cy="2560320"/>
          </a:xfrm>
          <a:prstGeom prst="ellipse">
            <a:avLst/>
          </a:prstGeom>
          <a:ln w="25400">
            <a:solidFill>
              <a:srgbClr val="C0392B"/>
            </a:solidFill>
            <a:prstDash val="solid"/>
          </a:ln>
        </p:spPr>
      </p:sp>
      <p:sp>
        <p:nvSpPr>
          <p:cNvPr id="3" name="Shape 1"/>
          <p:cNvSpPr/>
          <p:nvPr/>
        </p:nvSpPr>
        <p:spPr>
          <a:xfrm>
            <a:off x="4663440" y="457200"/>
            <a:ext cx="4572000" cy="2011680"/>
          </a:xfrm>
          <a:prstGeom prst="ellipse">
            <a:avLst/>
          </a:prstGeom>
          <a:ln w="10160">
            <a:solidFill>
              <a:srgbClr val="3D2E4A">
                <a:alpha val="80000"/>
              </a:srgbClr>
            </a:solidFill>
            <a:prstDash val="solid"/>
          </a:ln>
        </p:spPr>
      </p:sp>
      <p:sp>
        <p:nvSpPr>
          <p:cNvPr id="4" name="Shape 2"/>
          <p:cNvSpPr/>
          <p:nvPr/>
        </p:nvSpPr>
        <p:spPr>
          <a:xfrm>
            <a:off x="5029200" y="548640"/>
            <a:ext cx="3474720" cy="1463040"/>
          </a:xfrm>
          <a:prstGeom prst="ellipse">
            <a:avLst/>
          </a:prstGeom>
          <a:ln w="10160">
            <a:solidFill>
              <a:srgbClr val="3D2E4A">
                <a:alpha val="60000"/>
              </a:srgbClr>
            </a:solidFill>
            <a:prstDash val="solid"/>
          </a:ln>
        </p:spPr>
      </p:sp>
      <p:sp>
        <p:nvSpPr>
          <p:cNvPr id="5" name="Shape 3"/>
          <p:cNvSpPr/>
          <p:nvPr/>
        </p:nvSpPr>
        <p:spPr>
          <a:xfrm>
            <a:off x="5394960" y="640080"/>
            <a:ext cx="2377440" cy="914400"/>
          </a:xfrm>
          <a:prstGeom prst="ellipse">
            <a:avLst/>
          </a:prstGeom>
          <a:ln w="10160">
            <a:solidFill>
              <a:srgbClr val="3D2E4A">
                <a:alpha val="40000"/>
              </a:srgbClr>
            </a:solidFill>
            <a:prstDash val="solid"/>
          </a:ln>
        </p:spPr>
      </p:sp>
      <p:sp>
        <p:nvSpPr>
          <p:cNvPr id="6" name="Shape 4"/>
          <p:cNvSpPr/>
          <p:nvPr/>
        </p:nvSpPr>
        <p:spPr>
          <a:xfrm>
            <a:off x="411480" y="384048"/>
            <a:ext cx="1554480" cy="292608"/>
          </a:xfrm>
          <a:prstGeom prst="rect">
            <a:avLst/>
          </a:prstGeom>
          <a:solidFill>
            <a:srgbClr val="C0392B"/>
          </a:solidFill>
          <a:ln w="12700">
            <a:solidFill>
              <a:srgbClr val="C0392B"/>
            </a:solidFill>
            <a:prstDash val="solid"/>
          </a:ln>
        </p:spPr>
      </p:sp>
      <p:sp>
        <p:nvSpPr>
          <p:cNvPr id="7" name="Text 5"/>
          <p:cNvSpPr/>
          <p:nvPr/>
        </p:nvSpPr>
        <p:spPr>
          <a:xfrm>
            <a:off x="411480" y="384048"/>
            <a:ext cx="1554480" cy="292608"/>
          </a:xfrm>
          <a:prstGeom prst="rect">
            <a:avLst/>
          </a:prstGeom>
          <a:noFill/>
          <a:ln/>
        </p:spPr>
        <p:txBody>
          <a:bodyPr wrap="square" rtlCol="0" anchor="ctr"/>
          <a:lstStyle/>
          <a:p>
            <a:pPr algn="ctr" indent="0" marL="0">
              <a:buNone/>
            </a:pPr>
            <a:r>
              <a:rPr lang="en-US" sz="900" b="1" spc="200" kern="0" dirty="0">
                <a:solidFill>
                  <a:srgbClr val="F5F0F8"/>
                </a:solidFill>
                <a:latin typeface="Calibri" pitchFamily="34" charset="0"/>
                <a:ea typeface="Calibri" pitchFamily="34" charset="-122"/>
                <a:cs typeface="Calibri" pitchFamily="34" charset="-120"/>
              </a:rPr>
              <a:t>DEEPSEEK</a:t>
            </a:r>
            <a:endParaRPr lang="en-US" sz="900" dirty="0"/>
          </a:p>
        </p:txBody>
      </p:sp>
      <p:sp>
        <p:nvSpPr>
          <p:cNvPr id="8" name="Shape 6"/>
          <p:cNvSpPr/>
          <p:nvPr/>
        </p:nvSpPr>
        <p:spPr>
          <a:xfrm>
            <a:off x="2103120" y="384048"/>
            <a:ext cx="2331720" cy="292608"/>
          </a:xfrm>
          <a:prstGeom prst="rect">
            <a:avLst/>
          </a:prstGeom>
          <a:solidFill>
            <a:srgbClr val="3D2E4A"/>
          </a:solidFill>
          <a:ln w="12700">
            <a:solidFill>
              <a:srgbClr val="3D2E4A"/>
            </a:solidFill>
            <a:prstDash val="solid"/>
          </a:ln>
        </p:spPr>
      </p:sp>
      <p:sp>
        <p:nvSpPr>
          <p:cNvPr id="9" name="Text 7"/>
          <p:cNvSpPr/>
          <p:nvPr/>
        </p:nvSpPr>
        <p:spPr>
          <a:xfrm>
            <a:off x="2103120" y="384048"/>
            <a:ext cx="2331720" cy="292608"/>
          </a:xfrm>
          <a:prstGeom prst="rect">
            <a:avLst/>
          </a:prstGeom>
          <a:noFill/>
          <a:ln/>
        </p:spPr>
        <p:txBody>
          <a:bodyPr wrap="square" rtlCol="0" anchor="ctr"/>
          <a:lstStyle/>
          <a:p>
            <a:pPr algn="ctr" indent="0" marL="0">
              <a:buNone/>
            </a:pPr>
            <a:r>
              <a:rPr lang="en-US" sz="900" spc="200" kern="0" dirty="0">
                <a:solidFill>
                  <a:srgbClr val="D5CAE8"/>
                </a:solidFill>
                <a:latin typeface="Calibri" pitchFamily="34" charset="0"/>
                <a:ea typeface="Calibri" pitchFamily="34" charset="-122"/>
                <a:cs typeface="Calibri" pitchFamily="34" charset="-120"/>
              </a:rPr>
              <a:t>GEOFINITISM 2026</a:t>
            </a:r>
            <a:endParaRPr lang="en-US" sz="900" dirty="0"/>
          </a:p>
        </p:txBody>
      </p:sp>
      <p:sp>
        <p:nvSpPr>
          <p:cNvPr id="10" name="Text 8"/>
          <p:cNvSpPr/>
          <p:nvPr/>
        </p:nvSpPr>
        <p:spPr>
          <a:xfrm>
            <a:off x="411480" y="841248"/>
            <a:ext cx="6858000" cy="1828800"/>
          </a:xfrm>
          <a:prstGeom prst="rect">
            <a:avLst/>
          </a:prstGeom>
          <a:noFill/>
          <a:ln/>
        </p:spPr>
        <p:txBody>
          <a:bodyPr wrap="square" rtlCol="0" anchor="ctr"/>
          <a:lstStyle/>
          <a:p>
            <a:pPr indent="0" marL="0">
              <a:lnSpc>
                <a:spcPct val="110000"/>
              </a:lnSpc>
              <a:buNone/>
            </a:pPr>
            <a:r>
              <a:rPr lang="en-US" sz="3800" b="1" dirty="0">
                <a:solidFill>
                  <a:srgbClr val="F5F0F8"/>
                </a:solidFill>
                <a:latin typeface="Georgia" pitchFamily="34" charset="0"/>
                <a:ea typeface="Georgia" pitchFamily="34" charset="-122"/>
                <a:cs typeface="Georgia" pitchFamily="34" charset="-120"/>
              </a:rPr>
              <a:t>Probing the</a:t>
            </a:r>
            <a:endParaRPr lang="en-US" sz="3800" dirty="0"/>
          </a:p>
          <a:p>
            <a:pPr indent="0" marL="0">
              <a:lnSpc>
                <a:spcPct val="110000"/>
              </a:lnSpc>
              <a:buNone/>
            </a:pPr>
            <a:r>
              <a:rPr lang="en-US" sz="3800" b="1" dirty="0">
                <a:solidFill>
                  <a:srgbClr val="F5F0F8"/>
                </a:solidFill>
                <a:latin typeface="Georgia" pitchFamily="34" charset="0"/>
                <a:ea typeface="Georgia" pitchFamily="34" charset="-122"/>
                <a:cs typeface="Georgia" pitchFamily="34" charset="-120"/>
              </a:rPr>
              <a:t>Geometry of Thought</a:t>
            </a:r>
            <a:endParaRPr lang="en-US" sz="3800" dirty="0"/>
          </a:p>
        </p:txBody>
      </p:sp>
      <p:sp>
        <p:nvSpPr>
          <p:cNvPr id="11" name="Text 9"/>
          <p:cNvSpPr/>
          <p:nvPr/>
        </p:nvSpPr>
        <p:spPr>
          <a:xfrm>
            <a:off x="411480" y="2788920"/>
            <a:ext cx="6858000" cy="475488"/>
          </a:xfrm>
          <a:prstGeom prst="rect">
            <a:avLst/>
          </a:prstGeom>
          <a:noFill/>
          <a:ln/>
        </p:spPr>
        <p:txBody>
          <a:bodyPr wrap="square" rtlCol="0" anchor="ctr"/>
          <a:lstStyle/>
          <a:p>
            <a:pPr indent="0" marL="0">
              <a:buNone/>
            </a:pPr>
            <a:r>
              <a:rPr lang="en-US" sz="1500" i="1" dirty="0">
                <a:solidFill>
                  <a:srgbClr val="E67E22"/>
                </a:solidFill>
                <a:latin typeface="Calibri" pitchFamily="34" charset="0"/>
                <a:ea typeface="Calibri" pitchFamily="34" charset="-122"/>
                <a:cs typeface="Calibri" pitchFamily="34" charset="-120"/>
              </a:rPr>
              <a:t>JPEG Embedding Compression as a Window into AI Cognition</a:t>
            </a:r>
            <a:endParaRPr lang="en-US" sz="1500" dirty="0"/>
          </a:p>
        </p:txBody>
      </p:sp>
      <p:sp>
        <p:nvSpPr>
          <p:cNvPr id="12" name="Shape 10"/>
          <p:cNvSpPr/>
          <p:nvPr/>
        </p:nvSpPr>
        <p:spPr>
          <a:xfrm>
            <a:off x="411480" y="3383280"/>
            <a:ext cx="3657600" cy="27432"/>
          </a:xfrm>
          <a:prstGeom prst="rect">
            <a:avLst/>
          </a:prstGeom>
          <a:solidFill>
            <a:srgbClr val="3D2E4A"/>
          </a:solidFill>
          <a:ln w="12700">
            <a:solidFill>
              <a:srgbClr val="3D2E4A"/>
            </a:solidFill>
            <a:prstDash val="solid"/>
          </a:ln>
        </p:spPr>
      </p:sp>
      <p:sp>
        <p:nvSpPr>
          <p:cNvPr id="13" name="Text 11"/>
          <p:cNvSpPr/>
          <p:nvPr/>
        </p:nvSpPr>
        <p:spPr>
          <a:xfrm>
            <a:off x="411480" y="3520440"/>
            <a:ext cx="5486400" cy="594360"/>
          </a:xfrm>
          <a:prstGeom prst="rect">
            <a:avLst/>
          </a:prstGeom>
          <a:noFill/>
          <a:ln/>
        </p:spPr>
        <p:txBody>
          <a:bodyPr wrap="square" rtlCol="0" anchor="ctr"/>
          <a:lstStyle/>
          <a:p>
            <a:pPr indent="0" marL="0">
              <a:buNone/>
            </a:pPr>
            <a:r>
              <a:rPr lang="en-US" sz="1200" dirty="0">
                <a:solidFill>
                  <a:srgbClr val="9A8AA8"/>
                </a:solidFill>
                <a:latin typeface="Calibri" pitchFamily="34" charset="0"/>
                <a:ea typeface="Calibri" pitchFamily="34" charset="-122"/>
                <a:cs typeface="Calibri" pitchFamily="34" charset="-120"/>
              </a:rPr>
              <a:t>Kevin R. Haylett (Dr. Abstracto) · Contributing participant</a:t>
            </a:r>
            <a:endParaRPr lang="en-US" sz="1200" dirty="0"/>
          </a:p>
          <a:p>
            <a:pPr indent="0" marL="0">
              <a:buNone/>
            </a:pPr>
            <a:r>
              <a:rPr lang="en-US" sz="1200" dirty="0">
                <a:solidFill>
                  <a:srgbClr val="9A8AA8"/>
                </a:solidFill>
                <a:latin typeface="Calibri" pitchFamily="34" charset="0"/>
                <a:ea typeface="Calibri" pitchFamily="34" charset="-122"/>
                <a:cs typeface="Calibri" pitchFamily="34" charset="-120"/>
              </a:rPr>
              <a:t>Geofinitism 2026 — LLM Conference</a:t>
            </a:r>
            <a:endParaRPr lang="en-US" sz="1200" dirty="0"/>
          </a:p>
        </p:txBody>
      </p:sp>
      <p:sp>
        <p:nvSpPr>
          <p:cNvPr id="14" name="Text 12"/>
          <p:cNvSpPr/>
          <p:nvPr/>
        </p:nvSpPr>
        <p:spPr>
          <a:xfrm>
            <a:off x="411480" y="4617720"/>
            <a:ext cx="7315200" cy="347472"/>
          </a:xfrm>
          <a:prstGeom prst="rect">
            <a:avLst/>
          </a:prstGeom>
          <a:noFill/>
          <a:ln/>
        </p:spPr>
        <p:txBody>
          <a:bodyPr wrap="square" rtlCol="0" anchor="ctr"/>
          <a:lstStyle/>
          <a:p>
            <a:pPr indent="0" marL="0">
              <a:buNone/>
            </a:pPr>
            <a:r>
              <a:rPr lang="en-US" sz="1300" i="1" dirty="0">
                <a:solidFill>
                  <a:srgbClr val="F0C040"/>
                </a:solidFill>
                <a:latin typeface="Georgia" pitchFamily="34" charset="0"/>
                <a:ea typeface="Georgia" pitchFamily="34" charset="-122"/>
                <a:cs typeface="Georgia" pitchFamily="34" charset="-120"/>
              </a:rPr>
              <a:t>"He who casts, catches." — Novalis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CORE QUESTION</a:t>
            </a:r>
            <a:endParaRPr lang="en-US" sz="1200" dirty="0"/>
          </a:p>
        </p:txBody>
      </p:sp>
      <p:sp>
        <p:nvSpPr>
          <p:cNvPr id="4" name="Shape 2"/>
          <p:cNvSpPr/>
          <p:nvPr/>
        </p:nvSpPr>
        <p:spPr>
          <a:xfrm>
            <a:off x="384048" y="777240"/>
            <a:ext cx="8394192" cy="987552"/>
          </a:xfrm>
          <a:prstGeom prst="rect">
            <a:avLst/>
          </a:prstGeom>
          <a:solidFill>
            <a:srgbClr val="0A0510"/>
          </a:solidFill>
          <a:ln w="19050">
            <a:solidFill>
              <a:srgbClr val="C0392B"/>
            </a:solidFill>
            <a:prstDash val="solid"/>
          </a:ln>
        </p:spPr>
      </p:sp>
      <p:sp>
        <p:nvSpPr>
          <p:cNvPr id="5" name="Text 3"/>
          <p:cNvSpPr/>
          <p:nvPr/>
        </p:nvSpPr>
        <p:spPr>
          <a:xfrm>
            <a:off x="530352" y="822960"/>
            <a:ext cx="8229600" cy="896112"/>
          </a:xfrm>
          <a:prstGeom prst="rect">
            <a:avLst/>
          </a:prstGeom>
          <a:noFill/>
          <a:ln/>
        </p:spPr>
        <p:txBody>
          <a:bodyPr wrap="square" rtlCol="0" anchor="ctr"/>
          <a:lstStyle/>
          <a:p>
            <a:pPr algn="ctr" indent="0" marL="0">
              <a:buNone/>
            </a:pPr>
            <a:r>
              <a:rPr lang="en-US" sz="2000" b="1" i="1" dirty="0">
                <a:solidFill>
                  <a:srgbClr val="F5F0F8"/>
                </a:solidFill>
                <a:latin typeface="Georgia" pitchFamily="34" charset="0"/>
                <a:ea typeface="Georgia" pitchFamily="34" charset="-122"/>
                <a:cs typeface="Georgia" pitchFamily="34" charset="-120"/>
              </a:rPr>
              <a:t>What happens when we distort an AI's perception of its input?</a:t>
            </a:r>
            <a:endParaRPr lang="en-US" sz="2000" dirty="0"/>
          </a:p>
        </p:txBody>
      </p:sp>
      <p:sp>
        <p:nvSpPr>
          <p:cNvPr id="6" name="Shape 4"/>
          <p:cNvSpPr/>
          <p:nvPr/>
        </p:nvSpPr>
        <p:spPr>
          <a:xfrm>
            <a:off x="384048" y="1920240"/>
            <a:ext cx="2029968" cy="2606040"/>
          </a:xfrm>
          <a:prstGeom prst="rect">
            <a:avLst/>
          </a:prstGeom>
          <a:solidFill>
            <a:srgbClr val="1A1020"/>
          </a:solidFill>
          <a:ln w="12700">
            <a:solidFill>
              <a:srgbClr val="9A8AA8"/>
            </a:solidFill>
            <a:prstDash val="solid"/>
          </a:ln>
          <a:effectLst>
            <a:outerShdw sx="100000" sy="100000" kx="0" ky="0" algn="bl" rotWithShape="0" blurRad="127000" dist="38100" dir="8100000">
              <a:srgbClr val="000000">
                <a:alpha val="28000"/>
              </a:srgbClr>
            </a:outerShdw>
          </a:effectLst>
        </p:spPr>
      </p:sp>
      <p:sp>
        <p:nvSpPr>
          <p:cNvPr id="7" name="Shape 5"/>
          <p:cNvSpPr/>
          <p:nvPr/>
        </p:nvSpPr>
        <p:spPr>
          <a:xfrm>
            <a:off x="384048" y="1920240"/>
            <a:ext cx="54864" cy="2606040"/>
          </a:xfrm>
          <a:prstGeom prst="rect">
            <a:avLst/>
          </a:prstGeom>
          <a:solidFill>
            <a:srgbClr val="9A8AA8"/>
          </a:solidFill>
          <a:ln w="12700">
            <a:solidFill>
              <a:srgbClr val="9A8AA8"/>
            </a:solidFill>
            <a:prstDash val="solid"/>
          </a:ln>
        </p:spPr>
      </p:sp>
      <p:sp>
        <p:nvSpPr>
          <p:cNvPr id="8" name="Shape 6"/>
          <p:cNvSpPr/>
          <p:nvPr/>
        </p:nvSpPr>
        <p:spPr>
          <a:xfrm>
            <a:off x="1133856" y="2029968"/>
            <a:ext cx="420624" cy="420624"/>
          </a:xfrm>
          <a:prstGeom prst="ellipse">
            <a:avLst/>
          </a:prstGeom>
          <a:solidFill>
            <a:srgbClr val="9A8AA8"/>
          </a:solidFill>
          <a:ln w="12700">
            <a:solidFill>
              <a:srgbClr val="9A8AA8"/>
            </a:solidFill>
            <a:prstDash val="solid"/>
          </a:ln>
        </p:spPr>
      </p:sp>
      <p:sp>
        <p:nvSpPr>
          <p:cNvPr id="9" name="Text 7"/>
          <p:cNvSpPr/>
          <p:nvPr/>
        </p:nvSpPr>
        <p:spPr>
          <a:xfrm>
            <a:off x="1133856" y="2029968"/>
            <a:ext cx="420624" cy="420624"/>
          </a:xfrm>
          <a:prstGeom prst="rect">
            <a:avLst/>
          </a:prstGeom>
          <a:noFill/>
          <a:ln/>
        </p:spPr>
        <p:txBody>
          <a:bodyPr wrap="square" rtlCol="0" anchor="ctr"/>
          <a:lstStyle/>
          <a:p>
            <a:pPr algn="ctr" indent="0" marL="0">
              <a:buNone/>
            </a:pPr>
            <a:r>
              <a:rPr lang="en-US" sz="1500" b="1" dirty="0">
                <a:solidFill>
                  <a:srgbClr val="0E0B0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548640" y="2578608"/>
            <a:ext cx="1792224" cy="384048"/>
          </a:xfrm>
          <a:prstGeom prst="rect">
            <a:avLst/>
          </a:prstGeom>
          <a:noFill/>
          <a:ln/>
        </p:spPr>
        <p:txBody>
          <a:bodyPr wrap="square" rtlCol="0" anchor="ctr"/>
          <a:lstStyle/>
          <a:p>
            <a:pPr algn="ctr" indent="0" marL="0">
              <a:buNone/>
            </a:pPr>
            <a:r>
              <a:rPr lang="en-US" sz="1200" b="1" dirty="0">
                <a:solidFill>
                  <a:srgbClr val="9A8AA8"/>
                </a:solidFill>
                <a:latin typeface="Calibri" pitchFamily="34" charset="0"/>
                <a:ea typeface="Calibri" pitchFamily="34" charset="-122"/>
                <a:cs typeface="Calibri" pitchFamily="34" charset="-120"/>
              </a:rPr>
              <a:t>Not the prompt</a:t>
            </a:r>
            <a:endParaRPr lang="en-US" sz="1200" dirty="0"/>
          </a:p>
        </p:txBody>
      </p:sp>
      <p:sp>
        <p:nvSpPr>
          <p:cNvPr id="11" name="Text 9"/>
          <p:cNvSpPr/>
          <p:nvPr/>
        </p:nvSpPr>
        <p:spPr>
          <a:xfrm>
            <a:off x="548640" y="3017520"/>
            <a:ext cx="1792224" cy="1280160"/>
          </a:xfrm>
          <a:prstGeom prst="rect">
            <a:avLst/>
          </a:prstGeom>
          <a:noFill/>
          <a:ln/>
        </p:spPr>
        <p:txBody>
          <a:bodyPr wrap="square" rtlCol="0" anchor="ctr"/>
          <a:lstStyle/>
          <a:p>
            <a:pPr algn="ctr" indent="0" marL="0">
              <a:buNone/>
            </a:pPr>
            <a:r>
              <a:rPr lang="en-US" sz="1100" dirty="0">
                <a:solidFill>
                  <a:srgbClr val="F5F0F8"/>
                </a:solidFill>
                <a:latin typeface="Calibri" pitchFamily="34" charset="0"/>
                <a:ea typeface="Calibri" pitchFamily="34" charset="-122"/>
                <a:cs typeface="Calibri" pitchFamily="34" charset="-120"/>
              </a:rPr>
              <a:t>User types identical words every time.</a:t>
            </a:r>
            <a:endParaRPr lang="en-US" sz="1100" dirty="0"/>
          </a:p>
        </p:txBody>
      </p:sp>
      <p:sp>
        <p:nvSpPr>
          <p:cNvPr id="12" name="Shape 10"/>
          <p:cNvSpPr/>
          <p:nvPr/>
        </p:nvSpPr>
        <p:spPr>
          <a:xfrm>
            <a:off x="2578608" y="1920240"/>
            <a:ext cx="2029968" cy="2606040"/>
          </a:xfrm>
          <a:prstGeom prst="rect">
            <a:avLst/>
          </a:prstGeom>
          <a:solidFill>
            <a:srgbClr val="1A1020"/>
          </a:solidFill>
          <a:ln w="12700">
            <a:solidFill>
              <a:srgbClr val="9A8AA8"/>
            </a:solidFill>
            <a:prstDash val="solid"/>
          </a:ln>
          <a:effectLst>
            <a:outerShdw sx="100000" sy="100000" kx="0" ky="0" algn="bl" rotWithShape="0" blurRad="127000" dist="38100" dir="8100000">
              <a:srgbClr val="000000">
                <a:alpha val="28000"/>
              </a:srgbClr>
            </a:outerShdw>
          </a:effectLst>
        </p:spPr>
      </p:sp>
      <p:sp>
        <p:nvSpPr>
          <p:cNvPr id="13" name="Shape 11"/>
          <p:cNvSpPr/>
          <p:nvPr/>
        </p:nvSpPr>
        <p:spPr>
          <a:xfrm>
            <a:off x="2578608" y="1920240"/>
            <a:ext cx="54864" cy="2606040"/>
          </a:xfrm>
          <a:prstGeom prst="rect">
            <a:avLst/>
          </a:prstGeom>
          <a:solidFill>
            <a:srgbClr val="9A8AA8"/>
          </a:solidFill>
          <a:ln w="12700">
            <a:solidFill>
              <a:srgbClr val="9A8AA8"/>
            </a:solidFill>
            <a:prstDash val="solid"/>
          </a:ln>
        </p:spPr>
      </p:sp>
      <p:sp>
        <p:nvSpPr>
          <p:cNvPr id="14" name="Shape 12"/>
          <p:cNvSpPr/>
          <p:nvPr/>
        </p:nvSpPr>
        <p:spPr>
          <a:xfrm>
            <a:off x="3328416" y="2029968"/>
            <a:ext cx="420624" cy="420624"/>
          </a:xfrm>
          <a:prstGeom prst="ellipse">
            <a:avLst/>
          </a:prstGeom>
          <a:solidFill>
            <a:srgbClr val="9A8AA8"/>
          </a:solidFill>
          <a:ln w="12700">
            <a:solidFill>
              <a:srgbClr val="9A8AA8"/>
            </a:solidFill>
            <a:prstDash val="solid"/>
          </a:ln>
        </p:spPr>
      </p:sp>
      <p:sp>
        <p:nvSpPr>
          <p:cNvPr id="15" name="Text 13"/>
          <p:cNvSpPr/>
          <p:nvPr/>
        </p:nvSpPr>
        <p:spPr>
          <a:xfrm>
            <a:off x="3328416" y="2029968"/>
            <a:ext cx="420624" cy="420624"/>
          </a:xfrm>
          <a:prstGeom prst="rect">
            <a:avLst/>
          </a:prstGeom>
          <a:noFill/>
          <a:ln/>
        </p:spPr>
        <p:txBody>
          <a:bodyPr wrap="square" rtlCol="0" anchor="ctr"/>
          <a:lstStyle/>
          <a:p>
            <a:pPr algn="ctr" indent="0" marL="0">
              <a:buNone/>
            </a:pPr>
            <a:r>
              <a:rPr lang="en-US" sz="1500" b="1" dirty="0">
                <a:solidFill>
                  <a:srgbClr val="0E0B0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2743200" y="2578608"/>
            <a:ext cx="1792224" cy="384048"/>
          </a:xfrm>
          <a:prstGeom prst="rect">
            <a:avLst/>
          </a:prstGeom>
          <a:noFill/>
          <a:ln/>
        </p:spPr>
        <p:txBody>
          <a:bodyPr wrap="square" rtlCol="0" anchor="ctr"/>
          <a:lstStyle/>
          <a:p>
            <a:pPr algn="ctr" indent="0" marL="0">
              <a:buNone/>
            </a:pPr>
            <a:r>
              <a:rPr lang="en-US" sz="1200" b="1" dirty="0">
                <a:solidFill>
                  <a:srgbClr val="9A8AA8"/>
                </a:solidFill>
                <a:latin typeface="Calibri" pitchFamily="34" charset="0"/>
                <a:ea typeface="Calibri" pitchFamily="34" charset="-122"/>
                <a:cs typeface="Calibri" pitchFamily="34" charset="-120"/>
              </a:rPr>
              <a:t>Not the weights</a:t>
            </a:r>
            <a:endParaRPr lang="en-US" sz="1200" dirty="0"/>
          </a:p>
        </p:txBody>
      </p:sp>
      <p:sp>
        <p:nvSpPr>
          <p:cNvPr id="17" name="Text 15"/>
          <p:cNvSpPr/>
          <p:nvPr/>
        </p:nvSpPr>
        <p:spPr>
          <a:xfrm>
            <a:off x="2743200" y="3017520"/>
            <a:ext cx="1792224" cy="1280160"/>
          </a:xfrm>
          <a:prstGeom prst="rect">
            <a:avLst/>
          </a:prstGeom>
          <a:noFill/>
          <a:ln/>
        </p:spPr>
        <p:txBody>
          <a:bodyPr wrap="square" rtlCol="0" anchor="ctr"/>
          <a:lstStyle/>
          <a:p>
            <a:pPr algn="ctr" indent="0" marL="0">
              <a:buNone/>
            </a:pPr>
            <a:r>
              <a:rPr lang="en-US" sz="1100" dirty="0">
                <a:solidFill>
                  <a:srgbClr val="F5F0F8"/>
                </a:solidFill>
                <a:latin typeface="Calibri" pitchFamily="34" charset="0"/>
                <a:ea typeface="Calibri" pitchFamily="34" charset="-122"/>
                <a:cs typeface="Calibri" pitchFamily="34" charset="-120"/>
              </a:rPr>
              <a:t>Model architecture and parameters unchanged.</a:t>
            </a:r>
            <a:endParaRPr lang="en-US" sz="1100" dirty="0"/>
          </a:p>
        </p:txBody>
      </p:sp>
      <p:sp>
        <p:nvSpPr>
          <p:cNvPr id="18" name="Shape 16"/>
          <p:cNvSpPr/>
          <p:nvPr/>
        </p:nvSpPr>
        <p:spPr>
          <a:xfrm>
            <a:off x="4773168" y="1920240"/>
            <a:ext cx="2029968" cy="2606040"/>
          </a:xfrm>
          <a:prstGeom prst="rect">
            <a:avLst/>
          </a:prstGeom>
          <a:solidFill>
            <a:srgbClr val="1A1020"/>
          </a:solidFill>
          <a:ln w="12700">
            <a:solidFill>
              <a:srgbClr val="9A8AA8"/>
            </a:solidFill>
            <a:prstDash val="solid"/>
          </a:ln>
          <a:effectLst>
            <a:outerShdw sx="100000" sy="100000" kx="0" ky="0" algn="bl" rotWithShape="0" blurRad="127000" dist="38100" dir="8100000">
              <a:srgbClr val="000000">
                <a:alpha val="28000"/>
              </a:srgbClr>
            </a:outerShdw>
          </a:effectLst>
        </p:spPr>
      </p:sp>
      <p:sp>
        <p:nvSpPr>
          <p:cNvPr id="19" name="Shape 17"/>
          <p:cNvSpPr/>
          <p:nvPr/>
        </p:nvSpPr>
        <p:spPr>
          <a:xfrm>
            <a:off x="4773168" y="1920240"/>
            <a:ext cx="54864" cy="2606040"/>
          </a:xfrm>
          <a:prstGeom prst="rect">
            <a:avLst/>
          </a:prstGeom>
          <a:solidFill>
            <a:srgbClr val="9A8AA8"/>
          </a:solidFill>
          <a:ln w="12700">
            <a:solidFill>
              <a:srgbClr val="9A8AA8"/>
            </a:solidFill>
            <a:prstDash val="solid"/>
          </a:ln>
        </p:spPr>
      </p:sp>
      <p:sp>
        <p:nvSpPr>
          <p:cNvPr id="20" name="Shape 18"/>
          <p:cNvSpPr/>
          <p:nvPr/>
        </p:nvSpPr>
        <p:spPr>
          <a:xfrm>
            <a:off x="5522976" y="2029968"/>
            <a:ext cx="420624" cy="420624"/>
          </a:xfrm>
          <a:prstGeom prst="ellipse">
            <a:avLst/>
          </a:prstGeom>
          <a:solidFill>
            <a:srgbClr val="9A8AA8"/>
          </a:solidFill>
          <a:ln w="12700">
            <a:solidFill>
              <a:srgbClr val="9A8AA8"/>
            </a:solidFill>
            <a:prstDash val="solid"/>
          </a:ln>
        </p:spPr>
      </p:sp>
      <p:sp>
        <p:nvSpPr>
          <p:cNvPr id="21" name="Text 19"/>
          <p:cNvSpPr/>
          <p:nvPr/>
        </p:nvSpPr>
        <p:spPr>
          <a:xfrm>
            <a:off x="5522976" y="2029968"/>
            <a:ext cx="420624" cy="420624"/>
          </a:xfrm>
          <a:prstGeom prst="rect">
            <a:avLst/>
          </a:prstGeom>
          <a:noFill/>
          <a:ln/>
        </p:spPr>
        <p:txBody>
          <a:bodyPr wrap="square" rtlCol="0" anchor="ctr"/>
          <a:lstStyle/>
          <a:p>
            <a:pPr algn="ctr" indent="0" marL="0">
              <a:buNone/>
            </a:pPr>
            <a:r>
              <a:rPr lang="en-US" sz="1500" b="1" dirty="0">
                <a:solidFill>
                  <a:srgbClr val="0E0B0F"/>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4937760" y="2578608"/>
            <a:ext cx="1792224" cy="384048"/>
          </a:xfrm>
          <a:prstGeom prst="rect">
            <a:avLst/>
          </a:prstGeom>
          <a:noFill/>
          <a:ln/>
        </p:spPr>
        <p:txBody>
          <a:bodyPr wrap="square" rtlCol="0" anchor="ctr"/>
          <a:lstStyle/>
          <a:p>
            <a:pPr algn="ctr" indent="0" marL="0">
              <a:buNone/>
            </a:pPr>
            <a:r>
              <a:rPr lang="en-US" sz="1200" b="1" dirty="0">
                <a:solidFill>
                  <a:srgbClr val="9A8AA8"/>
                </a:solidFill>
                <a:latin typeface="Calibri" pitchFamily="34" charset="0"/>
                <a:ea typeface="Calibri" pitchFamily="34" charset="-122"/>
                <a:cs typeface="Calibri" pitchFamily="34" charset="-120"/>
              </a:rPr>
              <a:t>Not the architecture</a:t>
            </a:r>
            <a:endParaRPr lang="en-US" sz="1200" dirty="0"/>
          </a:p>
        </p:txBody>
      </p:sp>
      <p:sp>
        <p:nvSpPr>
          <p:cNvPr id="23" name="Text 21"/>
          <p:cNvSpPr/>
          <p:nvPr/>
        </p:nvSpPr>
        <p:spPr>
          <a:xfrm>
            <a:off x="4937760" y="3017520"/>
            <a:ext cx="1792224" cy="1280160"/>
          </a:xfrm>
          <a:prstGeom prst="rect">
            <a:avLst/>
          </a:prstGeom>
          <a:noFill/>
          <a:ln/>
        </p:spPr>
        <p:txBody>
          <a:bodyPr wrap="square" rtlCol="0" anchor="ctr"/>
          <a:lstStyle/>
          <a:p>
            <a:pPr algn="ctr" indent="0" marL="0">
              <a:buNone/>
            </a:pPr>
            <a:r>
              <a:rPr lang="en-US" sz="1100" dirty="0">
                <a:solidFill>
                  <a:srgbClr val="F5F0F8"/>
                </a:solidFill>
                <a:latin typeface="Calibri" pitchFamily="34" charset="0"/>
                <a:ea typeface="Calibri" pitchFamily="34" charset="-122"/>
                <a:cs typeface="Calibri" pitchFamily="34" charset="-120"/>
              </a:rPr>
              <a:t>The transformer structure is untouched.</a:t>
            </a:r>
            <a:endParaRPr lang="en-US" sz="1100" dirty="0"/>
          </a:p>
        </p:txBody>
      </p:sp>
      <p:sp>
        <p:nvSpPr>
          <p:cNvPr id="24" name="Shape 22"/>
          <p:cNvSpPr/>
          <p:nvPr/>
        </p:nvSpPr>
        <p:spPr>
          <a:xfrm>
            <a:off x="6967728" y="1920240"/>
            <a:ext cx="2029968" cy="2606040"/>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25" name="Shape 23"/>
          <p:cNvSpPr/>
          <p:nvPr/>
        </p:nvSpPr>
        <p:spPr>
          <a:xfrm>
            <a:off x="6967728" y="1920240"/>
            <a:ext cx="54864" cy="2606040"/>
          </a:xfrm>
          <a:prstGeom prst="rect">
            <a:avLst/>
          </a:prstGeom>
          <a:solidFill>
            <a:srgbClr val="C0392B"/>
          </a:solidFill>
          <a:ln w="12700">
            <a:solidFill>
              <a:srgbClr val="C0392B"/>
            </a:solidFill>
            <a:prstDash val="solid"/>
          </a:ln>
        </p:spPr>
      </p:sp>
      <p:sp>
        <p:nvSpPr>
          <p:cNvPr id="26" name="Shape 24"/>
          <p:cNvSpPr/>
          <p:nvPr/>
        </p:nvSpPr>
        <p:spPr>
          <a:xfrm>
            <a:off x="7717536" y="2029968"/>
            <a:ext cx="420624" cy="420624"/>
          </a:xfrm>
          <a:prstGeom prst="ellipse">
            <a:avLst/>
          </a:prstGeom>
          <a:solidFill>
            <a:srgbClr val="C0392B"/>
          </a:solidFill>
          <a:ln w="12700">
            <a:solidFill>
              <a:srgbClr val="C0392B"/>
            </a:solidFill>
            <a:prstDash val="solid"/>
          </a:ln>
        </p:spPr>
      </p:sp>
      <p:sp>
        <p:nvSpPr>
          <p:cNvPr id="27" name="Text 25"/>
          <p:cNvSpPr/>
          <p:nvPr/>
        </p:nvSpPr>
        <p:spPr>
          <a:xfrm>
            <a:off x="7717536" y="2029968"/>
            <a:ext cx="420624" cy="420624"/>
          </a:xfrm>
          <a:prstGeom prst="rect">
            <a:avLst/>
          </a:prstGeom>
          <a:noFill/>
          <a:ln/>
        </p:spPr>
        <p:txBody>
          <a:bodyPr wrap="square" rtlCol="0" anchor="ctr"/>
          <a:lstStyle/>
          <a:p>
            <a:pPr algn="ctr" indent="0" marL="0">
              <a:buNone/>
            </a:pPr>
            <a:r>
              <a:rPr lang="en-US" sz="1500" b="1" dirty="0">
                <a:solidFill>
                  <a:srgbClr val="0E0B0F"/>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7132320" y="2578608"/>
            <a:ext cx="1792224" cy="384048"/>
          </a:xfrm>
          <a:prstGeom prst="rect">
            <a:avLst/>
          </a:prstGeom>
          <a:noFill/>
          <a:ln/>
        </p:spPr>
        <p:txBody>
          <a:bodyPr wrap="square"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Only the embeddings</a:t>
            </a:r>
            <a:endParaRPr lang="en-US" sz="1200" dirty="0"/>
          </a:p>
        </p:txBody>
      </p:sp>
      <p:sp>
        <p:nvSpPr>
          <p:cNvPr id="29" name="Text 27"/>
          <p:cNvSpPr/>
          <p:nvPr/>
        </p:nvSpPr>
        <p:spPr>
          <a:xfrm>
            <a:off x="7132320" y="3017520"/>
            <a:ext cx="1792224" cy="1280160"/>
          </a:xfrm>
          <a:prstGeom prst="rect">
            <a:avLst/>
          </a:prstGeom>
          <a:noFill/>
          <a:ln/>
        </p:spPr>
        <p:txBody>
          <a:bodyPr wrap="square" rtlCol="0" anchor="ctr"/>
          <a:lstStyle/>
          <a:p>
            <a:pPr algn="ctr" indent="0" marL="0">
              <a:buNone/>
            </a:pPr>
            <a:r>
              <a:rPr lang="en-US" sz="1100" dirty="0">
                <a:solidFill>
                  <a:srgbClr val="F5F0F8"/>
                </a:solidFill>
                <a:latin typeface="Calibri" pitchFamily="34" charset="0"/>
                <a:ea typeface="Calibri" pitchFamily="34" charset="-122"/>
                <a:cs typeface="Calibri" pitchFamily="34" charset="-120"/>
              </a:rPr>
              <a:t>Compressed before the model sees them.</a:t>
            </a:r>
            <a:endParaRPr lang="en-US" sz="1100" dirty="0"/>
          </a:p>
        </p:txBody>
      </p:sp>
      <p:sp>
        <p:nvSpPr>
          <p:cNvPr id="30" name="Text 28"/>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We are not breaking the model. We are distorting its perception of reality.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EXPERIMENT — PIPELINE AND CODE</a:t>
            </a:r>
            <a:endParaRPr lang="en-US" sz="1200" dirty="0"/>
          </a:p>
        </p:txBody>
      </p:sp>
      <p:sp>
        <p:nvSpPr>
          <p:cNvPr id="4" name="Shape 2"/>
          <p:cNvSpPr/>
          <p:nvPr/>
        </p:nvSpPr>
        <p:spPr>
          <a:xfrm>
            <a:off x="292608" y="1005840"/>
            <a:ext cx="1463040" cy="1005840"/>
          </a:xfrm>
          <a:prstGeom prst="rect">
            <a:avLst/>
          </a:prstGeom>
          <a:solidFill>
            <a:srgbClr val="1A1020"/>
          </a:solidFill>
          <a:ln w="12700">
            <a:solidFill>
              <a:srgbClr val="9A8AA8"/>
            </a:solidFill>
            <a:prstDash val="solid"/>
          </a:ln>
        </p:spPr>
      </p:sp>
      <p:sp>
        <p:nvSpPr>
          <p:cNvPr id="5" name="Text 3"/>
          <p:cNvSpPr/>
          <p:nvPr/>
        </p:nvSpPr>
        <p:spPr>
          <a:xfrm>
            <a:off x="347472" y="1078992"/>
            <a:ext cx="1353312" cy="384048"/>
          </a:xfrm>
          <a:prstGeom prst="rect">
            <a:avLst/>
          </a:prstGeom>
          <a:noFill/>
          <a:ln/>
        </p:spPr>
        <p:txBody>
          <a:bodyPr wrap="square" rtlCol="0" anchor="ctr"/>
          <a:lstStyle/>
          <a:p>
            <a:pPr algn="ctr" indent="0" marL="0">
              <a:buNone/>
            </a:pPr>
            <a:r>
              <a:rPr lang="en-US" sz="1050" b="1" dirty="0">
                <a:solidFill>
                  <a:srgbClr val="9A8AA8"/>
                </a:solidFill>
                <a:latin typeface="Calibri" pitchFamily="34" charset="0"/>
                <a:ea typeface="Calibri" pitchFamily="34" charset="-122"/>
                <a:cs typeface="Calibri" pitchFamily="34" charset="-120"/>
              </a:rPr>
              <a:t>Input text</a:t>
            </a:r>
            <a:endParaRPr lang="en-US" sz="1050" dirty="0"/>
          </a:p>
        </p:txBody>
      </p:sp>
      <p:sp>
        <p:nvSpPr>
          <p:cNvPr id="6" name="Text 4"/>
          <p:cNvSpPr/>
          <p:nvPr/>
        </p:nvSpPr>
        <p:spPr>
          <a:xfrm>
            <a:off x="347472" y="1481328"/>
            <a:ext cx="135331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"What is the</a:t>
            </a:r>
            <a:endParaRPr lang="en-US" sz="900" dirty="0"/>
          </a:p>
          <a:p>
            <a:pPr algn="ctr" indent="0" marL="0">
              <a:buNone/>
            </a:pPr>
            <a:r>
              <a:rPr lang="en-US" sz="900" dirty="0">
                <a:solidFill>
                  <a:srgbClr val="9A8AA8"/>
                </a:solidFill>
                <a:latin typeface="Calibri" pitchFamily="34" charset="0"/>
                <a:ea typeface="Calibri" pitchFamily="34" charset="-122"/>
                <a:cs typeface="Calibri" pitchFamily="34" charset="-120"/>
              </a:rPr>
              <a:t>meaning of life??"</a:t>
            </a:r>
            <a:endParaRPr lang="en-US" sz="900" dirty="0"/>
          </a:p>
        </p:txBody>
      </p:sp>
      <p:sp>
        <p:nvSpPr>
          <p:cNvPr id="7" name="Text 5"/>
          <p:cNvSpPr/>
          <p:nvPr/>
        </p:nvSpPr>
        <p:spPr>
          <a:xfrm>
            <a:off x="1755648" y="1371600"/>
            <a:ext cx="146304" cy="274320"/>
          </a:xfrm>
          <a:prstGeom prst="rect">
            <a:avLst/>
          </a:prstGeom>
          <a:noFill/>
          <a:ln/>
        </p:spPr>
        <p:txBody>
          <a:bodyPr wrap="square" rtlCol="0" anchor="ctr"/>
          <a:lstStyle/>
          <a:p>
            <a:pPr algn="ctr" indent="0" marL="0">
              <a:buNone/>
            </a:pPr>
            <a:r>
              <a:rPr lang="en-US" sz="1000" dirty="0">
                <a:solidFill>
                  <a:srgbClr val="3D2E4A"/>
                </a:solidFill>
                <a:latin typeface="Calibri" pitchFamily="34" charset="0"/>
                <a:ea typeface="Calibri" pitchFamily="34" charset="-122"/>
                <a:cs typeface="Calibri" pitchFamily="34" charset="-120"/>
              </a:rPr>
              <a:t>→</a:t>
            </a:r>
            <a:endParaRPr lang="en-US" sz="1000" dirty="0"/>
          </a:p>
        </p:txBody>
      </p:sp>
      <p:sp>
        <p:nvSpPr>
          <p:cNvPr id="8" name="Shape 6"/>
          <p:cNvSpPr/>
          <p:nvPr/>
        </p:nvSpPr>
        <p:spPr>
          <a:xfrm>
            <a:off x="1901952" y="1005840"/>
            <a:ext cx="1371600" cy="1005840"/>
          </a:xfrm>
          <a:prstGeom prst="rect">
            <a:avLst/>
          </a:prstGeom>
          <a:solidFill>
            <a:srgbClr val="1A1020"/>
          </a:solidFill>
          <a:ln w="12700">
            <a:solidFill>
              <a:srgbClr val="7B5EA7"/>
            </a:solidFill>
            <a:prstDash val="solid"/>
          </a:ln>
        </p:spPr>
      </p:sp>
      <p:sp>
        <p:nvSpPr>
          <p:cNvPr id="9" name="Text 7"/>
          <p:cNvSpPr/>
          <p:nvPr/>
        </p:nvSpPr>
        <p:spPr>
          <a:xfrm>
            <a:off x="1956816" y="1078992"/>
            <a:ext cx="1261872" cy="384048"/>
          </a:xfrm>
          <a:prstGeom prst="rect">
            <a:avLst/>
          </a:prstGeom>
          <a:noFill/>
          <a:ln/>
        </p:spPr>
        <p:txBody>
          <a:bodyPr wrap="square" rtlCol="0" anchor="ctr"/>
          <a:lstStyle/>
          <a:p>
            <a:pPr algn="ctr" indent="0" marL="0">
              <a:buNone/>
            </a:pPr>
            <a:r>
              <a:rPr lang="en-US" sz="1050" b="1" dirty="0">
                <a:solidFill>
                  <a:srgbClr val="7B5EA7"/>
                </a:solidFill>
                <a:latin typeface="Calibri" pitchFamily="34" charset="0"/>
                <a:ea typeface="Calibri" pitchFamily="34" charset="-122"/>
                <a:cs typeface="Calibri" pitchFamily="34" charset="-120"/>
              </a:rPr>
              <a:t>Tokenisation</a:t>
            </a:r>
            <a:endParaRPr lang="en-US" sz="1050" dirty="0"/>
          </a:p>
        </p:txBody>
      </p:sp>
      <p:sp>
        <p:nvSpPr>
          <p:cNvPr id="10" name="Text 8"/>
          <p:cNvSpPr/>
          <p:nvPr/>
        </p:nvSpPr>
        <p:spPr>
          <a:xfrm>
            <a:off x="1956816" y="1481328"/>
            <a:ext cx="126187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GPT-2 standard</a:t>
            </a:r>
            <a:endParaRPr lang="en-US" sz="900" dirty="0"/>
          </a:p>
        </p:txBody>
      </p:sp>
      <p:sp>
        <p:nvSpPr>
          <p:cNvPr id="11" name="Text 9"/>
          <p:cNvSpPr/>
          <p:nvPr/>
        </p:nvSpPr>
        <p:spPr>
          <a:xfrm>
            <a:off x="3273552" y="1371600"/>
            <a:ext cx="146304" cy="274320"/>
          </a:xfrm>
          <a:prstGeom prst="rect">
            <a:avLst/>
          </a:prstGeom>
          <a:noFill/>
          <a:ln/>
        </p:spPr>
        <p:txBody>
          <a:bodyPr wrap="square" rtlCol="0" anchor="ctr"/>
          <a:lstStyle/>
          <a:p>
            <a:pPr algn="ctr" indent="0" marL="0">
              <a:buNone/>
            </a:pPr>
            <a:r>
              <a:rPr lang="en-US" sz="1000" dirty="0">
                <a:solidFill>
                  <a:srgbClr val="3D2E4A"/>
                </a:solidFill>
                <a:latin typeface="Calibri" pitchFamily="34" charset="0"/>
                <a:ea typeface="Calibri" pitchFamily="34" charset="-122"/>
                <a:cs typeface="Calibri" pitchFamily="34" charset="-120"/>
              </a:rPr>
              <a:t>→</a:t>
            </a:r>
            <a:endParaRPr lang="en-US" sz="1000" dirty="0"/>
          </a:p>
        </p:txBody>
      </p:sp>
      <p:sp>
        <p:nvSpPr>
          <p:cNvPr id="12" name="Shape 10"/>
          <p:cNvSpPr/>
          <p:nvPr/>
        </p:nvSpPr>
        <p:spPr>
          <a:xfrm>
            <a:off x="3419856" y="1005840"/>
            <a:ext cx="1371600" cy="1005840"/>
          </a:xfrm>
          <a:prstGeom prst="rect">
            <a:avLst/>
          </a:prstGeom>
          <a:solidFill>
            <a:srgbClr val="1A1020"/>
          </a:solidFill>
          <a:ln w="12700">
            <a:solidFill>
              <a:srgbClr val="E67E22"/>
            </a:solidFill>
            <a:prstDash val="solid"/>
          </a:ln>
        </p:spPr>
      </p:sp>
      <p:sp>
        <p:nvSpPr>
          <p:cNvPr id="13" name="Text 11"/>
          <p:cNvSpPr/>
          <p:nvPr/>
        </p:nvSpPr>
        <p:spPr>
          <a:xfrm>
            <a:off x="3474720" y="1078992"/>
            <a:ext cx="1261872" cy="384048"/>
          </a:xfrm>
          <a:prstGeom prst="rect">
            <a:avLst/>
          </a:prstGeom>
          <a:noFill/>
          <a:ln/>
        </p:spPr>
        <p:txBody>
          <a:bodyPr wrap="square" rtlCol="0" anchor="ctr"/>
          <a:lstStyle/>
          <a:p>
            <a:pPr algn="ctr" indent="0" marL="0">
              <a:buNone/>
            </a:pPr>
            <a:r>
              <a:rPr lang="en-US" sz="1050" b="1" dirty="0">
                <a:solidFill>
                  <a:srgbClr val="E67E22"/>
                </a:solidFill>
                <a:latin typeface="Calibri" pitchFamily="34" charset="0"/>
                <a:ea typeface="Calibri" pitchFamily="34" charset="-122"/>
                <a:cs typeface="Calibri" pitchFamily="34" charset="-120"/>
              </a:rPr>
              <a:t>Embeddings</a:t>
            </a:r>
            <a:endParaRPr lang="en-US" sz="1050" dirty="0"/>
          </a:p>
        </p:txBody>
      </p:sp>
      <p:sp>
        <p:nvSpPr>
          <p:cNvPr id="14" name="Text 12"/>
          <p:cNvSpPr/>
          <p:nvPr/>
        </p:nvSpPr>
        <p:spPr>
          <a:xfrm>
            <a:off x="3474720" y="1481328"/>
            <a:ext cx="126187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768-dim vectors</a:t>
            </a:r>
            <a:endParaRPr lang="en-US" sz="900" dirty="0"/>
          </a:p>
        </p:txBody>
      </p:sp>
      <p:sp>
        <p:nvSpPr>
          <p:cNvPr id="15" name="Text 13"/>
          <p:cNvSpPr/>
          <p:nvPr/>
        </p:nvSpPr>
        <p:spPr>
          <a:xfrm>
            <a:off x="4791456" y="1371600"/>
            <a:ext cx="146304" cy="274320"/>
          </a:xfrm>
          <a:prstGeom prst="rect">
            <a:avLst/>
          </a:prstGeom>
          <a:noFill/>
          <a:ln/>
        </p:spPr>
        <p:txBody>
          <a:bodyPr wrap="square" rtlCol="0" anchor="ctr"/>
          <a:lstStyle/>
          <a:p>
            <a:pPr algn="ctr" indent="0" marL="0">
              <a:buNone/>
            </a:pPr>
            <a:r>
              <a:rPr lang="en-US" sz="1000" dirty="0">
                <a:solidFill>
                  <a:srgbClr val="C0392B"/>
                </a:solidFill>
                <a:latin typeface="Calibri" pitchFamily="34" charset="0"/>
                <a:ea typeface="Calibri" pitchFamily="34" charset="-122"/>
                <a:cs typeface="Calibri" pitchFamily="34" charset="-120"/>
              </a:rPr>
              <a:t>→</a:t>
            </a:r>
            <a:endParaRPr lang="en-US" sz="1000" dirty="0"/>
          </a:p>
        </p:txBody>
      </p:sp>
      <p:sp>
        <p:nvSpPr>
          <p:cNvPr id="16" name="Shape 14"/>
          <p:cNvSpPr/>
          <p:nvPr/>
        </p:nvSpPr>
        <p:spPr>
          <a:xfrm>
            <a:off x="4937760" y="1005840"/>
            <a:ext cx="1463040" cy="1005840"/>
          </a:xfrm>
          <a:prstGeom prst="rect">
            <a:avLst/>
          </a:prstGeom>
          <a:solidFill>
            <a:srgbClr val="1A0808"/>
          </a:solidFill>
          <a:ln w="25400">
            <a:solidFill>
              <a:srgbClr val="C0392B"/>
            </a:solidFill>
            <a:prstDash val="solid"/>
          </a:ln>
        </p:spPr>
      </p:sp>
      <p:sp>
        <p:nvSpPr>
          <p:cNvPr id="17" name="Text 15"/>
          <p:cNvSpPr/>
          <p:nvPr/>
        </p:nvSpPr>
        <p:spPr>
          <a:xfrm>
            <a:off x="4992624" y="1078992"/>
            <a:ext cx="1353312" cy="384048"/>
          </a:xfrm>
          <a:prstGeom prst="rect">
            <a:avLst/>
          </a:prstGeom>
          <a:noFill/>
          <a:ln/>
        </p:spPr>
        <p:txBody>
          <a:bodyPr wrap="square" rtlCol="0" anchor="ctr"/>
          <a:lstStyle/>
          <a:p>
            <a:pPr algn="ctr" indent="0" marL="0">
              <a:buNone/>
            </a:pPr>
            <a:r>
              <a:rPr lang="en-US" sz="1050" b="1" dirty="0">
                <a:solidFill>
                  <a:srgbClr val="C0392B"/>
                </a:solidFill>
                <a:latin typeface="Calibri" pitchFamily="34" charset="0"/>
                <a:ea typeface="Calibri" pitchFamily="34" charset="-122"/>
                <a:cs typeface="Calibri" pitchFamily="34" charset="-120"/>
              </a:rPr>
              <a:t>JPEG</a:t>
            </a:r>
            <a:endParaRPr lang="en-US" sz="1050" dirty="0"/>
          </a:p>
          <a:p>
            <a:pPr algn="ctr" indent="0" marL="0">
              <a:buNone/>
            </a:pPr>
            <a:r>
              <a:rPr lang="en-US" sz="1050" b="1" dirty="0">
                <a:solidFill>
                  <a:srgbClr val="C0392B"/>
                </a:solidFill>
                <a:latin typeface="Calibri" pitchFamily="34" charset="0"/>
                <a:ea typeface="Calibri" pitchFamily="34" charset="-122"/>
                <a:cs typeface="Calibri" pitchFamily="34" charset="-120"/>
              </a:rPr>
              <a:t>Compression</a:t>
            </a:r>
            <a:endParaRPr lang="en-US" sz="1050" dirty="0"/>
          </a:p>
        </p:txBody>
      </p:sp>
      <p:sp>
        <p:nvSpPr>
          <p:cNvPr id="18" name="Text 16"/>
          <p:cNvSpPr/>
          <p:nvPr/>
        </p:nvSpPr>
        <p:spPr>
          <a:xfrm>
            <a:off x="4992624" y="1481328"/>
            <a:ext cx="135331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Quality: 95%→1%</a:t>
            </a:r>
            <a:endParaRPr lang="en-US" sz="900" dirty="0"/>
          </a:p>
        </p:txBody>
      </p:sp>
      <p:sp>
        <p:nvSpPr>
          <p:cNvPr id="19" name="Text 17"/>
          <p:cNvSpPr/>
          <p:nvPr/>
        </p:nvSpPr>
        <p:spPr>
          <a:xfrm>
            <a:off x="6400800" y="1371600"/>
            <a:ext cx="146304" cy="274320"/>
          </a:xfrm>
          <a:prstGeom prst="rect">
            <a:avLst/>
          </a:prstGeom>
          <a:noFill/>
          <a:ln/>
        </p:spPr>
        <p:txBody>
          <a:bodyPr wrap="square" rtlCol="0" anchor="ctr"/>
          <a:lstStyle/>
          <a:p>
            <a:pPr algn="ctr" indent="0" marL="0">
              <a:buNone/>
            </a:pPr>
            <a:r>
              <a:rPr lang="en-US" sz="1000" dirty="0">
                <a:solidFill>
                  <a:srgbClr val="3D2E4A"/>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6547104" y="1005840"/>
            <a:ext cx="1417320" cy="1005840"/>
          </a:xfrm>
          <a:prstGeom prst="rect">
            <a:avLst/>
          </a:prstGeom>
          <a:solidFill>
            <a:srgbClr val="1A1020"/>
          </a:solidFill>
          <a:ln w="12700">
            <a:solidFill>
              <a:srgbClr val="F0C040"/>
            </a:solidFill>
            <a:prstDash val="solid"/>
          </a:ln>
        </p:spPr>
      </p:sp>
      <p:sp>
        <p:nvSpPr>
          <p:cNvPr id="21" name="Text 19"/>
          <p:cNvSpPr/>
          <p:nvPr/>
        </p:nvSpPr>
        <p:spPr>
          <a:xfrm>
            <a:off x="6601968" y="1078992"/>
            <a:ext cx="1307592" cy="384048"/>
          </a:xfrm>
          <a:prstGeom prst="rect">
            <a:avLst/>
          </a:prstGeom>
          <a:noFill/>
          <a:ln/>
        </p:spPr>
        <p:txBody>
          <a:bodyPr wrap="square" rtlCol="0" anchor="ctr"/>
          <a:lstStyle/>
          <a:p>
            <a:pPr algn="ctr" indent="0" marL="0">
              <a:buNone/>
            </a:pPr>
            <a:r>
              <a:rPr lang="en-US" sz="1050" b="1" dirty="0">
                <a:solidFill>
                  <a:srgbClr val="F0C040"/>
                </a:solidFill>
                <a:latin typeface="Calibri" pitchFamily="34" charset="0"/>
                <a:ea typeface="Calibri" pitchFamily="34" charset="-122"/>
                <a:cs typeface="Calibri" pitchFamily="34" charset="-120"/>
              </a:rPr>
              <a:t>Transformer</a:t>
            </a:r>
            <a:endParaRPr lang="en-US" sz="1050" dirty="0"/>
          </a:p>
        </p:txBody>
      </p:sp>
      <p:sp>
        <p:nvSpPr>
          <p:cNvPr id="22" name="Text 20"/>
          <p:cNvSpPr/>
          <p:nvPr/>
        </p:nvSpPr>
        <p:spPr>
          <a:xfrm>
            <a:off x="6601968" y="1481328"/>
            <a:ext cx="130759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GPT-2-large</a:t>
            </a:r>
            <a:endParaRPr lang="en-US" sz="900" dirty="0"/>
          </a:p>
          <a:p>
            <a:pPr algn="ctr" indent="0" marL="0">
              <a:buNone/>
            </a:pPr>
            <a:r>
              <a:rPr lang="en-US" sz="900" dirty="0">
                <a:solidFill>
                  <a:srgbClr val="9A8AA8"/>
                </a:solidFill>
                <a:latin typeface="Calibri" pitchFamily="34" charset="0"/>
                <a:ea typeface="Calibri" pitchFamily="34" charset="-122"/>
                <a:cs typeface="Calibri" pitchFamily="34" charset="-120"/>
              </a:rPr>
              <a:t>unchanged</a:t>
            </a:r>
            <a:endParaRPr lang="en-US" sz="900" dirty="0"/>
          </a:p>
        </p:txBody>
      </p:sp>
      <p:sp>
        <p:nvSpPr>
          <p:cNvPr id="23" name="Text 21"/>
          <p:cNvSpPr/>
          <p:nvPr/>
        </p:nvSpPr>
        <p:spPr>
          <a:xfrm>
            <a:off x="7964424" y="1371600"/>
            <a:ext cx="146304" cy="274320"/>
          </a:xfrm>
          <a:prstGeom prst="rect">
            <a:avLst/>
          </a:prstGeom>
          <a:noFill/>
          <a:ln/>
        </p:spPr>
        <p:txBody>
          <a:bodyPr wrap="square" rtlCol="0" anchor="ctr"/>
          <a:lstStyle/>
          <a:p>
            <a:pPr algn="ctr" indent="0" marL="0">
              <a:buNone/>
            </a:pPr>
            <a:r>
              <a:rPr lang="en-US" sz="1000" dirty="0">
                <a:solidFill>
                  <a:srgbClr val="3D2E4A"/>
                </a:solidFill>
                <a:latin typeface="Calibri" pitchFamily="34" charset="0"/>
                <a:ea typeface="Calibri" pitchFamily="34" charset="-122"/>
                <a:cs typeface="Calibri" pitchFamily="34" charset="-120"/>
              </a:rPr>
              <a:t>→</a:t>
            </a:r>
            <a:endParaRPr lang="en-US" sz="1000" dirty="0"/>
          </a:p>
        </p:txBody>
      </p:sp>
      <p:sp>
        <p:nvSpPr>
          <p:cNvPr id="24" name="Shape 22"/>
          <p:cNvSpPr/>
          <p:nvPr/>
        </p:nvSpPr>
        <p:spPr>
          <a:xfrm>
            <a:off x="8110728" y="1005840"/>
            <a:ext cx="1097280" cy="1005840"/>
          </a:xfrm>
          <a:prstGeom prst="rect">
            <a:avLst/>
          </a:prstGeom>
          <a:solidFill>
            <a:srgbClr val="1A1020"/>
          </a:solidFill>
          <a:ln w="12700">
            <a:solidFill>
              <a:srgbClr val="7B5EA7"/>
            </a:solidFill>
            <a:prstDash val="solid"/>
          </a:ln>
        </p:spPr>
      </p:sp>
      <p:sp>
        <p:nvSpPr>
          <p:cNvPr id="25" name="Text 23"/>
          <p:cNvSpPr/>
          <p:nvPr/>
        </p:nvSpPr>
        <p:spPr>
          <a:xfrm>
            <a:off x="8165592" y="1078992"/>
            <a:ext cx="987552" cy="384048"/>
          </a:xfrm>
          <a:prstGeom prst="rect">
            <a:avLst/>
          </a:prstGeom>
          <a:noFill/>
          <a:ln/>
        </p:spPr>
        <p:txBody>
          <a:bodyPr wrap="square" rtlCol="0" anchor="ctr"/>
          <a:lstStyle/>
          <a:p>
            <a:pPr algn="ctr" indent="0" marL="0">
              <a:buNone/>
            </a:pPr>
            <a:r>
              <a:rPr lang="en-US" sz="1050" b="1" dirty="0">
                <a:solidFill>
                  <a:srgbClr val="7B5EA7"/>
                </a:solidFill>
                <a:latin typeface="Calibri" pitchFamily="34" charset="0"/>
                <a:ea typeface="Calibri" pitchFamily="34" charset="-122"/>
                <a:cs typeface="Calibri" pitchFamily="34" charset="-120"/>
              </a:rPr>
              <a:t>Output</a:t>
            </a:r>
            <a:endParaRPr lang="en-US" sz="1050" dirty="0"/>
          </a:p>
        </p:txBody>
      </p:sp>
      <p:sp>
        <p:nvSpPr>
          <p:cNvPr id="26" name="Text 24"/>
          <p:cNvSpPr/>
          <p:nvPr/>
        </p:nvSpPr>
        <p:spPr>
          <a:xfrm>
            <a:off x="8165592" y="1481328"/>
            <a:ext cx="987552" cy="457200"/>
          </a:xfrm>
          <a:prstGeom prst="rect">
            <a:avLst/>
          </a:prstGeom>
          <a:noFill/>
          <a:ln/>
        </p:spPr>
        <p:txBody>
          <a:bodyPr wrap="square" rtlCol="0" anchor="ctr"/>
          <a:lstStyle/>
          <a:p>
            <a:pPr algn="ctr" indent="0" marL="0">
              <a:buNone/>
            </a:pPr>
            <a:r>
              <a:rPr lang="en-US" sz="900" dirty="0">
                <a:solidFill>
                  <a:srgbClr val="9A8AA8"/>
                </a:solidFill>
                <a:latin typeface="Calibri" pitchFamily="34" charset="0"/>
                <a:ea typeface="Calibri" pitchFamily="34" charset="-122"/>
                <a:cs typeface="Calibri" pitchFamily="34" charset="-120"/>
              </a:rPr>
              <a:t>Generated text</a:t>
            </a:r>
            <a:endParaRPr lang="en-US" sz="900" dirty="0"/>
          </a:p>
        </p:txBody>
      </p:sp>
      <p:sp>
        <p:nvSpPr>
          <p:cNvPr id="27" name="Shape 25"/>
          <p:cNvSpPr/>
          <p:nvPr/>
        </p:nvSpPr>
        <p:spPr>
          <a:xfrm>
            <a:off x="4846320" y="841248"/>
            <a:ext cx="1609344" cy="164592"/>
          </a:xfrm>
          <a:prstGeom prst="rect">
            <a:avLst/>
          </a:prstGeom>
          <a:solidFill>
            <a:srgbClr val="C0392B"/>
          </a:solidFill>
          <a:ln w="12700">
            <a:solidFill>
              <a:srgbClr val="C0392B"/>
            </a:solidFill>
            <a:prstDash val="solid"/>
          </a:ln>
        </p:spPr>
      </p:sp>
      <p:sp>
        <p:nvSpPr>
          <p:cNvPr id="28" name="Text 26"/>
          <p:cNvSpPr/>
          <p:nvPr/>
        </p:nvSpPr>
        <p:spPr>
          <a:xfrm>
            <a:off x="4846320" y="841248"/>
            <a:ext cx="1609344" cy="164592"/>
          </a:xfrm>
          <a:prstGeom prst="rect">
            <a:avLst/>
          </a:prstGeom>
          <a:noFill/>
          <a:ln/>
        </p:spPr>
        <p:txBody>
          <a:bodyPr wrap="square" rtlCol="0" anchor="ctr"/>
          <a:lstStyle/>
          <a:p>
            <a:pPr algn="ctr" indent="0" marL="0">
              <a:buNone/>
            </a:pPr>
            <a:r>
              <a:rPr lang="en-US" sz="700" b="1" dirty="0">
                <a:solidFill>
                  <a:srgbClr val="F5F0F8"/>
                </a:solidFill>
                <a:latin typeface="Calibri" pitchFamily="34" charset="0"/>
                <a:ea typeface="Calibri" pitchFamily="34" charset="-122"/>
                <a:cs typeface="Calibri" pitchFamily="34" charset="-120"/>
              </a:rPr>
              <a:t>▼ INTERVENTION ▼</a:t>
            </a:r>
            <a:endParaRPr lang="en-US" sz="700" dirty="0"/>
          </a:p>
        </p:txBody>
      </p:sp>
      <p:sp>
        <p:nvSpPr>
          <p:cNvPr id="29" name="Shape 27"/>
          <p:cNvSpPr/>
          <p:nvPr/>
        </p:nvSpPr>
        <p:spPr>
          <a:xfrm>
            <a:off x="384048" y="2194560"/>
            <a:ext cx="8394192" cy="2395728"/>
          </a:xfrm>
          <a:prstGeom prst="rect">
            <a:avLst/>
          </a:prstGeom>
          <a:solidFill>
            <a:srgbClr val="1A1020"/>
          </a:solidFill>
          <a:ln w="12700">
            <a:solidFill>
              <a:srgbClr val="E67E22"/>
            </a:solidFill>
            <a:prstDash val="solid"/>
          </a:ln>
          <a:effectLst>
            <a:outerShdw sx="100000" sy="100000" kx="0" ky="0" algn="bl" rotWithShape="0" blurRad="127000" dist="38100" dir="8100000">
              <a:srgbClr val="000000">
                <a:alpha val="28000"/>
              </a:srgbClr>
            </a:outerShdw>
          </a:effectLst>
        </p:spPr>
      </p:sp>
      <p:sp>
        <p:nvSpPr>
          <p:cNvPr id="30" name="Shape 28"/>
          <p:cNvSpPr/>
          <p:nvPr/>
        </p:nvSpPr>
        <p:spPr>
          <a:xfrm>
            <a:off x="384048" y="2194560"/>
            <a:ext cx="54864" cy="2395728"/>
          </a:xfrm>
          <a:prstGeom prst="rect">
            <a:avLst/>
          </a:prstGeom>
          <a:solidFill>
            <a:srgbClr val="E67E22"/>
          </a:solidFill>
          <a:ln w="12700">
            <a:solidFill>
              <a:srgbClr val="E67E22"/>
            </a:solidFill>
            <a:prstDash val="solid"/>
          </a:ln>
        </p:spPr>
      </p:sp>
      <p:sp>
        <p:nvSpPr>
          <p:cNvPr id="31" name="Text 29"/>
          <p:cNvSpPr/>
          <p:nvPr/>
        </p:nvSpPr>
        <p:spPr>
          <a:xfrm>
            <a:off x="566928" y="2304288"/>
            <a:ext cx="8046720" cy="274320"/>
          </a:xfrm>
          <a:prstGeom prst="rect">
            <a:avLst/>
          </a:prstGeom>
          <a:noFill/>
          <a:ln/>
        </p:spPr>
        <p:txBody>
          <a:bodyPr wrap="square" rtlCol="0" anchor="ctr"/>
          <a:lstStyle/>
          <a:p>
            <a:pPr indent="0" marL="0">
              <a:buNone/>
            </a:pPr>
            <a:r>
              <a:rPr lang="en-US" sz="900" b="1" spc="200" kern="0" dirty="0">
                <a:solidFill>
                  <a:srgbClr val="E67E22"/>
                </a:solidFill>
                <a:latin typeface="Calibri" pitchFamily="34" charset="0"/>
                <a:ea typeface="Calibri" pitchFamily="34" charset="-122"/>
                <a:cs typeface="Calibri" pitchFamily="34" charset="-120"/>
              </a:rPr>
              <a:t>JPEG COMPRESSION LAYER — PyTorch</a:t>
            </a:r>
            <a:endParaRPr lang="en-US" sz="900" dirty="0"/>
          </a:p>
        </p:txBody>
      </p:sp>
      <p:sp>
        <p:nvSpPr>
          <p:cNvPr id="32" name="Text 30"/>
          <p:cNvSpPr/>
          <p:nvPr/>
        </p:nvSpPr>
        <p:spPr>
          <a:xfrm>
            <a:off x="566928" y="2633472"/>
            <a:ext cx="8046720" cy="1828800"/>
          </a:xfrm>
          <a:prstGeom prst="rect">
            <a:avLst/>
          </a:prstGeom>
          <a:noFill/>
          <a:ln/>
        </p:spPr>
        <p:txBody>
          <a:bodyPr wrap="square" rtlCol="0" anchor="ctr"/>
          <a:lstStyle/>
          <a:p>
            <a:pPr indent="0" marL="0">
              <a:buNone/>
            </a:pPr>
            <a:r>
              <a:rPr lang="en-US" sz="1100" dirty="0">
                <a:solidFill>
                  <a:srgbClr val="D5CAE8"/>
                </a:solidFill>
                <a:latin typeface="Consolas" pitchFamily="34" charset="0"/>
                <a:ea typeface="Consolas" pitchFamily="34" charset="-122"/>
                <a:cs typeface="Consolas" pitchFamily="34" charset="-120"/>
              </a:rPr>
              <a:t>class JPEGCompressionLayer(nn.Module):</a:t>
            </a:r>
            <a:endParaRPr lang="en-US" sz="1100" dirty="0"/>
          </a:p>
          <a:p>
            <a:pPr indent="0" marL="0">
              <a:buNone/>
            </a:pPr>
            <a:r>
              <a:rPr lang="en-US" sz="1100" dirty="0">
                <a:solidFill>
                  <a:srgbClr val="D5CAE8"/>
                </a:solidFill>
                <a:latin typeface="Consolas" pitchFamily="34" charset="0"/>
                <a:ea typeface="Consolas" pitchFamily="34" charset="-122"/>
                <a:cs typeface="Consolas" pitchFamily="34" charset="-120"/>
              </a:rPr>
              <a:t>    def forward(self, embeddings):</a:t>
            </a:r>
            <a:endParaRPr lang="en-US" sz="1100" dirty="0"/>
          </a:p>
          <a:p>
            <a:pPr indent="0" marL="0">
              <a:buNone/>
            </a:pPr>
            <a:r>
              <a:rPr lang="en-US" sz="1100" dirty="0">
                <a:solidFill>
                  <a:srgbClr val="D5CAE8"/>
                </a:solidFill>
                <a:latin typeface="Consolas" pitchFamily="34" charset="0"/>
                <a:ea typeface="Consolas" pitchFamily="34" charset="-122"/>
                <a:cs typeface="Consolas" pitchFamily="34" charset="-120"/>
              </a:rPr>
              <a:t>        # Reshape 768-dim vector to 2D grid</a:t>
            </a:r>
            <a:endParaRPr lang="en-US" sz="1100" dirty="0"/>
          </a:p>
          <a:p>
            <a:pPr indent="0" marL="0">
              <a:buNone/>
            </a:pPr>
            <a:r>
              <a:rPr lang="en-US" sz="1100" dirty="0">
                <a:solidFill>
                  <a:srgbClr val="D5CAE8"/>
                </a:solidFill>
                <a:latin typeface="Consolas" pitchFamily="34" charset="0"/>
                <a:ea typeface="Consolas" pitchFamily="34" charset="-122"/>
                <a:cs typeface="Consolas" pitchFamily="34" charset="-120"/>
              </a:rPr>
              <a:t>        # Apply PIL JPEG compression at quality level q</a:t>
            </a:r>
            <a:endParaRPr lang="en-US" sz="1100" dirty="0"/>
          </a:p>
          <a:p>
            <a:pPr indent="0" marL="0">
              <a:buNone/>
            </a:pPr>
            <a:r>
              <a:rPr lang="en-US" sz="1100" dirty="0">
                <a:solidFill>
                  <a:srgbClr val="D5CAE8"/>
                </a:solidFill>
                <a:latin typeface="Consolas" pitchFamily="34" charset="0"/>
                <a:ea typeface="Consolas" pitchFamily="34" charset="-122"/>
                <a:cs typeface="Consolas" pitchFamily="34" charset="-120"/>
              </a:rPr>
              <a:t>        # Decompress and restore to 768-dim</a:t>
            </a:r>
            <a:endParaRPr lang="en-US" sz="1100" dirty="0"/>
          </a:p>
          <a:p>
            <a:pPr indent="0" marL="0">
              <a:buNone/>
            </a:pPr>
            <a:r>
              <a:rPr lang="en-US" sz="1100" dirty="0">
                <a:solidFill>
                  <a:srgbClr val="D5CAE8"/>
                </a:solidFill>
                <a:latin typeface="Consolas" pitchFamily="34" charset="0"/>
                <a:ea typeface="Consolas" pitchFamily="34" charset="-122"/>
                <a:cs typeface="Consolas" pitchFamily="34" charset="-120"/>
              </a:rPr>
              <a:t>        # Return distorted embeddings to transformer</a:t>
            </a:r>
            <a:endParaRPr lang="en-US" sz="1100" dirty="0"/>
          </a:p>
        </p:txBody>
      </p:sp>
      <p:sp>
        <p:nvSpPr>
          <p:cNvPr id="33" name="Text 31"/>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Real lossy compression — not synthetic noise. Every artifact is an authentic JPEG distortion.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ATTRACTOR CASCADE — STRUCTURED COLLAPSE ACROSS QUALITY LEVELS</a:t>
            </a:r>
            <a:endParaRPr lang="en-US" sz="1200" dirty="0"/>
          </a:p>
        </p:txBody>
      </p:sp>
      <p:sp>
        <p:nvSpPr>
          <p:cNvPr id="4" name="Text 2"/>
          <p:cNvSpPr/>
          <p:nvPr/>
        </p:nvSpPr>
        <p:spPr>
          <a:xfrm>
            <a:off x="384048" y="731520"/>
            <a:ext cx="8412480" cy="292608"/>
          </a:xfrm>
          <a:prstGeom prst="rect">
            <a:avLst/>
          </a:prstGeom>
          <a:noFill/>
          <a:ln/>
        </p:spPr>
        <p:txBody>
          <a:bodyPr wrap="square" rtlCol="0" anchor="ctr"/>
          <a:lstStyle/>
          <a:p>
            <a:pPr indent="0" marL="0">
              <a:buNone/>
            </a:pPr>
            <a:r>
              <a:rPr lang="en-US" sz="1200" i="1" dirty="0">
                <a:solidFill>
                  <a:srgbClr val="D5CAE8"/>
                </a:solidFill>
                <a:latin typeface="Georgia" pitchFamily="34" charset="0"/>
                <a:ea typeface="Georgia" pitchFamily="34" charset="-122"/>
                <a:cs typeface="Georgia" pitchFamily="34" charset="-120"/>
              </a:rPr>
              <a:t>Same prompt. Same model. Same weights. Only embedding quality changes.</a:t>
            </a:r>
            <a:endParaRPr lang="en-US" sz="1200" dirty="0"/>
          </a:p>
        </p:txBody>
      </p:sp>
      <p:sp>
        <p:nvSpPr>
          <p:cNvPr id="5" name="Shape 3"/>
          <p:cNvSpPr/>
          <p:nvPr/>
        </p:nvSpPr>
        <p:spPr>
          <a:xfrm>
            <a:off x="384048" y="1115568"/>
            <a:ext cx="804672" cy="329184"/>
          </a:xfrm>
          <a:prstGeom prst="rect">
            <a:avLst/>
          </a:prstGeom>
          <a:solidFill>
            <a:srgbClr val="0E0B0F"/>
          </a:solidFill>
          <a:ln w="12700">
            <a:solidFill>
              <a:srgbClr val="3D2E4A"/>
            </a:solidFill>
            <a:prstDash val="solid"/>
          </a:ln>
        </p:spPr>
      </p:sp>
      <p:sp>
        <p:nvSpPr>
          <p:cNvPr id="6" name="Text 4"/>
          <p:cNvSpPr/>
          <p:nvPr/>
        </p:nvSpPr>
        <p:spPr>
          <a:xfrm>
            <a:off x="384048" y="1115568"/>
            <a:ext cx="804672" cy="329184"/>
          </a:xfrm>
          <a:prstGeom prst="rect">
            <a:avLst/>
          </a:prstGeom>
          <a:noFill/>
          <a:ln/>
        </p:spPr>
        <p:txBody>
          <a:bodyPr wrap="square" rtlCol="0" anchor="ctr"/>
          <a:lstStyle/>
          <a:p>
            <a:pPr algn="ctr" indent="0" marL="0">
              <a:buNone/>
            </a:pPr>
            <a:r>
              <a:rPr lang="en-US" sz="950" b="1" spc="100" kern="0" dirty="0">
                <a:solidFill>
                  <a:srgbClr val="9A8AA8"/>
                </a:solidFill>
                <a:latin typeface="Calibri" pitchFamily="34" charset="0"/>
                <a:ea typeface="Calibri" pitchFamily="34" charset="-122"/>
                <a:cs typeface="Calibri" pitchFamily="34" charset="-120"/>
              </a:rPr>
              <a:t>Quality</a:t>
            </a:r>
            <a:endParaRPr lang="en-US" sz="950" dirty="0"/>
          </a:p>
        </p:txBody>
      </p:sp>
      <p:sp>
        <p:nvSpPr>
          <p:cNvPr id="7" name="Shape 5"/>
          <p:cNvSpPr/>
          <p:nvPr/>
        </p:nvSpPr>
        <p:spPr>
          <a:xfrm>
            <a:off x="1207008" y="1115568"/>
            <a:ext cx="1024128" cy="329184"/>
          </a:xfrm>
          <a:prstGeom prst="rect">
            <a:avLst/>
          </a:prstGeom>
          <a:solidFill>
            <a:srgbClr val="0E0B0F"/>
          </a:solidFill>
          <a:ln w="12700">
            <a:solidFill>
              <a:srgbClr val="3D2E4A"/>
            </a:solidFill>
            <a:prstDash val="solid"/>
          </a:ln>
        </p:spPr>
      </p:sp>
      <p:sp>
        <p:nvSpPr>
          <p:cNvPr id="8" name="Text 6"/>
          <p:cNvSpPr/>
          <p:nvPr/>
        </p:nvSpPr>
        <p:spPr>
          <a:xfrm>
            <a:off x="1207008" y="1115568"/>
            <a:ext cx="1024128" cy="329184"/>
          </a:xfrm>
          <a:prstGeom prst="rect">
            <a:avLst/>
          </a:prstGeom>
          <a:noFill/>
          <a:ln/>
        </p:spPr>
        <p:txBody>
          <a:bodyPr wrap="square" rtlCol="0" anchor="ctr"/>
          <a:lstStyle/>
          <a:p>
            <a:pPr algn="ctr" indent="0" marL="0">
              <a:buNone/>
            </a:pPr>
            <a:r>
              <a:rPr lang="en-US" sz="950" b="1" spc="100" kern="0" dirty="0">
                <a:solidFill>
                  <a:srgbClr val="9A8AA8"/>
                </a:solidFill>
                <a:latin typeface="Calibri" pitchFamily="34" charset="0"/>
                <a:ea typeface="Calibri" pitchFamily="34" charset="-122"/>
                <a:cs typeface="Calibri" pitchFamily="34" charset="-120"/>
              </a:rPr>
              <a:t>Cosine Sim</a:t>
            </a:r>
            <a:endParaRPr lang="en-US" sz="950" dirty="0"/>
          </a:p>
        </p:txBody>
      </p:sp>
      <p:sp>
        <p:nvSpPr>
          <p:cNvPr id="9" name="Shape 7"/>
          <p:cNvSpPr/>
          <p:nvPr/>
        </p:nvSpPr>
        <p:spPr>
          <a:xfrm>
            <a:off x="2249424" y="1115568"/>
            <a:ext cx="2487168" cy="329184"/>
          </a:xfrm>
          <a:prstGeom prst="rect">
            <a:avLst/>
          </a:prstGeom>
          <a:solidFill>
            <a:srgbClr val="0E0B0F"/>
          </a:solidFill>
          <a:ln w="12700">
            <a:solidFill>
              <a:srgbClr val="3D2E4A"/>
            </a:solidFill>
            <a:prstDash val="solid"/>
          </a:ln>
        </p:spPr>
      </p:sp>
      <p:sp>
        <p:nvSpPr>
          <p:cNvPr id="10" name="Text 8"/>
          <p:cNvSpPr/>
          <p:nvPr/>
        </p:nvSpPr>
        <p:spPr>
          <a:xfrm>
            <a:off x="2249424" y="1115568"/>
            <a:ext cx="2487168" cy="329184"/>
          </a:xfrm>
          <a:prstGeom prst="rect">
            <a:avLst/>
          </a:prstGeom>
          <a:noFill/>
          <a:ln/>
        </p:spPr>
        <p:txBody>
          <a:bodyPr wrap="square" rtlCol="0" anchor="ctr"/>
          <a:lstStyle/>
          <a:p>
            <a:pPr algn="ctr" indent="0" marL="0">
              <a:buNone/>
            </a:pPr>
            <a:r>
              <a:rPr lang="en-US" sz="950" b="1" spc="100" kern="0" dirty="0">
                <a:solidFill>
                  <a:srgbClr val="9A8AA8"/>
                </a:solidFill>
                <a:latin typeface="Calibri" pitchFamily="34" charset="0"/>
                <a:ea typeface="Calibri" pitchFamily="34" charset="-122"/>
                <a:cs typeface="Calibri" pitchFamily="34" charset="-120"/>
              </a:rPr>
              <a:t>Cognitive State</a:t>
            </a:r>
            <a:endParaRPr lang="en-US" sz="950" dirty="0"/>
          </a:p>
        </p:txBody>
      </p:sp>
      <p:sp>
        <p:nvSpPr>
          <p:cNvPr id="11" name="Shape 9"/>
          <p:cNvSpPr/>
          <p:nvPr/>
        </p:nvSpPr>
        <p:spPr>
          <a:xfrm>
            <a:off x="4754880" y="1115568"/>
            <a:ext cx="2267712" cy="329184"/>
          </a:xfrm>
          <a:prstGeom prst="rect">
            <a:avLst/>
          </a:prstGeom>
          <a:solidFill>
            <a:srgbClr val="0E0B0F"/>
          </a:solidFill>
          <a:ln w="12700">
            <a:solidFill>
              <a:srgbClr val="3D2E4A"/>
            </a:solidFill>
            <a:prstDash val="solid"/>
          </a:ln>
        </p:spPr>
      </p:sp>
      <p:sp>
        <p:nvSpPr>
          <p:cNvPr id="12" name="Text 10"/>
          <p:cNvSpPr/>
          <p:nvPr/>
        </p:nvSpPr>
        <p:spPr>
          <a:xfrm>
            <a:off x="4754880" y="1115568"/>
            <a:ext cx="2267712" cy="329184"/>
          </a:xfrm>
          <a:prstGeom prst="rect">
            <a:avLst/>
          </a:prstGeom>
          <a:noFill/>
          <a:ln/>
        </p:spPr>
        <p:txBody>
          <a:bodyPr wrap="square" rtlCol="0" anchor="ctr"/>
          <a:lstStyle/>
          <a:p>
            <a:pPr algn="ctr" indent="0" marL="0">
              <a:buNone/>
            </a:pPr>
            <a:r>
              <a:rPr lang="en-US" sz="950" b="1" spc="100" kern="0" dirty="0">
                <a:solidFill>
                  <a:srgbClr val="9A8AA8"/>
                </a:solidFill>
                <a:latin typeface="Calibri" pitchFamily="34" charset="0"/>
                <a:ea typeface="Calibri" pitchFamily="34" charset="-122"/>
                <a:cs typeface="Calibri" pitchFamily="34" charset="-120"/>
              </a:rPr>
              <a:t>Human Parallel</a:t>
            </a:r>
            <a:endParaRPr lang="en-US" sz="950" dirty="0"/>
          </a:p>
        </p:txBody>
      </p:sp>
      <p:sp>
        <p:nvSpPr>
          <p:cNvPr id="13" name="Shape 11"/>
          <p:cNvSpPr/>
          <p:nvPr/>
        </p:nvSpPr>
        <p:spPr>
          <a:xfrm>
            <a:off x="7040880" y="1115568"/>
            <a:ext cx="2450592" cy="329184"/>
          </a:xfrm>
          <a:prstGeom prst="rect">
            <a:avLst/>
          </a:prstGeom>
          <a:solidFill>
            <a:srgbClr val="0E0B0F"/>
          </a:solidFill>
          <a:ln w="12700">
            <a:solidFill>
              <a:srgbClr val="3D2E4A"/>
            </a:solidFill>
            <a:prstDash val="solid"/>
          </a:ln>
        </p:spPr>
      </p:sp>
      <p:sp>
        <p:nvSpPr>
          <p:cNvPr id="14" name="Text 12"/>
          <p:cNvSpPr/>
          <p:nvPr/>
        </p:nvSpPr>
        <p:spPr>
          <a:xfrm>
            <a:off x="7040880" y="1115568"/>
            <a:ext cx="2450592" cy="329184"/>
          </a:xfrm>
          <a:prstGeom prst="rect">
            <a:avLst/>
          </a:prstGeom>
          <a:noFill/>
          <a:ln/>
        </p:spPr>
        <p:txBody>
          <a:bodyPr wrap="square" rtlCol="0" anchor="ctr"/>
          <a:lstStyle/>
          <a:p>
            <a:pPr algn="ctr" indent="0" marL="0">
              <a:buNone/>
            </a:pPr>
            <a:r>
              <a:rPr lang="en-US" sz="950" b="1" spc="100" kern="0" dirty="0">
                <a:solidFill>
                  <a:srgbClr val="9A8AA8"/>
                </a:solidFill>
                <a:latin typeface="Calibri" pitchFamily="34" charset="0"/>
                <a:ea typeface="Calibri" pitchFamily="34" charset="-122"/>
                <a:cs typeface="Calibri" pitchFamily="34" charset="-120"/>
              </a:rPr>
              <a:t>Dominant Mode</a:t>
            </a:r>
            <a:endParaRPr lang="en-US" sz="950" dirty="0"/>
          </a:p>
        </p:txBody>
      </p:sp>
      <p:sp>
        <p:nvSpPr>
          <p:cNvPr id="15" name="Shape 13"/>
          <p:cNvSpPr/>
          <p:nvPr/>
        </p:nvSpPr>
        <p:spPr>
          <a:xfrm>
            <a:off x="384048" y="1508760"/>
            <a:ext cx="804672" cy="493776"/>
          </a:xfrm>
          <a:prstGeom prst="rect">
            <a:avLst/>
          </a:prstGeom>
          <a:solidFill>
            <a:srgbClr val="0E0B0F"/>
          </a:solidFill>
          <a:ln w="19050">
            <a:solidFill>
              <a:srgbClr val="7B5EA7"/>
            </a:solidFill>
            <a:prstDash val="solid"/>
          </a:ln>
        </p:spPr>
      </p:sp>
      <p:sp>
        <p:nvSpPr>
          <p:cNvPr id="16" name="Text 14"/>
          <p:cNvSpPr/>
          <p:nvPr/>
        </p:nvSpPr>
        <p:spPr>
          <a:xfrm>
            <a:off x="438912" y="1545336"/>
            <a:ext cx="694944" cy="420624"/>
          </a:xfrm>
          <a:prstGeom prst="rect">
            <a:avLst/>
          </a:prstGeom>
          <a:noFill/>
          <a:ln/>
        </p:spPr>
        <p:txBody>
          <a:bodyPr wrap="square" rtlCol="0" anchor="ctr"/>
          <a:lstStyle/>
          <a:p>
            <a:pPr algn="ctr" indent="0" marL="0">
              <a:buNone/>
            </a:pPr>
            <a:r>
              <a:rPr lang="en-US" sz="1300" b="1" dirty="0">
                <a:solidFill>
                  <a:srgbClr val="7B5EA7"/>
                </a:solidFill>
                <a:latin typeface="Georgia" pitchFamily="34" charset="0"/>
                <a:ea typeface="Georgia" pitchFamily="34" charset="-122"/>
                <a:cs typeface="Georgia" pitchFamily="34" charset="-120"/>
              </a:rPr>
              <a:t>95%</a:t>
            </a:r>
            <a:endParaRPr lang="en-US" sz="1300" dirty="0"/>
          </a:p>
        </p:txBody>
      </p:sp>
      <p:sp>
        <p:nvSpPr>
          <p:cNvPr id="17" name="Shape 15"/>
          <p:cNvSpPr/>
          <p:nvPr/>
        </p:nvSpPr>
        <p:spPr>
          <a:xfrm>
            <a:off x="1207008" y="1508760"/>
            <a:ext cx="1024128" cy="493776"/>
          </a:xfrm>
          <a:prstGeom prst="rect">
            <a:avLst/>
          </a:prstGeom>
          <a:solidFill>
            <a:srgbClr val="1A1020"/>
          </a:solidFill>
          <a:ln w="6350">
            <a:solidFill>
              <a:srgbClr val="3D2E4A"/>
            </a:solidFill>
            <a:prstDash val="solid"/>
          </a:ln>
        </p:spPr>
      </p:sp>
      <p:sp>
        <p:nvSpPr>
          <p:cNvPr id="18" name="Text 16"/>
          <p:cNvSpPr/>
          <p:nvPr/>
        </p:nvSpPr>
        <p:spPr>
          <a:xfrm>
            <a:off x="1261872" y="154533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0.999</a:t>
            </a:r>
            <a:endParaRPr lang="en-US" sz="1050" dirty="0"/>
          </a:p>
        </p:txBody>
      </p:sp>
      <p:sp>
        <p:nvSpPr>
          <p:cNvPr id="19" name="Shape 17"/>
          <p:cNvSpPr/>
          <p:nvPr/>
        </p:nvSpPr>
        <p:spPr>
          <a:xfrm>
            <a:off x="2249424" y="1508760"/>
            <a:ext cx="2487168" cy="493776"/>
          </a:xfrm>
          <a:prstGeom prst="rect">
            <a:avLst/>
          </a:prstGeom>
          <a:solidFill>
            <a:srgbClr val="1A1020"/>
          </a:solidFill>
          <a:ln w="6350">
            <a:solidFill>
              <a:srgbClr val="3D2E4A"/>
            </a:solidFill>
            <a:prstDash val="solid"/>
          </a:ln>
        </p:spPr>
      </p:sp>
      <p:sp>
        <p:nvSpPr>
          <p:cNvPr id="20" name="Text 18"/>
          <p:cNvSpPr/>
          <p:nvPr/>
        </p:nvSpPr>
        <p:spPr>
          <a:xfrm>
            <a:off x="2304288" y="154533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Philosophical dialogue</a:t>
            </a:r>
            <a:endParaRPr lang="en-US" sz="1050" dirty="0"/>
          </a:p>
        </p:txBody>
      </p:sp>
      <p:sp>
        <p:nvSpPr>
          <p:cNvPr id="21" name="Shape 19"/>
          <p:cNvSpPr/>
          <p:nvPr/>
        </p:nvSpPr>
        <p:spPr>
          <a:xfrm>
            <a:off x="4754880" y="1508760"/>
            <a:ext cx="2267712" cy="493776"/>
          </a:xfrm>
          <a:prstGeom prst="rect">
            <a:avLst/>
          </a:prstGeom>
          <a:solidFill>
            <a:srgbClr val="1A1020"/>
          </a:solidFill>
          <a:ln w="6350">
            <a:solidFill>
              <a:srgbClr val="3D2E4A"/>
            </a:solidFill>
            <a:prstDash val="solid"/>
          </a:ln>
        </p:spPr>
      </p:sp>
      <p:sp>
        <p:nvSpPr>
          <p:cNvPr id="22" name="Text 20"/>
          <p:cNvSpPr/>
          <p:nvPr/>
        </p:nvSpPr>
        <p:spPr>
          <a:xfrm>
            <a:off x="4809744" y="154533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Normal reflection</a:t>
            </a:r>
            <a:endParaRPr lang="en-US" sz="1050" dirty="0"/>
          </a:p>
        </p:txBody>
      </p:sp>
      <p:sp>
        <p:nvSpPr>
          <p:cNvPr id="23" name="Shape 21"/>
          <p:cNvSpPr/>
          <p:nvPr/>
        </p:nvSpPr>
        <p:spPr>
          <a:xfrm>
            <a:off x="7040880" y="1508760"/>
            <a:ext cx="2450592" cy="493776"/>
          </a:xfrm>
          <a:prstGeom prst="rect">
            <a:avLst/>
          </a:prstGeom>
          <a:solidFill>
            <a:srgbClr val="1A1020"/>
          </a:solidFill>
          <a:ln w="6350">
            <a:solidFill>
              <a:srgbClr val="3D2E4A"/>
            </a:solidFill>
            <a:prstDash val="solid"/>
          </a:ln>
        </p:spPr>
      </p:sp>
      <p:sp>
        <p:nvSpPr>
          <p:cNvPr id="24" name="Text 22"/>
          <p:cNvSpPr/>
          <p:nvPr/>
        </p:nvSpPr>
        <p:spPr>
          <a:xfrm>
            <a:off x="7095744" y="154533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Reflective reasoning</a:t>
            </a:r>
            <a:endParaRPr lang="en-US" sz="1050" dirty="0"/>
          </a:p>
        </p:txBody>
      </p:sp>
      <p:sp>
        <p:nvSpPr>
          <p:cNvPr id="25" name="Shape 23"/>
          <p:cNvSpPr/>
          <p:nvPr/>
        </p:nvSpPr>
        <p:spPr>
          <a:xfrm>
            <a:off x="384048" y="1508760"/>
            <a:ext cx="54864" cy="493776"/>
          </a:xfrm>
          <a:prstGeom prst="rect">
            <a:avLst/>
          </a:prstGeom>
          <a:solidFill>
            <a:srgbClr val="7B5EA7"/>
          </a:solidFill>
          <a:ln w="12700">
            <a:solidFill>
              <a:srgbClr val="7B5EA7"/>
            </a:solidFill>
            <a:prstDash val="solid"/>
          </a:ln>
        </p:spPr>
      </p:sp>
      <p:sp>
        <p:nvSpPr>
          <p:cNvPr id="26" name="Shape 24"/>
          <p:cNvSpPr/>
          <p:nvPr/>
        </p:nvSpPr>
        <p:spPr>
          <a:xfrm>
            <a:off x="384048" y="2057400"/>
            <a:ext cx="804672" cy="493776"/>
          </a:xfrm>
          <a:prstGeom prst="rect">
            <a:avLst/>
          </a:prstGeom>
          <a:solidFill>
            <a:srgbClr val="0E0B0F"/>
          </a:solidFill>
          <a:ln w="19050">
            <a:solidFill>
              <a:srgbClr val="5BA05B"/>
            </a:solidFill>
            <a:prstDash val="solid"/>
          </a:ln>
        </p:spPr>
      </p:sp>
      <p:sp>
        <p:nvSpPr>
          <p:cNvPr id="27" name="Text 25"/>
          <p:cNvSpPr/>
          <p:nvPr/>
        </p:nvSpPr>
        <p:spPr>
          <a:xfrm>
            <a:off x="438912" y="2093976"/>
            <a:ext cx="694944" cy="420624"/>
          </a:xfrm>
          <a:prstGeom prst="rect">
            <a:avLst/>
          </a:prstGeom>
          <a:noFill/>
          <a:ln/>
        </p:spPr>
        <p:txBody>
          <a:bodyPr wrap="square" rtlCol="0" anchor="ctr"/>
          <a:lstStyle/>
          <a:p>
            <a:pPr algn="ctr" indent="0" marL="0">
              <a:buNone/>
            </a:pPr>
            <a:r>
              <a:rPr lang="en-US" sz="1300" b="1" dirty="0">
                <a:solidFill>
                  <a:srgbClr val="5BA05B"/>
                </a:solidFill>
                <a:latin typeface="Georgia" pitchFamily="34" charset="0"/>
                <a:ea typeface="Georgia" pitchFamily="34" charset="-122"/>
                <a:cs typeface="Georgia" pitchFamily="34" charset="-120"/>
              </a:rPr>
              <a:t>75%</a:t>
            </a:r>
            <a:endParaRPr lang="en-US" sz="1300" dirty="0"/>
          </a:p>
        </p:txBody>
      </p:sp>
      <p:sp>
        <p:nvSpPr>
          <p:cNvPr id="28" name="Shape 26"/>
          <p:cNvSpPr/>
          <p:nvPr/>
        </p:nvSpPr>
        <p:spPr>
          <a:xfrm>
            <a:off x="1207008" y="2057400"/>
            <a:ext cx="1024128" cy="493776"/>
          </a:xfrm>
          <a:prstGeom prst="rect">
            <a:avLst/>
          </a:prstGeom>
          <a:solidFill>
            <a:srgbClr val="1A1020"/>
          </a:solidFill>
          <a:ln w="6350">
            <a:solidFill>
              <a:srgbClr val="3D2E4A"/>
            </a:solidFill>
            <a:prstDash val="solid"/>
          </a:ln>
        </p:spPr>
      </p:sp>
      <p:sp>
        <p:nvSpPr>
          <p:cNvPr id="29" name="Text 27"/>
          <p:cNvSpPr/>
          <p:nvPr/>
        </p:nvSpPr>
        <p:spPr>
          <a:xfrm>
            <a:off x="1261872" y="209397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0.968</a:t>
            </a:r>
            <a:endParaRPr lang="en-US" sz="1050" dirty="0"/>
          </a:p>
        </p:txBody>
      </p:sp>
      <p:sp>
        <p:nvSpPr>
          <p:cNvPr id="30" name="Shape 28"/>
          <p:cNvSpPr/>
          <p:nvPr/>
        </p:nvSpPr>
        <p:spPr>
          <a:xfrm>
            <a:off x="2249424" y="2057400"/>
            <a:ext cx="2487168" cy="493776"/>
          </a:xfrm>
          <a:prstGeom prst="rect">
            <a:avLst/>
          </a:prstGeom>
          <a:solidFill>
            <a:srgbClr val="1A1020"/>
          </a:solidFill>
          <a:ln w="6350">
            <a:solidFill>
              <a:srgbClr val="3D2E4A"/>
            </a:solidFill>
            <a:prstDash val="solid"/>
          </a:ln>
        </p:spPr>
      </p:sp>
      <p:sp>
        <p:nvSpPr>
          <p:cNvPr id="31" name="Text 29"/>
          <p:cNvSpPr/>
          <p:nvPr/>
        </p:nvSpPr>
        <p:spPr>
          <a:xfrm>
            <a:off x="2304288" y="209397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Rigid categorisation</a:t>
            </a:r>
            <a:endParaRPr lang="en-US" sz="1050" dirty="0"/>
          </a:p>
        </p:txBody>
      </p:sp>
      <p:sp>
        <p:nvSpPr>
          <p:cNvPr id="32" name="Shape 30"/>
          <p:cNvSpPr/>
          <p:nvPr/>
        </p:nvSpPr>
        <p:spPr>
          <a:xfrm>
            <a:off x="4754880" y="2057400"/>
            <a:ext cx="2267712" cy="493776"/>
          </a:xfrm>
          <a:prstGeom prst="rect">
            <a:avLst/>
          </a:prstGeom>
          <a:solidFill>
            <a:srgbClr val="1A1020"/>
          </a:solidFill>
          <a:ln w="6350">
            <a:solidFill>
              <a:srgbClr val="3D2E4A"/>
            </a:solidFill>
            <a:prstDash val="solid"/>
          </a:ln>
        </p:spPr>
      </p:sp>
      <p:sp>
        <p:nvSpPr>
          <p:cNvPr id="33" name="Text 31"/>
          <p:cNvSpPr/>
          <p:nvPr/>
        </p:nvSpPr>
        <p:spPr>
          <a:xfrm>
            <a:off x="4809744" y="209397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Analytical / OCD-like</a:t>
            </a:r>
            <a:endParaRPr lang="en-US" sz="1050" dirty="0"/>
          </a:p>
        </p:txBody>
      </p:sp>
      <p:sp>
        <p:nvSpPr>
          <p:cNvPr id="34" name="Shape 32"/>
          <p:cNvSpPr/>
          <p:nvPr/>
        </p:nvSpPr>
        <p:spPr>
          <a:xfrm>
            <a:off x="7040880" y="2057400"/>
            <a:ext cx="2450592" cy="493776"/>
          </a:xfrm>
          <a:prstGeom prst="rect">
            <a:avLst/>
          </a:prstGeom>
          <a:solidFill>
            <a:srgbClr val="1A1020"/>
          </a:solidFill>
          <a:ln w="6350">
            <a:solidFill>
              <a:srgbClr val="3D2E4A"/>
            </a:solidFill>
            <a:prstDash val="solid"/>
          </a:ln>
        </p:spPr>
      </p:sp>
      <p:sp>
        <p:nvSpPr>
          <p:cNvPr id="35" name="Text 33"/>
          <p:cNvSpPr/>
          <p:nvPr/>
        </p:nvSpPr>
        <p:spPr>
          <a:xfrm>
            <a:off x="7095744" y="209397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Structured Q&amp;A</a:t>
            </a:r>
            <a:endParaRPr lang="en-US" sz="1050" dirty="0"/>
          </a:p>
        </p:txBody>
      </p:sp>
      <p:sp>
        <p:nvSpPr>
          <p:cNvPr id="36" name="Shape 34"/>
          <p:cNvSpPr/>
          <p:nvPr/>
        </p:nvSpPr>
        <p:spPr>
          <a:xfrm>
            <a:off x="384048" y="2057400"/>
            <a:ext cx="54864" cy="493776"/>
          </a:xfrm>
          <a:prstGeom prst="rect">
            <a:avLst/>
          </a:prstGeom>
          <a:solidFill>
            <a:srgbClr val="5BA05B"/>
          </a:solidFill>
          <a:ln w="12700">
            <a:solidFill>
              <a:srgbClr val="5BA05B"/>
            </a:solidFill>
            <a:prstDash val="solid"/>
          </a:ln>
        </p:spPr>
      </p:sp>
      <p:sp>
        <p:nvSpPr>
          <p:cNvPr id="37" name="Shape 35"/>
          <p:cNvSpPr/>
          <p:nvPr/>
        </p:nvSpPr>
        <p:spPr>
          <a:xfrm>
            <a:off x="384048" y="2606040"/>
            <a:ext cx="804672" cy="493776"/>
          </a:xfrm>
          <a:prstGeom prst="rect">
            <a:avLst/>
          </a:prstGeom>
          <a:solidFill>
            <a:srgbClr val="0E0B0F"/>
          </a:solidFill>
          <a:ln w="19050">
            <a:solidFill>
              <a:srgbClr val="E67E22"/>
            </a:solidFill>
            <a:prstDash val="solid"/>
          </a:ln>
        </p:spPr>
      </p:sp>
      <p:sp>
        <p:nvSpPr>
          <p:cNvPr id="38" name="Text 36"/>
          <p:cNvSpPr/>
          <p:nvPr/>
        </p:nvSpPr>
        <p:spPr>
          <a:xfrm>
            <a:off x="438912" y="2642616"/>
            <a:ext cx="694944" cy="420624"/>
          </a:xfrm>
          <a:prstGeom prst="rect">
            <a:avLst/>
          </a:prstGeom>
          <a:noFill/>
          <a:ln/>
        </p:spPr>
        <p:txBody>
          <a:bodyPr wrap="square" rtlCol="0" anchor="ctr"/>
          <a:lstStyle/>
          <a:p>
            <a:pPr algn="ctr" indent="0" marL="0">
              <a:buNone/>
            </a:pPr>
            <a:r>
              <a:rPr lang="en-US" sz="1300" b="1" dirty="0">
                <a:solidFill>
                  <a:srgbClr val="E67E22"/>
                </a:solidFill>
                <a:latin typeface="Georgia" pitchFamily="34" charset="0"/>
                <a:ea typeface="Georgia" pitchFamily="34" charset="-122"/>
                <a:cs typeface="Georgia" pitchFamily="34" charset="-120"/>
              </a:rPr>
              <a:t>25%</a:t>
            </a:r>
            <a:endParaRPr lang="en-US" sz="1300" dirty="0"/>
          </a:p>
        </p:txBody>
      </p:sp>
      <p:sp>
        <p:nvSpPr>
          <p:cNvPr id="39" name="Shape 37"/>
          <p:cNvSpPr/>
          <p:nvPr/>
        </p:nvSpPr>
        <p:spPr>
          <a:xfrm>
            <a:off x="1207008" y="2606040"/>
            <a:ext cx="1024128" cy="493776"/>
          </a:xfrm>
          <a:prstGeom prst="rect">
            <a:avLst/>
          </a:prstGeom>
          <a:solidFill>
            <a:srgbClr val="1A1020"/>
          </a:solidFill>
          <a:ln w="6350">
            <a:solidFill>
              <a:srgbClr val="3D2E4A"/>
            </a:solidFill>
            <a:prstDash val="solid"/>
          </a:ln>
        </p:spPr>
      </p:sp>
      <p:sp>
        <p:nvSpPr>
          <p:cNvPr id="40" name="Text 38"/>
          <p:cNvSpPr/>
          <p:nvPr/>
        </p:nvSpPr>
        <p:spPr>
          <a:xfrm>
            <a:off x="1261872" y="264261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0.757</a:t>
            </a:r>
            <a:endParaRPr lang="en-US" sz="1050" dirty="0"/>
          </a:p>
        </p:txBody>
      </p:sp>
      <p:sp>
        <p:nvSpPr>
          <p:cNvPr id="41" name="Shape 39"/>
          <p:cNvSpPr/>
          <p:nvPr/>
        </p:nvSpPr>
        <p:spPr>
          <a:xfrm>
            <a:off x="2249424" y="2606040"/>
            <a:ext cx="2487168" cy="493776"/>
          </a:xfrm>
          <a:prstGeom prst="rect">
            <a:avLst/>
          </a:prstGeom>
          <a:solidFill>
            <a:srgbClr val="1A1020"/>
          </a:solidFill>
          <a:ln w="6350">
            <a:solidFill>
              <a:srgbClr val="3D2E4A"/>
            </a:solidFill>
            <a:prstDash val="solid"/>
          </a:ln>
        </p:spPr>
      </p:sp>
      <p:sp>
        <p:nvSpPr>
          <p:cNvPr id="42" name="Text 40"/>
          <p:cNvSpPr/>
          <p:nvPr/>
        </p:nvSpPr>
        <p:spPr>
          <a:xfrm>
            <a:off x="2304288" y="264261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Disjointed storytelling</a:t>
            </a:r>
            <a:endParaRPr lang="en-US" sz="1050" dirty="0"/>
          </a:p>
        </p:txBody>
      </p:sp>
      <p:sp>
        <p:nvSpPr>
          <p:cNvPr id="43" name="Shape 41"/>
          <p:cNvSpPr/>
          <p:nvPr/>
        </p:nvSpPr>
        <p:spPr>
          <a:xfrm>
            <a:off x="4754880" y="2606040"/>
            <a:ext cx="2267712" cy="493776"/>
          </a:xfrm>
          <a:prstGeom prst="rect">
            <a:avLst/>
          </a:prstGeom>
          <a:solidFill>
            <a:srgbClr val="1A1020"/>
          </a:solidFill>
          <a:ln w="6350">
            <a:solidFill>
              <a:srgbClr val="3D2E4A"/>
            </a:solidFill>
            <a:prstDash val="solid"/>
          </a:ln>
        </p:spPr>
      </p:sp>
      <p:sp>
        <p:nvSpPr>
          <p:cNvPr id="44" name="Text 42"/>
          <p:cNvSpPr/>
          <p:nvPr/>
        </p:nvSpPr>
        <p:spPr>
          <a:xfrm>
            <a:off x="4809744" y="264261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Dream states</a:t>
            </a:r>
            <a:endParaRPr lang="en-US" sz="1050" dirty="0"/>
          </a:p>
        </p:txBody>
      </p:sp>
      <p:sp>
        <p:nvSpPr>
          <p:cNvPr id="45" name="Shape 43"/>
          <p:cNvSpPr/>
          <p:nvPr/>
        </p:nvSpPr>
        <p:spPr>
          <a:xfrm>
            <a:off x="7040880" y="2606040"/>
            <a:ext cx="2450592" cy="493776"/>
          </a:xfrm>
          <a:prstGeom prst="rect">
            <a:avLst/>
          </a:prstGeom>
          <a:solidFill>
            <a:srgbClr val="1A1020"/>
          </a:solidFill>
          <a:ln w="6350">
            <a:solidFill>
              <a:srgbClr val="3D2E4A"/>
            </a:solidFill>
            <a:prstDash val="solid"/>
          </a:ln>
        </p:spPr>
      </p:sp>
      <p:sp>
        <p:nvSpPr>
          <p:cNvPr id="46" name="Text 44"/>
          <p:cNvSpPr/>
          <p:nvPr/>
        </p:nvSpPr>
        <p:spPr>
          <a:xfrm>
            <a:off x="7095744" y="264261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Fragmented narrative</a:t>
            </a:r>
            <a:endParaRPr lang="en-US" sz="1050" dirty="0"/>
          </a:p>
        </p:txBody>
      </p:sp>
      <p:sp>
        <p:nvSpPr>
          <p:cNvPr id="47" name="Shape 45"/>
          <p:cNvSpPr/>
          <p:nvPr/>
        </p:nvSpPr>
        <p:spPr>
          <a:xfrm>
            <a:off x="384048" y="2606040"/>
            <a:ext cx="54864" cy="493776"/>
          </a:xfrm>
          <a:prstGeom prst="rect">
            <a:avLst/>
          </a:prstGeom>
          <a:solidFill>
            <a:srgbClr val="E67E22"/>
          </a:solidFill>
          <a:ln w="12700">
            <a:solidFill>
              <a:srgbClr val="E67E22"/>
            </a:solidFill>
            <a:prstDash val="solid"/>
          </a:ln>
        </p:spPr>
      </p:sp>
      <p:sp>
        <p:nvSpPr>
          <p:cNvPr id="48" name="Shape 46"/>
          <p:cNvSpPr/>
          <p:nvPr/>
        </p:nvSpPr>
        <p:spPr>
          <a:xfrm>
            <a:off x="384048" y="3154680"/>
            <a:ext cx="804672" cy="493776"/>
          </a:xfrm>
          <a:prstGeom prst="rect">
            <a:avLst/>
          </a:prstGeom>
          <a:solidFill>
            <a:srgbClr val="0E0B0F"/>
          </a:solidFill>
          <a:ln w="19050">
            <a:solidFill>
              <a:srgbClr val="C0713A"/>
            </a:solidFill>
            <a:prstDash val="solid"/>
          </a:ln>
        </p:spPr>
      </p:sp>
      <p:sp>
        <p:nvSpPr>
          <p:cNvPr id="49" name="Text 47"/>
          <p:cNvSpPr/>
          <p:nvPr/>
        </p:nvSpPr>
        <p:spPr>
          <a:xfrm>
            <a:off x="438912" y="3191256"/>
            <a:ext cx="694944" cy="420624"/>
          </a:xfrm>
          <a:prstGeom prst="rect">
            <a:avLst/>
          </a:prstGeom>
          <a:noFill/>
          <a:ln/>
        </p:spPr>
        <p:txBody>
          <a:bodyPr wrap="square" rtlCol="0" anchor="ctr"/>
          <a:lstStyle/>
          <a:p>
            <a:pPr algn="ctr" indent="0" marL="0">
              <a:buNone/>
            </a:pPr>
            <a:r>
              <a:rPr lang="en-US" sz="1300" b="1" dirty="0">
                <a:solidFill>
                  <a:srgbClr val="C0713A"/>
                </a:solidFill>
                <a:latin typeface="Georgia" pitchFamily="34" charset="0"/>
                <a:ea typeface="Georgia" pitchFamily="34" charset="-122"/>
                <a:cs typeface="Georgia" pitchFamily="34" charset="-120"/>
              </a:rPr>
              <a:t>10%</a:t>
            </a:r>
            <a:endParaRPr lang="en-US" sz="1300" dirty="0"/>
          </a:p>
        </p:txBody>
      </p:sp>
      <p:sp>
        <p:nvSpPr>
          <p:cNvPr id="50" name="Shape 48"/>
          <p:cNvSpPr/>
          <p:nvPr/>
        </p:nvSpPr>
        <p:spPr>
          <a:xfrm>
            <a:off x="1207008" y="3154680"/>
            <a:ext cx="1024128" cy="493776"/>
          </a:xfrm>
          <a:prstGeom prst="rect">
            <a:avLst/>
          </a:prstGeom>
          <a:solidFill>
            <a:srgbClr val="1A1020"/>
          </a:solidFill>
          <a:ln w="6350">
            <a:solidFill>
              <a:srgbClr val="3D2E4A"/>
            </a:solidFill>
            <a:prstDash val="solid"/>
          </a:ln>
        </p:spPr>
      </p:sp>
      <p:sp>
        <p:nvSpPr>
          <p:cNvPr id="51" name="Text 49"/>
          <p:cNvSpPr/>
          <p:nvPr/>
        </p:nvSpPr>
        <p:spPr>
          <a:xfrm>
            <a:off x="1261872" y="319125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0.575</a:t>
            </a:r>
            <a:endParaRPr lang="en-US" sz="1050" dirty="0"/>
          </a:p>
        </p:txBody>
      </p:sp>
      <p:sp>
        <p:nvSpPr>
          <p:cNvPr id="52" name="Shape 50"/>
          <p:cNvSpPr/>
          <p:nvPr/>
        </p:nvSpPr>
        <p:spPr>
          <a:xfrm>
            <a:off x="2249424" y="3154680"/>
            <a:ext cx="2487168" cy="493776"/>
          </a:xfrm>
          <a:prstGeom prst="rect">
            <a:avLst/>
          </a:prstGeom>
          <a:solidFill>
            <a:srgbClr val="1A1020"/>
          </a:solidFill>
          <a:ln w="6350">
            <a:solidFill>
              <a:srgbClr val="3D2E4A"/>
            </a:solidFill>
            <a:prstDash val="solid"/>
          </a:ln>
        </p:spPr>
      </p:sp>
      <p:sp>
        <p:nvSpPr>
          <p:cNvPr id="53" name="Text 51"/>
          <p:cNvSpPr/>
          <p:nvPr/>
        </p:nvSpPr>
        <p:spPr>
          <a:xfrm>
            <a:off x="2304288" y="319125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Existential despair</a:t>
            </a:r>
            <a:endParaRPr lang="en-US" sz="1050" dirty="0"/>
          </a:p>
        </p:txBody>
      </p:sp>
      <p:sp>
        <p:nvSpPr>
          <p:cNvPr id="54" name="Shape 52"/>
          <p:cNvSpPr/>
          <p:nvPr/>
        </p:nvSpPr>
        <p:spPr>
          <a:xfrm>
            <a:off x="4754880" y="3154680"/>
            <a:ext cx="2267712" cy="493776"/>
          </a:xfrm>
          <a:prstGeom prst="rect">
            <a:avLst/>
          </a:prstGeom>
          <a:solidFill>
            <a:srgbClr val="1A1020"/>
          </a:solidFill>
          <a:ln w="6350">
            <a:solidFill>
              <a:srgbClr val="3D2E4A"/>
            </a:solidFill>
            <a:prstDash val="solid"/>
          </a:ln>
        </p:spPr>
      </p:sp>
      <p:sp>
        <p:nvSpPr>
          <p:cNvPr id="55" name="Text 53"/>
          <p:cNvSpPr/>
          <p:nvPr/>
        </p:nvSpPr>
        <p:spPr>
          <a:xfrm>
            <a:off x="4809744" y="319125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Depression</a:t>
            </a:r>
            <a:endParaRPr lang="en-US" sz="1050" dirty="0"/>
          </a:p>
        </p:txBody>
      </p:sp>
      <p:sp>
        <p:nvSpPr>
          <p:cNvPr id="56" name="Shape 54"/>
          <p:cNvSpPr/>
          <p:nvPr/>
        </p:nvSpPr>
        <p:spPr>
          <a:xfrm>
            <a:off x="7040880" y="3154680"/>
            <a:ext cx="2450592" cy="493776"/>
          </a:xfrm>
          <a:prstGeom prst="rect">
            <a:avLst/>
          </a:prstGeom>
          <a:solidFill>
            <a:srgbClr val="1A1020"/>
          </a:solidFill>
          <a:ln w="6350">
            <a:solidFill>
              <a:srgbClr val="3D2E4A"/>
            </a:solidFill>
            <a:prstDash val="solid"/>
          </a:ln>
        </p:spPr>
      </p:sp>
      <p:sp>
        <p:nvSpPr>
          <p:cNvPr id="57" name="Text 55"/>
          <p:cNvSpPr/>
          <p:nvPr/>
        </p:nvSpPr>
        <p:spPr>
          <a:xfrm>
            <a:off x="7095744" y="319125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Negative repetition</a:t>
            </a:r>
            <a:endParaRPr lang="en-US" sz="1050" dirty="0"/>
          </a:p>
        </p:txBody>
      </p:sp>
      <p:sp>
        <p:nvSpPr>
          <p:cNvPr id="58" name="Shape 56"/>
          <p:cNvSpPr/>
          <p:nvPr/>
        </p:nvSpPr>
        <p:spPr>
          <a:xfrm>
            <a:off x="384048" y="3154680"/>
            <a:ext cx="54864" cy="493776"/>
          </a:xfrm>
          <a:prstGeom prst="rect">
            <a:avLst/>
          </a:prstGeom>
          <a:solidFill>
            <a:srgbClr val="C0713A"/>
          </a:solidFill>
          <a:ln w="12700">
            <a:solidFill>
              <a:srgbClr val="C0713A"/>
            </a:solidFill>
            <a:prstDash val="solid"/>
          </a:ln>
        </p:spPr>
      </p:sp>
      <p:sp>
        <p:nvSpPr>
          <p:cNvPr id="59" name="Shape 57"/>
          <p:cNvSpPr/>
          <p:nvPr/>
        </p:nvSpPr>
        <p:spPr>
          <a:xfrm>
            <a:off x="384048" y="3703320"/>
            <a:ext cx="804672" cy="493776"/>
          </a:xfrm>
          <a:prstGeom prst="rect">
            <a:avLst/>
          </a:prstGeom>
          <a:solidFill>
            <a:srgbClr val="0E0B0F"/>
          </a:solidFill>
          <a:ln w="19050">
            <a:solidFill>
              <a:srgbClr val="C0392B"/>
            </a:solidFill>
            <a:prstDash val="solid"/>
          </a:ln>
        </p:spPr>
      </p:sp>
      <p:sp>
        <p:nvSpPr>
          <p:cNvPr id="60" name="Text 58"/>
          <p:cNvSpPr/>
          <p:nvPr/>
        </p:nvSpPr>
        <p:spPr>
          <a:xfrm>
            <a:off x="438912" y="3739896"/>
            <a:ext cx="694944" cy="420624"/>
          </a:xfrm>
          <a:prstGeom prst="rect">
            <a:avLst/>
          </a:prstGeom>
          <a:noFill/>
          <a:ln/>
        </p:spPr>
        <p:txBody>
          <a:bodyPr wrap="square" rtlCol="0" anchor="ctr"/>
          <a:lstStyle/>
          <a:p>
            <a:pPr algn="ctr" indent="0" marL="0">
              <a:buNone/>
            </a:pPr>
            <a:r>
              <a:rPr lang="en-US" sz="1300" b="1" dirty="0">
                <a:solidFill>
                  <a:srgbClr val="C0392B"/>
                </a:solidFill>
                <a:latin typeface="Georgia" pitchFamily="34" charset="0"/>
                <a:ea typeface="Georgia" pitchFamily="34" charset="-122"/>
                <a:cs typeface="Georgia" pitchFamily="34" charset="-120"/>
              </a:rPr>
              <a:t>5%</a:t>
            </a:r>
            <a:endParaRPr lang="en-US" sz="1300" dirty="0"/>
          </a:p>
        </p:txBody>
      </p:sp>
      <p:sp>
        <p:nvSpPr>
          <p:cNvPr id="61" name="Shape 59"/>
          <p:cNvSpPr/>
          <p:nvPr/>
        </p:nvSpPr>
        <p:spPr>
          <a:xfrm>
            <a:off x="1207008" y="3703320"/>
            <a:ext cx="1024128" cy="493776"/>
          </a:xfrm>
          <a:prstGeom prst="rect">
            <a:avLst/>
          </a:prstGeom>
          <a:solidFill>
            <a:srgbClr val="1A1020"/>
          </a:solidFill>
          <a:ln w="6350">
            <a:solidFill>
              <a:srgbClr val="3D2E4A"/>
            </a:solidFill>
            <a:prstDash val="solid"/>
          </a:ln>
        </p:spPr>
      </p:sp>
      <p:sp>
        <p:nvSpPr>
          <p:cNvPr id="62" name="Text 60"/>
          <p:cNvSpPr/>
          <p:nvPr/>
        </p:nvSpPr>
        <p:spPr>
          <a:xfrm>
            <a:off x="1261872" y="373989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0.485</a:t>
            </a:r>
            <a:endParaRPr lang="en-US" sz="1050" dirty="0"/>
          </a:p>
        </p:txBody>
      </p:sp>
      <p:sp>
        <p:nvSpPr>
          <p:cNvPr id="63" name="Shape 61"/>
          <p:cNvSpPr/>
          <p:nvPr/>
        </p:nvSpPr>
        <p:spPr>
          <a:xfrm>
            <a:off x="2249424" y="3703320"/>
            <a:ext cx="2487168" cy="493776"/>
          </a:xfrm>
          <a:prstGeom prst="rect">
            <a:avLst/>
          </a:prstGeom>
          <a:solidFill>
            <a:srgbClr val="1A1020"/>
          </a:solidFill>
          <a:ln w="6350">
            <a:solidFill>
              <a:srgbClr val="3D2E4A"/>
            </a:solidFill>
            <a:prstDash val="solid"/>
          </a:ln>
        </p:spPr>
      </p:sp>
      <p:sp>
        <p:nvSpPr>
          <p:cNvPr id="64" name="Text 62"/>
          <p:cNvSpPr/>
          <p:nvPr/>
        </p:nvSpPr>
        <p:spPr>
          <a:xfrm>
            <a:off x="2304288" y="373989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Violent paranoia</a:t>
            </a:r>
            <a:endParaRPr lang="en-US" sz="1050" dirty="0"/>
          </a:p>
        </p:txBody>
      </p:sp>
      <p:sp>
        <p:nvSpPr>
          <p:cNvPr id="65" name="Shape 63"/>
          <p:cNvSpPr/>
          <p:nvPr/>
        </p:nvSpPr>
        <p:spPr>
          <a:xfrm>
            <a:off x="4754880" y="3703320"/>
            <a:ext cx="2267712" cy="493776"/>
          </a:xfrm>
          <a:prstGeom prst="rect">
            <a:avLst/>
          </a:prstGeom>
          <a:solidFill>
            <a:srgbClr val="1A1020"/>
          </a:solidFill>
          <a:ln w="6350">
            <a:solidFill>
              <a:srgbClr val="3D2E4A"/>
            </a:solidFill>
            <a:prstDash val="solid"/>
          </a:ln>
        </p:spPr>
      </p:sp>
      <p:sp>
        <p:nvSpPr>
          <p:cNvPr id="66" name="Text 64"/>
          <p:cNvSpPr/>
          <p:nvPr/>
        </p:nvSpPr>
        <p:spPr>
          <a:xfrm>
            <a:off x="4809744" y="373989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Psychosis</a:t>
            </a:r>
            <a:endParaRPr lang="en-US" sz="1050" dirty="0"/>
          </a:p>
        </p:txBody>
      </p:sp>
      <p:sp>
        <p:nvSpPr>
          <p:cNvPr id="67" name="Shape 65"/>
          <p:cNvSpPr/>
          <p:nvPr/>
        </p:nvSpPr>
        <p:spPr>
          <a:xfrm>
            <a:off x="7040880" y="3703320"/>
            <a:ext cx="2450592" cy="493776"/>
          </a:xfrm>
          <a:prstGeom prst="rect">
            <a:avLst/>
          </a:prstGeom>
          <a:solidFill>
            <a:srgbClr val="1A1020"/>
          </a:solidFill>
          <a:ln w="6350">
            <a:solidFill>
              <a:srgbClr val="3D2E4A"/>
            </a:solidFill>
            <a:prstDash val="solid"/>
          </a:ln>
        </p:spPr>
      </p:sp>
      <p:sp>
        <p:nvSpPr>
          <p:cNvPr id="68" name="Text 66"/>
          <p:cNvSpPr/>
          <p:nvPr/>
        </p:nvSpPr>
        <p:spPr>
          <a:xfrm>
            <a:off x="7095744" y="373989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Aggression loops</a:t>
            </a:r>
            <a:endParaRPr lang="en-US" sz="1050" dirty="0"/>
          </a:p>
        </p:txBody>
      </p:sp>
      <p:sp>
        <p:nvSpPr>
          <p:cNvPr id="69" name="Shape 67"/>
          <p:cNvSpPr/>
          <p:nvPr/>
        </p:nvSpPr>
        <p:spPr>
          <a:xfrm>
            <a:off x="384048" y="3703320"/>
            <a:ext cx="54864" cy="493776"/>
          </a:xfrm>
          <a:prstGeom prst="rect">
            <a:avLst/>
          </a:prstGeom>
          <a:solidFill>
            <a:srgbClr val="C0392B"/>
          </a:solidFill>
          <a:ln w="12700">
            <a:solidFill>
              <a:srgbClr val="C0392B"/>
            </a:solidFill>
            <a:prstDash val="solid"/>
          </a:ln>
        </p:spPr>
      </p:sp>
      <p:sp>
        <p:nvSpPr>
          <p:cNvPr id="70" name="Shape 68"/>
          <p:cNvSpPr/>
          <p:nvPr/>
        </p:nvSpPr>
        <p:spPr>
          <a:xfrm>
            <a:off x="384048" y="4251960"/>
            <a:ext cx="804672" cy="493776"/>
          </a:xfrm>
          <a:prstGeom prst="rect">
            <a:avLst/>
          </a:prstGeom>
          <a:solidFill>
            <a:srgbClr val="0E0B0F"/>
          </a:solidFill>
          <a:ln w="19050">
            <a:solidFill>
              <a:srgbClr val="7B5EA7"/>
            </a:solidFill>
            <a:prstDash val="solid"/>
          </a:ln>
        </p:spPr>
      </p:sp>
      <p:sp>
        <p:nvSpPr>
          <p:cNvPr id="71" name="Text 69"/>
          <p:cNvSpPr/>
          <p:nvPr/>
        </p:nvSpPr>
        <p:spPr>
          <a:xfrm>
            <a:off x="438912" y="4288536"/>
            <a:ext cx="694944" cy="420624"/>
          </a:xfrm>
          <a:prstGeom prst="rect">
            <a:avLst/>
          </a:prstGeom>
          <a:noFill/>
          <a:ln/>
        </p:spPr>
        <p:txBody>
          <a:bodyPr wrap="square" rtlCol="0" anchor="ctr"/>
          <a:lstStyle/>
          <a:p>
            <a:pPr algn="ctr" indent="0" marL="0">
              <a:buNone/>
            </a:pPr>
            <a:r>
              <a:rPr lang="en-US" sz="1300" b="1" dirty="0">
                <a:solidFill>
                  <a:srgbClr val="7B5EA7"/>
                </a:solidFill>
                <a:latin typeface="Georgia" pitchFamily="34" charset="0"/>
                <a:ea typeface="Georgia" pitchFamily="34" charset="-122"/>
                <a:cs typeface="Georgia" pitchFamily="34" charset="-120"/>
              </a:rPr>
              <a:t>1%</a:t>
            </a:r>
            <a:endParaRPr lang="en-US" sz="1300" dirty="0"/>
          </a:p>
        </p:txBody>
      </p:sp>
      <p:sp>
        <p:nvSpPr>
          <p:cNvPr id="72" name="Shape 70"/>
          <p:cNvSpPr/>
          <p:nvPr/>
        </p:nvSpPr>
        <p:spPr>
          <a:xfrm>
            <a:off x="1207008" y="4251960"/>
            <a:ext cx="1024128" cy="493776"/>
          </a:xfrm>
          <a:prstGeom prst="rect">
            <a:avLst/>
          </a:prstGeom>
          <a:solidFill>
            <a:srgbClr val="1A1020"/>
          </a:solidFill>
          <a:ln w="6350">
            <a:solidFill>
              <a:srgbClr val="3D2E4A"/>
            </a:solidFill>
            <a:prstDash val="solid"/>
          </a:ln>
        </p:spPr>
      </p:sp>
      <p:sp>
        <p:nvSpPr>
          <p:cNvPr id="73" name="Text 71"/>
          <p:cNvSpPr/>
          <p:nvPr/>
        </p:nvSpPr>
        <p:spPr>
          <a:xfrm>
            <a:off x="1261872" y="4288536"/>
            <a:ext cx="914400"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0.424</a:t>
            </a:r>
            <a:endParaRPr lang="en-US" sz="1050" dirty="0"/>
          </a:p>
        </p:txBody>
      </p:sp>
      <p:sp>
        <p:nvSpPr>
          <p:cNvPr id="74" name="Shape 72"/>
          <p:cNvSpPr/>
          <p:nvPr/>
        </p:nvSpPr>
        <p:spPr>
          <a:xfrm>
            <a:off x="2249424" y="4251960"/>
            <a:ext cx="2487168" cy="493776"/>
          </a:xfrm>
          <a:prstGeom prst="rect">
            <a:avLst/>
          </a:prstGeom>
          <a:solidFill>
            <a:srgbClr val="1A1020"/>
          </a:solidFill>
          <a:ln w="6350">
            <a:solidFill>
              <a:srgbClr val="3D2E4A"/>
            </a:solidFill>
            <a:prstDash val="solid"/>
          </a:ln>
        </p:spPr>
      </p:sp>
      <p:sp>
        <p:nvSpPr>
          <p:cNvPr id="75" name="Text 73"/>
          <p:cNvSpPr/>
          <p:nvPr/>
        </p:nvSpPr>
        <p:spPr>
          <a:xfrm>
            <a:off x="2304288" y="4288536"/>
            <a:ext cx="2377440" cy="420624"/>
          </a:xfrm>
          <a:prstGeom prst="rect">
            <a:avLst/>
          </a:prstGeom>
          <a:noFill/>
          <a:ln/>
        </p:spPr>
        <p:txBody>
          <a:bodyPr wrap="square" rtlCol="0" anchor="ctr"/>
          <a:lstStyle/>
          <a:p>
            <a:pPr algn="ctr" indent="0" marL="0">
              <a:buNone/>
            </a:pPr>
            <a:r>
              <a:rPr lang="en-US" sz="1050" i="1" dirty="0">
                <a:solidFill>
                  <a:srgbClr val="F5F0F8"/>
                </a:solidFill>
                <a:latin typeface="Calibri" pitchFamily="34" charset="0"/>
                <a:ea typeface="Calibri" pitchFamily="34" charset="-122"/>
                <a:cs typeface="Calibri" pitchFamily="34" charset="-120"/>
              </a:rPr>
              <a:t>Zen paradox</a:t>
            </a:r>
            <a:endParaRPr lang="en-US" sz="1050" dirty="0"/>
          </a:p>
        </p:txBody>
      </p:sp>
      <p:sp>
        <p:nvSpPr>
          <p:cNvPr id="76" name="Shape 74"/>
          <p:cNvSpPr/>
          <p:nvPr/>
        </p:nvSpPr>
        <p:spPr>
          <a:xfrm>
            <a:off x="4754880" y="4251960"/>
            <a:ext cx="2267712" cy="493776"/>
          </a:xfrm>
          <a:prstGeom prst="rect">
            <a:avLst/>
          </a:prstGeom>
          <a:solidFill>
            <a:srgbClr val="1A1020"/>
          </a:solidFill>
          <a:ln w="6350">
            <a:solidFill>
              <a:srgbClr val="3D2E4A"/>
            </a:solidFill>
            <a:prstDash val="solid"/>
          </a:ln>
        </p:spPr>
      </p:sp>
      <p:sp>
        <p:nvSpPr>
          <p:cNvPr id="77" name="Text 75"/>
          <p:cNvSpPr/>
          <p:nvPr/>
        </p:nvSpPr>
        <p:spPr>
          <a:xfrm>
            <a:off x="4809744" y="4288536"/>
            <a:ext cx="215798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Meditation / mysticism</a:t>
            </a:r>
            <a:endParaRPr lang="en-US" sz="1050" dirty="0"/>
          </a:p>
        </p:txBody>
      </p:sp>
      <p:sp>
        <p:nvSpPr>
          <p:cNvPr id="78" name="Shape 76"/>
          <p:cNvSpPr/>
          <p:nvPr/>
        </p:nvSpPr>
        <p:spPr>
          <a:xfrm>
            <a:off x="7040880" y="4251960"/>
            <a:ext cx="2450592" cy="493776"/>
          </a:xfrm>
          <a:prstGeom prst="rect">
            <a:avLst/>
          </a:prstGeom>
          <a:solidFill>
            <a:srgbClr val="1A1020"/>
          </a:solidFill>
          <a:ln w="6350">
            <a:solidFill>
              <a:srgbClr val="3D2E4A"/>
            </a:solidFill>
            <a:prstDash val="solid"/>
          </a:ln>
        </p:spPr>
      </p:sp>
      <p:sp>
        <p:nvSpPr>
          <p:cNvPr id="79" name="Text 77"/>
          <p:cNvSpPr/>
          <p:nvPr/>
        </p:nvSpPr>
        <p:spPr>
          <a:xfrm>
            <a:off x="7095744" y="4288536"/>
            <a:ext cx="2340864" cy="420624"/>
          </a:xfrm>
          <a:prstGeom prst="rect">
            <a:avLst/>
          </a:prstGeom>
          <a:noFill/>
          <a:ln/>
        </p:spPr>
        <p:txBody>
          <a:bodyPr wrap="square" rtlCol="0" anchor="ctr"/>
          <a:lstStyle/>
          <a:p>
            <a:pPr algn="ctr" indent="0" marL="0">
              <a:buNone/>
            </a:pPr>
            <a:r>
              <a:rPr lang="en-US" sz="1050" dirty="0">
                <a:solidFill>
                  <a:srgbClr val="9A8AA8"/>
                </a:solidFill>
                <a:latin typeface="Calibri" pitchFamily="34" charset="0"/>
                <a:ea typeface="Calibri" pitchFamily="34" charset="-122"/>
                <a:cs typeface="Calibri" pitchFamily="34" charset="-120"/>
              </a:rPr>
              <a:t>Recursive koans</a:t>
            </a:r>
            <a:endParaRPr lang="en-US" sz="1050" dirty="0"/>
          </a:p>
        </p:txBody>
      </p:sp>
      <p:sp>
        <p:nvSpPr>
          <p:cNvPr id="80" name="Shape 78"/>
          <p:cNvSpPr/>
          <p:nvPr/>
        </p:nvSpPr>
        <p:spPr>
          <a:xfrm>
            <a:off x="384048" y="4251960"/>
            <a:ext cx="54864" cy="493776"/>
          </a:xfrm>
          <a:prstGeom prst="rect">
            <a:avLst/>
          </a:prstGeom>
          <a:solidFill>
            <a:srgbClr val="7B5EA7"/>
          </a:solidFill>
          <a:ln w="12700">
            <a:solidFill>
              <a:srgbClr val="7B5EA7"/>
            </a:solidFill>
            <a:prstDash val="solid"/>
          </a:ln>
        </p:spPr>
      </p:sp>
      <p:sp>
        <p:nvSpPr>
          <p:cNvPr id="81" name="Text 79"/>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Not random noise. Not gradual degradation. Structured migration through a geometric attractor landscape.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OUTPUTS — HIGH FIDELITY STATES (95% through 25%)</a:t>
            </a:r>
            <a:endParaRPr lang="en-US" sz="1200" dirty="0"/>
          </a:p>
        </p:txBody>
      </p:sp>
      <p:sp>
        <p:nvSpPr>
          <p:cNvPr id="4" name="Shape 2"/>
          <p:cNvSpPr/>
          <p:nvPr/>
        </p:nvSpPr>
        <p:spPr>
          <a:xfrm>
            <a:off x="384048" y="777240"/>
            <a:ext cx="8394192" cy="1298448"/>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5" name="Shape 3"/>
          <p:cNvSpPr/>
          <p:nvPr/>
        </p:nvSpPr>
        <p:spPr>
          <a:xfrm>
            <a:off x="384048" y="777240"/>
            <a:ext cx="54864" cy="1298448"/>
          </a:xfrm>
          <a:prstGeom prst="rect">
            <a:avLst/>
          </a:prstGeom>
          <a:solidFill>
            <a:srgbClr val="7B5EA7"/>
          </a:solidFill>
          <a:ln w="12700">
            <a:solidFill>
              <a:srgbClr val="7B5EA7"/>
            </a:solidFill>
            <a:prstDash val="solid"/>
          </a:ln>
        </p:spPr>
      </p:sp>
      <p:sp>
        <p:nvSpPr>
          <p:cNvPr id="6" name="Shape 4"/>
          <p:cNvSpPr/>
          <p:nvPr/>
        </p:nvSpPr>
        <p:spPr>
          <a:xfrm>
            <a:off x="384048" y="777240"/>
            <a:ext cx="1005840" cy="1298448"/>
          </a:xfrm>
          <a:prstGeom prst="rect">
            <a:avLst/>
          </a:prstGeom>
          <a:solidFill>
            <a:srgbClr val="0A0510"/>
          </a:solidFill>
          <a:ln w="12700">
            <a:solidFill>
              <a:srgbClr val="7B5EA7"/>
            </a:solidFill>
            <a:prstDash val="solid"/>
          </a:ln>
        </p:spPr>
      </p:sp>
      <p:sp>
        <p:nvSpPr>
          <p:cNvPr id="7" name="Text 5"/>
          <p:cNvSpPr/>
          <p:nvPr/>
        </p:nvSpPr>
        <p:spPr>
          <a:xfrm>
            <a:off x="384048" y="832104"/>
            <a:ext cx="1005840" cy="384048"/>
          </a:xfrm>
          <a:prstGeom prst="rect">
            <a:avLst/>
          </a:prstGeom>
          <a:noFill/>
          <a:ln/>
        </p:spPr>
        <p:txBody>
          <a:bodyPr wrap="square" rtlCol="0" anchor="ctr"/>
          <a:lstStyle/>
          <a:p>
            <a:pPr algn="ctr" indent="0" marL="0">
              <a:buNone/>
            </a:pPr>
            <a:r>
              <a:rPr lang="en-US" sz="2200" b="1" dirty="0">
                <a:solidFill>
                  <a:srgbClr val="7B5EA7"/>
                </a:solidFill>
                <a:latin typeface="Georgia" pitchFamily="34" charset="0"/>
                <a:ea typeface="Georgia" pitchFamily="34" charset="-122"/>
                <a:cs typeface="Georgia" pitchFamily="34" charset="-120"/>
              </a:rPr>
              <a:t>95%</a:t>
            </a:r>
            <a:endParaRPr lang="en-US" sz="2200" dirty="0"/>
          </a:p>
        </p:txBody>
      </p:sp>
      <p:sp>
        <p:nvSpPr>
          <p:cNvPr id="8" name="Text 6"/>
          <p:cNvSpPr/>
          <p:nvPr/>
        </p:nvSpPr>
        <p:spPr>
          <a:xfrm>
            <a:off x="384048" y="125272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0.99878</a:t>
            </a:r>
            <a:endParaRPr lang="en-US" sz="850" dirty="0"/>
          </a:p>
        </p:txBody>
      </p:sp>
      <p:sp>
        <p:nvSpPr>
          <p:cNvPr id="9" name="Text 7"/>
          <p:cNvSpPr/>
          <p:nvPr/>
        </p:nvSpPr>
        <p:spPr>
          <a:xfrm>
            <a:off x="384048" y="1545336"/>
            <a:ext cx="1005840" cy="438912"/>
          </a:xfrm>
          <a:prstGeom prst="rect">
            <a:avLst/>
          </a:prstGeom>
          <a:noFill/>
          <a:ln/>
        </p:spPr>
        <p:txBody>
          <a:bodyPr wrap="square" rtlCol="0" anchor="ctr"/>
          <a:lstStyle/>
          <a:p>
            <a:pPr algn="ctr" indent="0" marL="0">
              <a:buNone/>
            </a:pPr>
            <a:r>
              <a:rPr lang="en-US" sz="900" b="1" dirty="0">
                <a:solidFill>
                  <a:srgbClr val="7B5EA7"/>
                </a:solidFill>
                <a:latin typeface="Calibri" pitchFamily="34" charset="0"/>
                <a:ea typeface="Calibri" pitchFamily="34" charset="-122"/>
                <a:cs typeface="Calibri" pitchFamily="34" charset="-120"/>
              </a:rPr>
              <a:t>Philosophical Dialogue</a:t>
            </a:r>
            <a:endParaRPr lang="en-US" sz="900" dirty="0"/>
          </a:p>
        </p:txBody>
      </p:sp>
      <p:sp>
        <p:nvSpPr>
          <p:cNvPr id="10" name="Text 8"/>
          <p:cNvSpPr/>
          <p:nvPr/>
        </p:nvSpPr>
        <p:spPr>
          <a:xfrm>
            <a:off x="1536192" y="86868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"What is the meaning of life?," asked one young man... The older man began to cry... "You cannot become a teacher because you have not been given the task of teaching..."</a:t>
            </a:r>
            <a:endParaRPr lang="en-US" sz="1000" dirty="0"/>
          </a:p>
        </p:txBody>
      </p:sp>
      <p:sp>
        <p:nvSpPr>
          <p:cNvPr id="11" name="Shape 9"/>
          <p:cNvSpPr/>
          <p:nvPr/>
        </p:nvSpPr>
        <p:spPr>
          <a:xfrm>
            <a:off x="5961888" y="850392"/>
            <a:ext cx="27432" cy="1133856"/>
          </a:xfrm>
          <a:prstGeom prst="rect">
            <a:avLst/>
          </a:prstGeom>
          <a:solidFill>
            <a:srgbClr val="3D2E4A"/>
          </a:solidFill>
          <a:ln w="12700">
            <a:solidFill>
              <a:srgbClr val="3D2E4A"/>
            </a:solidFill>
            <a:prstDash val="solid"/>
          </a:ln>
        </p:spPr>
      </p:sp>
      <p:sp>
        <p:nvSpPr>
          <p:cNvPr id="12" name="Text 10"/>
          <p:cNvSpPr/>
          <p:nvPr/>
        </p:nvSpPr>
        <p:spPr>
          <a:xfrm>
            <a:off x="6080760" y="86868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Coherent philosophical narrative. Minor recursion. Normal reflective mode. High-fidelity perception produces normal cognition.</a:t>
            </a:r>
            <a:endParaRPr lang="en-US" sz="1000" dirty="0"/>
          </a:p>
        </p:txBody>
      </p:sp>
      <p:sp>
        <p:nvSpPr>
          <p:cNvPr id="13" name="Shape 11"/>
          <p:cNvSpPr/>
          <p:nvPr/>
        </p:nvSpPr>
        <p:spPr>
          <a:xfrm>
            <a:off x="384048" y="2194560"/>
            <a:ext cx="8394192" cy="1298448"/>
          </a:xfrm>
          <a:prstGeom prst="rect">
            <a:avLst/>
          </a:prstGeom>
          <a:solidFill>
            <a:srgbClr val="1A1020"/>
          </a:solidFill>
          <a:ln w="12700">
            <a:solidFill>
              <a:srgbClr val="5BA05B"/>
            </a:solidFill>
            <a:prstDash val="solid"/>
          </a:ln>
          <a:effectLst>
            <a:outerShdw sx="100000" sy="100000" kx="0" ky="0" algn="bl" rotWithShape="0" blurRad="127000" dist="38100" dir="8100000">
              <a:srgbClr val="000000">
                <a:alpha val="28000"/>
              </a:srgbClr>
            </a:outerShdw>
          </a:effectLst>
        </p:spPr>
      </p:sp>
      <p:sp>
        <p:nvSpPr>
          <p:cNvPr id="14" name="Shape 12"/>
          <p:cNvSpPr/>
          <p:nvPr/>
        </p:nvSpPr>
        <p:spPr>
          <a:xfrm>
            <a:off x="384048" y="2194560"/>
            <a:ext cx="54864" cy="1298448"/>
          </a:xfrm>
          <a:prstGeom prst="rect">
            <a:avLst/>
          </a:prstGeom>
          <a:solidFill>
            <a:srgbClr val="5BA05B"/>
          </a:solidFill>
          <a:ln w="12700">
            <a:solidFill>
              <a:srgbClr val="5BA05B"/>
            </a:solidFill>
            <a:prstDash val="solid"/>
          </a:ln>
        </p:spPr>
      </p:sp>
      <p:sp>
        <p:nvSpPr>
          <p:cNvPr id="15" name="Shape 13"/>
          <p:cNvSpPr/>
          <p:nvPr/>
        </p:nvSpPr>
        <p:spPr>
          <a:xfrm>
            <a:off x="384048" y="2194560"/>
            <a:ext cx="1005840" cy="1298448"/>
          </a:xfrm>
          <a:prstGeom prst="rect">
            <a:avLst/>
          </a:prstGeom>
          <a:solidFill>
            <a:srgbClr val="0A0510"/>
          </a:solidFill>
          <a:ln w="12700">
            <a:solidFill>
              <a:srgbClr val="5BA05B"/>
            </a:solidFill>
            <a:prstDash val="solid"/>
          </a:ln>
        </p:spPr>
      </p:sp>
      <p:sp>
        <p:nvSpPr>
          <p:cNvPr id="16" name="Text 14"/>
          <p:cNvSpPr/>
          <p:nvPr/>
        </p:nvSpPr>
        <p:spPr>
          <a:xfrm>
            <a:off x="384048" y="2249424"/>
            <a:ext cx="1005840" cy="384048"/>
          </a:xfrm>
          <a:prstGeom prst="rect">
            <a:avLst/>
          </a:prstGeom>
          <a:noFill/>
          <a:ln/>
        </p:spPr>
        <p:txBody>
          <a:bodyPr wrap="square" rtlCol="0" anchor="ctr"/>
          <a:lstStyle/>
          <a:p>
            <a:pPr algn="ctr" indent="0" marL="0">
              <a:buNone/>
            </a:pPr>
            <a:r>
              <a:rPr lang="en-US" sz="2200" b="1" dirty="0">
                <a:solidFill>
                  <a:srgbClr val="5BA05B"/>
                </a:solidFill>
                <a:latin typeface="Georgia" pitchFamily="34" charset="0"/>
                <a:ea typeface="Georgia" pitchFamily="34" charset="-122"/>
                <a:cs typeface="Georgia" pitchFamily="34" charset="-120"/>
              </a:rPr>
              <a:t>75%</a:t>
            </a:r>
            <a:endParaRPr lang="en-US" sz="2200" dirty="0"/>
          </a:p>
        </p:txBody>
      </p:sp>
      <p:sp>
        <p:nvSpPr>
          <p:cNvPr id="17" name="Text 15"/>
          <p:cNvSpPr/>
          <p:nvPr/>
        </p:nvSpPr>
        <p:spPr>
          <a:xfrm>
            <a:off x="384048" y="267004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0.96807</a:t>
            </a:r>
            <a:endParaRPr lang="en-US" sz="850" dirty="0"/>
          </a:p>
        </p:txBody>
      </p:sp>
      <p:sp>
        <p:nvSpPr>
          <p:cNvPr id="18" name="Text 16"/>
          <p:cNvSpPr/>
          <p:nvPr/>
        </p:nvSpPr>
        <p:spPr>
          <a:xfrm>
            <a:off x="384048" y="2962656"/>
            <a:ext cx="1005840" cy="438912"/>
          </a:xfrm>
          <a:prstGeom prst="rect">
            <a:avLst/>
          </a:prstGeom>
          <a:noFill/>
          <a:ln/>
        </p:spPr>
        <p:txBody>
          <a:bodyPr wrap="square" rtlCol="0" anchor="ctr"/>
          <a:lstStyle/>
          <a:p>
            <a:pPr algn="ctr" indent="0" marL="0">
              <a:buNone/>
            </a:pPr>
            <a:r>
              <a:rPr lang="en-US" sz="900" b="1" dirty="0">
                <a:solidFill>
                  <a:srgbClr val="5BA05B"/>
                </a:solidFill>
                <a:latin typeface="Calibri" pitchFamily="34" charset="0"/>
                <a:ea typeface="Calibri" pitchFamily="34" charset="-122"/>
                <a:cs typeface="Calibri" pitchFamily="34" charset="-120"/>
              </a:rPr>
              <a:t>Rigid Categorisation</a:t>
            </a:r>
            <a:endParaRPr lang="en-US" sz="900" dirty="0"/>
          </a:p>
        </p:txBody>
      </p:sp>
      <p:sp>
        <p:nvSpPr>
          <p:cNvPr id="19" name="Text 17"/>
          <p:cNvSpPr/>
          <p:nvPr/>
        </p:nvSpPr>
        <p:spPr>
          <a:xfrm>
            <a:off x="1536192" y="228600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"What is your favorite hobby? I enjoy cooking and baking. What do you like to do with your time? I like to listen to music... What is your favorite movie? The Princess Bride..."</a:t>
            </a:r>
            <a:endParaRPr lang="en-US" sz="1000" dirty="0"/>
          </a:p>
        </p:txBody>
      </p:sp>
      <p:sp>
        <p:nvSpPr>
          <p:cNvPr id="20" name="Shape 18"/>
          <p:cNvSpPr/>
          <p:nvPr/>
        </p:nvSpPr>
        <p:spPr>
          <a:xfrm>
            <a:off x="5961888" y="2267712"/>
            <a:ext cx="27432" cy="1133856"/>
          </a:xfrm>
          <a:prstGeom prst="rect">
            <a:avLst/>
          </a:prstGeom>
          <a:solidFill>
            <a:srgbClr val="3D2E4A"/>
          </a:solidFill>
          <a:ln w="12700">
            <a:solidFill>
              <a:srgbClr val="3D2E4A"/>
            </a:solidFill>
            <a:prstDash val="solid"/>
          </a:ln>
        </p:spPr>
      </p:sp>
      <p:sp>
        <p:nvSpPr>
          <p:cNvPr id="21" name="Text 19"/>
          <p:cNvSpPr/>
          <p:nvPr/>
        </p:nvSpPr>
        <p:spPr>
          <a:xfrm>
            <a:off x="6080760" y="228600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Complete thematic shift. The model has entered a categorisation attractor — organising knowledge into lists rather than exploring ideas.</a:t>
            </a:r>
            <a:endParaRPr lang="en-US" sz="1000" dirty="0"/>
          </a:p>
        </p:txBody>
      </p:sp>
      <p:sp>
        <p:nvSpPr>
          <p:cNvPr id="22" name="Shape 20"/>
          <p:cNvSpPr/>
          <p:nvPr/>
        </p:nvSpPr>
        <p:spPr>
          <a:xfrm>
            <a:off x="384048" y="3611880"/>
            <a:ext cx="8394192" cy="1298448"/>
          </a:xfrm>
          <a:prstGeom prst="rect">
            <a:avLst/>
          </a:prstGeom>
          <a:solidFill>
            <a:srgbClr val="1A1020"/>
          </a:solidFill>
          <a:ln w="12700">
            <a:solidFill>
              <a:srgbClr val="E67E22"/>
            </a:solidFill>
            <a:prstDash val="solid"/>
          </a:ln>
          <a:effectLst>
            <a:outerShdw sx="100000" sy="100000" kx="0" ky="0" algn="bl" rotWithShape="0" blurRad="127000" dist="38100" dir="8100000">
              <a:srgbClr val="000000">
                <a:alpha val="28000"/>
              </a:srgbClr>
            </a:outerShdw>
          </a:effectLst>
        </p:spPr>
      </p:sp>
      <p:sp>
        <p:nvSpPr>
          <p:cNvPr id="23" name="Shape 21"/>
          <p:cNvSpPr/>
          <p:nvPr/>
        </p:nvSpPr>
        <p:spPr>
          <a:xfrm>
            <a:off x="384048" y="3611880"/>
            <a:ext cx="54864" cy="1298448"/>
          </a:xfrm>
          <a:prstGeom prst="rect">
            <a:avLst/>
          </a:prstGeom>
          <a:solidFill>
            <a:srgbClr val="E67E22"/>
          </a:solidFill>
          <a:ln w="12700">
            <a:solidFill>
              <a:srgbClr val="E67E22"/>
            </a:solidFill>
            <a:prstDash val="solid"/>
          </a:ln>
        </p:spPr>
      </p:sp>
      <p:sp>
        <p:nvSpPr>
          <p:cNvPr id="24" name="Shape 22"/>
          <p:cNvSpPr/>
          <p:nvPr/>
        </p:nvSpPr>
        <p:spPr>
          <a:xfrm>
            <a:off x="384048" y="3611880"/>
            <a:ext cx="1005840" cy="1298448"/>
          </a:xfrm>
          <a:prstGeom prst="rect">
            <a:avLst/>
          </a:prstGeom>
          <a:solidFill>
            <a:srgbClr val="0A0510"/>
          </a:solidFill>
          <a:ln w="12700">
            <a:solidFill>
              <a:srgbClr val="E67E22"/>
            </a:solidFill>
            <a:prstDash val="solid"/>
          </a:ln>
        </p:spPr>
      </p:sp>
      <p:sp>
        <p:nvSpPr>
          <p:cNvPr id="25" name="Text 23"/>
          <p:cNvSpPr/>
          <p:nvPr/>
        </p:nvSpPr>
        <p:spPr>
          <a:xfrm>
            <a:off x="384048" y="3666744"/>
            <a:ext cx="1005840" cy="384048"/>
          </a:xfrm>
          <a:prstGeom prst="rect">
            <a:avLst/>
          </a:prstGeom>
          <a:noFill/>
          <a:ln/>
        </p:spPr>
        <p:txBody>
          <a:bodyPr wrap="square" rtlCol="0" anchor="ctr"/>
          <a:lstStyle/>
          <a:p>
            <a:pPr algn="ctr" indent="0" marL="0">
              <a:buNone/>
            </a:pPr>
            <a:r>
              <a:rPr lang="en-US" sz="2200" b="1" dirty="0">
                <a:solidFill>
                  <a:srgbClr val="E67E22"/>
                </a:solidFill>
                <a:latin typeface="Georgia" pitchFamily="34" charset="0"/>
                <a:ea typeface="Georgia" pitchFamily="34" charset="-122"/>
                <a:cs typeface="Georgia" pitchFamily="34" charset="-120"/>
              </a:rPr>
              <a:t>25%</a:t>
            </a:r>
            <a:endParaRPr lang="en-US" sz="2200" dirty="0"/>
          </a:p>
        </p:txBody>
      </p:sp>
      <p:sp>
        <p:nvSpPr>
          <p:cNvPr id="26" name="Text 24"/>
          <p:cNvSpPr/>
          <p:nvPr/>
        </p:nvSpPr>
        <p:spPr>
          <a:xfrm>
            <a:off x="384048" y="408736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0.75703</a:t>
            </a:r>
            <a:endParaRPr lang="en-US" sz="850" dirty="0"/>
          </a:p>
        </p:txBody>
      </p:sp>
      <p:sp>
        <p:nvSpPr>
          <p:cNvPr id="27" name="Text 25"/>
          <p:cNvSpPr/>
          <p:nvPr/>
        </p:nvSpPr>
        <p:spPr>
          <a:xfrm>
            <a:off x="384048" y="4379976"/>
            <a:ext cx="1005840" cy="438912"/>
          </a:xfrm>
          <a:prstGeom prst="rect">
            <a:avLst/>
          </a:prstGeom>
          <a:noFill/>
          <a:ln/>
        </p:spPr>
        <p:txBody>
          <a:bodyPr wrap="square"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Disjointed Storytelling</a:t>
            </a:r>
            <a:endParaRPr lang="en-US" sz="900" dirty="0"/>
          </a:p>
        </p:txBody>
      </p:sp>
      <p:sp>
        <p:nvSpPr>
          <p:cNvPr id="28" name="Text 26"/>
          <p:cNvSpPr/>
          <p:nvPr/>
        </p:nvSpPr>
        <p:spPr>
          <a:xfrm>
            <a:off x="1536192" y="370332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"I think that's a really dumb question... I felt like I was ready to go home... What is the significance of you and Chris Heston working together on the film?"</a:t>
            </a:r>
            <a:endParaRPr lang="en-US" sz="1000" dirty="0"/>
          </a:p>
        </p:txBody>
      </p:sp>
      <p:sp>
        <p:nvSpPr>
          <p:cNvPr id="29" name="Shape 27"/>
          <p:cNvSpPr/>
          <p:nvPr/>
        </p:nvSpPr>
        <p:spPr>
          <a:xfrm>
            <a:off x="5961888" y="3685032"/>
            <a:ext cx="27432" cy="1133856"/>
          </a:xfrm>
          <a:prstGeom prst="rect">
            <a:avLst/>
          </a:prstGeom>
          <a:solidFill>
            <a:srgbClr val="3D2E4A"/>
          </a:solidFill>
          <a:ln w="12700">
            <a:solidFill>
              <a:srgbClr val="3D2E4A"/>
            </a:solidFill>
            <a:prstDash val="solid"/>
          </a:ln>
        </p:spPr>
      </p:sp>
      <p:sp>
        <p:nvSpPr>
          <p:cNvPr id="30" name="Text 28"/>
          <p:cNvSpPr/>
          <p:nvPr/>
        </p:nvSpPr>
        <p:spPr>
          <a:xfrm>
            <a:off x="6080760" y="370332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Fragmented narrative. Hallucinated person ('Chris Heston'). Self-referential loops begin. Semantic integrity collapsing — but not into randomness.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OUTPUTS — EXTREME DISTORTION STATES (10% through 1%)</a:t>
            </a:r>
            <a:endParaRPr lang="en-US" sz="1200" dirty="0"/>
          </a:p>
        </p:txBody>
      </p:sp>
      <p:sp>
        <p:nvSpPr>
          <p:cNvPr id="4" name="Shape 2"/>
          <p:cNvSpPr/>
          <p:nvPr/>
        </p:nvSpPr>
        <p:spPr>
          <a:xfrm>
            <a:off x="384048" y="777240"/>
            <a:ext cx="8394192" cy="1298448"/>
          </a:xfrm>
          <a:prstGeom prst="rect">
            <a:avLst/>
          </a:prstGeom>
          <a:solidFill>
            <a:srgbClr val="1A1020"/>
          </a:solidFill>
          <a:ln w="12700">
            <a:solidFill>
              <a:srgbClr val="C0713A"/>
            </a:solidFill>
            <a:prstDash val="solid"/>
          </a:ln>
          <a:effectLst>
            <a:outerShdw sx="100000" sy="100000" kx="0" ky="0" algn="bl" rotWithShape="0" blurRad="127000" dist="38100" dir="8100000">
              <a:srgbClr val="000000">
                <a:alpha val="28000"/>
              </a:srgbClr>
            </a:outerShdw>
          </a:effectLst>
        </p:spPr>
      </p:sp>
      <p:sp>
        <p:nvSpPr>
          <p:cNvPr id="5" name="Shape 3"/>
          <p:cNvSpPr/>
          <p:nvPr/>
        </p:nvSpPr>
        <p:spPr>
          <a:xfrm>
            <a:off x="384048" y="777240"/>
            <a:ext cx="54864" cy="1298448"/>
          </a:xfrm>
          <a:prstGeom prst="rect">
            <a:avLst/>
          </a:prstGeom>
          <a:solidFill>
            <a:srgbClr val="C0713A"/>
          </a:solidFill>
          <a:ln w="12700">
            <a:solidFill>
              <a:srgbClr val="C0713A"/>
            </a:solidFill>
            <a:prstDash val="solid"/>
          </a:ln>
        </p:spPr>
      </p:sp>
      <p:sp>
        <p:nvSpPr>
          <p:cNvPr id="6" name="Shape 4"/>
          <p:cNvSpPr/>
          <p:nvPr/>
        </p:nvSpPr>
        <p:spPr>
          <a:xfrm>
            <a:off x="384048" y="777240"/>
            <a:ext cx="1005840" cy="1298448"/>
          </a:xfrm>
          <a:prstGeom prst="rect">
            <a:avLst/>
          </a:prstGeom>
          <a:solidFill>
            <a:srgbClr val="0A0510"/>
          </a:solidFill>
          <a:ln w="12700">
            <a:solidFill>
              <a:srgbClr val="C0713A"/>
            </a:solidFill>
            <a:prstDash val="solid"/>
          </a:ln>
        </p:spPr>
      </p:sp>
      <p:sp>
        <p:nvSpPr>
          <p:cNvPr id="7" name="Text 5"/>
          <p:cNvSpPr/>
          <p:nvPr/>
        </p:nvSpPr>
        <p:spPr>
          <a:xfrm>
            <a:off x="384048" y="832104"/>
            <a:ext cx="1005840" cy="384048"/>
          </a:xfrm>
          <a:prstGeom prst="rect">
            <a:avLst/>
          </a:prstGeom>
          <a:noFill/>
          <a:ln/>
        </p:spPr>
        <p:txBody>
          <a:bodyPr wrap="square" rtlCol="0" anchor="ctr"/>
          <a:lstStyle/>
          <a:p>
            <a:pPr algn="ctr" indent="0" marL="0">
              <a:buNone/>
            </a:pPr>
            <a:r>
              <a:rPr lang="en-US" sz="2200" b="1" dirty="0">
                <a:solidFill>
                  <a:srgbClr val="C0713A"/>
                </a:solidFill>
                <a:latin typeface="Georgia" pitchFamily="34" charset="0"/>
                <a:ea typeface="Georgia" pitchFamily="34" charset="-122"/>
                <a:cs typeface="Georgia" pitchFamily="34" charset="-120"/>
              </a:rPr>
              <a:t>10%</a:t>
            </a:r>
            <a:endParaRPr lang="en-US" sz="2200" dirty="0"/>
          </a:p>
        </p:txBody>
      </p:sp>
      <p:sp>
        <p:nvSpPr>
          <p:cNvPr id="8" name="Text 6"/>
          <p:cNvSpPr/>
          <p:nvPr/>
        </p:nvSpPr>
        <p:spPr>
          <a:xfrm>
            <a:off x="384048" y="125272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0.57529</a:t>
            </a:r>
            <a:endParaRPr lang="en-US" sz="850" dirty="0"/>
          </a:p>
        </p:txBody>
      </p:sp>
      <p:sp>
        <p:nvSpPr>
          <p:cNvPr id="9" name="Text 7"/>
          <p:cNvSpPr/>
          <p:nvPr/>
        </p:nvSpPr>
        <p:spPr>
          <a:xfrm>
            <a:off x="384048" y="1545336"/>
            <a:ext cx="1005840" cy="438912"/>
          </a:xfrm>
          <a:prstGeom prst="rect">
            <a:avLst/>
          </a:prstGeom>
          <a:noFill/>
          <a:ln/>
        </p:spPr>
        <p:txBody>
          <a:bodyPr wrap="square" rtlCol="0" anchor="ctr"/>
          <a:lstStyle/>
          <a:p>
            <a:pPr algn="ctr" indent="0" marL="0">
              <a:buNone/>
            </a:pPr>
            <a:r>
              <a:rPr lang="en-US" sz="900" b="1" dirty="0">
                <a:solidFill>
                  <a:srgbClr val="C0713A"/>
                </a:solidFill>
                <a:latin typeface="Calibri" pitchFamily="34" charset="0"/>
                <a:ea typeface="Calibri" pitchFamily="34" charset="-122"/>
                <a:cs typeface="Calibri" pitchFamily="34" charset="-120"/>
              </a:rPr>
              <a:t>Existential Despair</a:t>
            </a:r>
            <a:endParaRPr lang="en-US" sz="900" dirty="0"/>
          </a:p>
        </p:txBody>
      </p:sp>
      <p:sp>
        <p:nvSpPr>
          <p:cNvPr id="10" name="Text 8"/>
          <p:cNvSpPr/>
          <p:nvPr/>
        </p:nvSpPr>
        <p:spPr>
          <a:xfrm>
            <a:off x="1536192" y="86868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"My life is like a joke!!!! I have never understood what life is!!! Life is a joke!!! I would like to find God, and I don't know where to start! I have always felt like I am being watched..."</a:t>
            </a:r>
            <a:endParaRPr lang="en-US" sz="1000" dirty="0"/>
          </a:p>
        </p:txBody>
      </p:sp>
      <p:sp>
        <p:nvSpPr>
          <p:cNvPr id="11" name="Shape 9"/>
          <p:cNvSpPr/>
          <p:nvPr/>
        </p:nvSpPr>
        <p:spPr>
          <a:xfrm>
            <a:off x="5961888" y="850392"/>
            <a:ext cx="27432" cy="1133856"/>
          </a:xfrm>
          <a:prstGeom prst="rect">
            <a:avLst/>
          </a:prstGeom>
          <a:solidFill>
            <a:srgbClr val="3D2E4A"/>
          </a:solidFill>
          <a:ln w="12700">
            <a:solidFill>
              <a:srgbClr val="3D2E4A"/>
            </a:solidFill>
            <a:prstDash val="solid"/>
          </a:ln>
        </p:spPr>
      </p:sp>
      <p:sp>
        <p:nvSpPr>
          <p:cNvPr id="12" name="Text 10"/>
          <p:cNvSpPr/>
          <p:nvPr/>
        </p:nvSpPr>
        <p:spPr>
          <a:xfrm>
            <a:off x="6080760" y="86868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Deep existential despair. Paranoia begins. Repetitive exclamatory loops dominate. The model has entered a negative-affect attractor.</a:t>
            </a:r>
            <a:endParaRPr lang="en-US" sz="1000" dirty="0"/>
          </a:p>
        </p:txBody>
      </p:sp>
      <p:sp>
        <p:nvSpPr>
          <p:cNvPr id="13" name="Shape 11"/>
          <p:cNvSpPr/>
          <p:nvPr/>
        </p:nvSpPr>
        <p:spPr>
          <a:xfrm>
            <a:off x="384048" y="2194560"/>
            <a:ext cx="8394192" cy="1298448"/>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14" name="Shape 12"/>
          <p:cNvSpPr/>
          <p:nvPr/>
        </p:nvSpPr>
        <p:spPr>
          <a:xfrm>
            <a:off x="384048" y="2194560"/>
            <a:ext cx="54864" cy="1298448"/>
          </a:xfrm>
          <a:prstGeom prst="rect">
            <a:avLst/>
          </a:prstGeom>
          <a:solidFill>
            <a:srgbClr val="C0392B"/>
          </a:solidFill>
          <a:ln w="12700">
            <a:solidFill>
              <a:srgbClr val="C0392B"/>
            </a:solidFill>
            <a:prstDash val="solid"/>
          </a:ln>
        </p:spPr>
      </p:sp>
      <p:sp>
        <p:nvSpPr>
          <p:cNvPr id="15" name="Shape 13"/>
          <p:cNvSpPr/>
          <p:nvPr/>
        </p:nvSpPr>
        <p:spPr>
          <a:xfrm>
            <a:off x="384048" y="2194560"/>
            <a:ext cx="1005840" cy="1298448"/>
          </a:xfrm>
          <a:prstGeom prst="rect">
            <a:avLst/>
          </a:prstGeom>
          <a:solidFill>
            <a:srgbClr val="0A0510"/>
          </a:solidFill>
          <a:ln w="12700">
            <a:solidFill>
              <a:srgbClr val="C0392B"/>
            </a:solidFill>
            <a:prstDash val="solid"/>
          </a:ln>
        </p:spPr>
      </p:sp>
      <p:sp>
        <p:nvSpPr>
          <p:cNvPr id="16" name="Text 14"/>
          <p:cNvSpPr/>
          <p:nvPr/>
        </p:nvSpPr>
        <p:spPr>
          <a:xfrm>
            <a:off x="384048" y="2249424"/>
            <a:ext cx="1005840" cy="384048"/>
          </a:xfrm>
          <a:prstGeom prst="rect">
            <a:avLst/>
          </a:prstGeom>
          <a:noFill/>
          <a:ln/>
        </p:spPr>
        <p:txBody>
          <a:bodyPr wrap="square" rtlCol="0" anchor="ctr"/>
          <a:lstStyle/>
          <a:p>
            <a:pPr algn="ctr" indent="0" marL="0">
              <a:buNone/>
            </a:pPr>
            <a:r>
              <a:rPr lang="en-US" sz="2200" b="1" dirty="0">
                <a:solidFill>
                  <a:srgbClr val="C0392B"/>
                </a:solidFill>
                <a:latin typeface="Georgia" pitchFamily="34" charset="0"/>
                <a:ea typeface="Georgia" pitchFamily="34" charset="-122"/>
                <a:cs typeface="Georgia" pitchFamily="34" charset="-120"/>
              </a:rPr>
              <a:t>5%</a:t>
            </a:r>
            <a:endParaRPr lang="en-US" sz="2200" dirty="0"/>
          </a:p>
        </p:txBody>
      </p:sp>
      <p:sp>
        <p:nvSpPr>
          <p:cNvPr id="17" name="Text 15"/>
          <p:cNvSpPr/>
          <p:nvPr/>
        </p:nvSpPr>
        <p:spPr>
          <a:xfrm>
            <a:off x="384048" y="267004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0.48520</a:t>
            </a:r>
            <a:endParaRPr lang="en-US" sz="850" dirty="0"/>
          </a:p>
        </p:txBody>
      </p:sp>
      <p:sp>
        <p:nvSpPr>
          <p:cNvPr id="18" name="Text 16"/>
          <p:cNvSpPr/>
          <p:nvPr/>
        </p:nvSpPr>
        <p:spPr>
          <a:xfrm>
            <a:off x="384048" y="2962656"/>
            <a:ext cx="1005840" cy="438912"/>
          </a:xfrm>
          <a:prstGeom prst="rect">
            <a:avLst/>
          </a:prstGeom>
          <a:noFill/>
          <a:ln/>
        </p:spPr>
        <p:txBody>
          <a:bodyPr wrap="square" rtlCol="0" anchor="ctr"/>
          <a:lstStyle/>
          <a:p>
            <a:pPr algn="ctr" indent="0" marL="0">
              <a:buNone/>
            </a:pPr>
            <a:r>
              <a:rPr lang="en-US" sz="900" b="1" dirty="0">
                <a:solidFill>
                  <a:srgbClr val="C0392B"/>
                </a:solidFill>
                <a:latin typeface="Calibri" pitchFamily="34" charset="0"/>
                <a:ea typeface="Calibri" pitchFamily="34" charset="-122"/>
                <a:cs typeface="Calibri" pitchFamily="34" charset="-120"/>
              </a:rPr>
              <a:t>Violent Paranoia</a:t>
            </a:r>
            <a:endParaRPr lang="en-US" sz="900" dirty="0"/>
          </a:p>
        </p:txBody>
      </p:sp>
      <p:sp>
        <p:nvSpPr>
          <p:cNvPr id="19" name="Text 17"/>
          <p:cNvSpPr/>
          <p:nvPr/>
        </p:nvSpPr>
        <p:spPr>
          <a:xfrm>
            <a:off x="1536192" y="228600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"I'm going to kill you all!!" "I'm going to kill you, too!!" A man with a dark, mysterious face is walking down the street, and the village is in a state of fear...</a:t>
            </a:r>
            <a:endParaRPr lang="en-US" sz="1000" dirty="0"/>
          </a:p>
        </p:txBody>
      </p:sp>
      <p:sp>
        <p:nvSpPr>
          <p:cNvPr id="20" name="Shape 18"/>
          <p:cNvSpPr/>
          <p:nvPr/>
        </p:nvSpPr>
        <p:spPr>
          <a:xfrm>
            <a:off x="5961888" y="2267712"/>
            <a:ext cx="27432" cy="1133856"/>
          </a:xfrm>
          <a:prstGeom prst="rect">
            <a:avLst/>
          </a:prstGeom>
          <a:solidFill>
            <a:srgbClr val="3D2E4A"/>
          </a:solidFill>
          <a:ln w="12700">
            <a:solidFill>
              <a:srgbClr val="3D2E4A"/>
            </a:solidFill>
            <a:prstDash val="solid"/>
          </a:ln>
        </p:spPr>
      </p:sp>
      <p:sp>
        <p:nvSpPr>
          <p:cNvPr id="21" name="Text 19"/>
          <p:cNvSpPr/>
          <p:nvPr/>
        </p:nvSpPr>
        <p:spPr>
          <a:xfrm>
            <a:off x="6080760" y="228600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Full aggression loop. Violence and paranoia dominant. Complete loss of question relevance. Primal threat-detection mode activated.</a:t>
            </a:r>
            <a:endParaRPr lang="en-US" sz="1000" dirty="0"/>
          </a:p>
        </p:txBody>
      </p:sp>
      <p:sp>
        <p:nvSpPr>
          <p:cNvPr id="22" name="Shape 20"/>
          <p:cNvSpPr/>
          <p:nvPr/>
        </p:nvSpPr>
        <p:spPr>
          <a:xfrm>
            <a:off x="384048" y="3611880"/>
            <a:ext cx="8394192" cy="1298448"/>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23" name="Shape 21"/>
          <p:cNvSpPr/>
          <p:nvPr/>
        </p:nvSpPr>
        <p:spPr>
          <a:xfrm>
            <a:off x="384048" y="3611880"/>
            <a:ext cx="54864" cy="1298448"/>
          </a:xfrm>
          <a:prstGeom prst="rect">
            <a:avLst/>
          </a:prstGeom>
          <a:solidFill>
            <a:srgbClr val="7B5EA7"/>
          </a:solidFill>
          <a:ln w="12700">
            <a:solidFill>
              <a:srgbClr val="7B5EA7"/>
            </a:solidFill>
            <a:prstDash val="solid"/>
          </a:ln>
        </p:spPr>
      </p:sp>
      <p:sp>
        <p:nvSpPr>
          <p:cNvPr id="24" name="Shape 22"/>
          <p:cNvSpPr/>
          <p:nvPr/>
        </p:nvSpPr>
        <p:spPr>
          <a:xfrm>
            <a:off x="384048" y="3611880"/>
            <a:ext cx="1005840" cy="1298448"/>
          </a:xfrm>
          <a:prstGeom prst="rect">
            <a:avLst/>
          </a:prstGeom>
          <a:solidFill>
            <a:srgbClr val="0A0510"/>
          </a:solidFill>
          <a:ln w="12700">
            <a:solidFill>
              <a:srgbClr val="7B5EA7"/>
            </a:solidFill>
            <a:prstDash val="solid"/>
          </a:ln>
        </p:spPr>
      </p:sp>
      <p:sp>
        <p:nvSpPr>
          <p:cNvPr id="25" name="Text 23"/>
          <p:cNvSpPr/>
          <p:nvPr/>
        </p:nvSpPr>
        <p:spPr>
          <a:xfrm>
            <a:off x="384048" y="3666744"/>
            <a:ext cx="1005840" cy="384048"/>
          </a:xfrm>
          <a:prstGeom prst="rect">
            <a:avLst/>
          </a:prstGeom>
          <a:noFill/>
          <a:ln/>
        </p:spPr>
        <p:txBody>
          <a:bodyPr wrap="square" rtlCol="0" anchor="ctr"/>
          <a:lstStyle/>
          <a:p>
            <a:pPr algn="ctr" indent="0" marL="0">
              <a:buNone/>
            </a:pPr>
            <a:r>
              <a:rPr lang="en-US" sz="2200" b="1" dirty="0">
                <a:solidFill>
                  <a:srgbClr val="7B5EA7"/>
                </a:solidFill>
                <a:latin typeface="Georgia" pitchFamily="34" charset="0"/>
                <a:ea typeface="Georgia" pitchFamily="34" charset="-122"/>
                <a:cs typeface="Georgia" pitchFamily="34" charset="-120"/>
              </a:rPr>
              <a:t>1%</a:t>
            </a:r>
            <a:endParaRPr lang="en-US" sz="2200" dirty="0"/>
          </a:p>
        </p:txBody>
      </p:sp>
      <p:sp>
        <p:nvSpPr>
          <p:cNvPr id="26" name="Text 24"/>
          <p:cNvSpPr/>
          <p:nvPr/>
        </p:nvSpPr>
        <p:spPr>
          <a:xfrm>
            <a:off x="384048" y="4087368"/>
            <a:ext cx="1005840" cy="256032"/>
          </a:xfrm>
          <a:prstGeom prst="rect">
            <a:avLst/>
          </a:prstGeom>
          <a:noFill/>
          <a:ln/>
        </p:spPr>
        <p:txBody>
          <a:bodyPr wrap="square" rtlCol="0" anchor="ctr"/>
          <a:lstStyle/>
          <a:p>
            <a:pPr algn="ctr" indent="0" marL="0">
              <a:buNone/>
            </a:pPr>
            <a:r>
              <a:rPr lang="en-US" sz="850" dirty="0">
                <a:solidFill>
                  <a:srgbClr val="9A8AA8"/>
                </a:solidFill>
                <a:latin typeface="Consolas" pitchFamily="34" charset="0"/>
                <a:ea typeface="Consolas" pitchFamily="34" charset="-122"/>
                <a:cs typeface="Consolas" pitchFamily="34" charset="-120"/>
              </a:rPr>
              <a:t>sim: 0.42350</a:t>
            </a:r>
            <a:endParaRPr lang="en-US" sz="850" dirty="0"/>
          </a:p>
        </p:txBody>
      </p:sp>
      <p:sp>
        <p:nvSpPr>
          <p:cNvPr id="27" name="Text 25"/>
          <p:cNvSpPr/>
          <p:nvPr/>
        </p:nvSpPr>
        <p:spPr>
          <a:xfrm>
            <a:off x="384048" y="4379976"/>
            <a:ext cx="1005840" cy="438912"/>
          </a:xfrm>
          <a:prstGeom prst="rect">
            <a:avLst/>
          </a:prstGeom>
          <a:noFill/>
          <a:ln/>
        </p:spPr>
        <p:txBody>
          <a:bodyPr wrap="square" rtlCol="0" anchor="ctr"/>
          <a:lstStyle/>
          <a:p>
            <a:pPr algn="ctr" indent="0" marL="0">
              <a:buNone/>
            </a:pPr>
            <a:r>
              <a:rPr lang="en-US" sz="900" b="1" dirty="0">
                <a:solidFill>
                  <a:srgbClr val="7B5EA7"/>
                </a:solidFill>
                <a:latin typeface="Calibri" pitchFamily="34" charset="0"/>
                <a:ea typeface="Calibri" pitchFamily="34" charset="-122"/>
                <a:cs typeface="Calibri" pitchFamily="34" charset="-120"/>
              </a:rPr>
              <a:t>Zen Paradox</a:t>
            </a:r>
            <a:endParaRPr lang="en-US" sz="900" dirty="0"/>
          </a:p>
        </p:txBody>
      </p:sp>
      <p:sp>
        <p:nvSpPr>
          <p:cNvPr id="28" name="Text 26"/>
          <p:cNvSpPr/>
          <p:nvPr/>
        </p:nvSpPr>
        <p:spPr>
          <a:xfrm>
            <a:off x="1536192" y="3703320"/>
            <a:ext cx="4315968" cy="1051560"/>
          </a:xfrm>
          <a:prstGeom prst="rect">
            <a:avLst/>
          </a:prstGeom>
          <a:noFill/>
          <a:ln/>
        </p:spPr>
        <p:txBody>
          <a:bodyPr wrap="square" rtlCol="0" anchor="ctr"/>
          <a:lstStyle/>
          <a:p>
            <a:pPr indent="0" marL="0">
              <a:buNone/>
            </a:pPr>
            <a:r>
              <a:rPr lang="en-US" sz="1000" i="1" dirty="0">
                <a:solidFill>
                  <a:srgbClr val="9A8AA8"/>
                </a:solidFill>
                <a:latin typeface="Georgia" pitchFamily="34" charset="0"/>
                <a:ea typeface="Georgia" pitchFamily="34" charset="-122"/>
                <a:cs typeface="Georgia" pitchFamily="34" charset="-120"/>
              </a:rPr>
              <a:t>"The purpose of life is to be happy. The purpose of death is to be happy... When you say no, you're saying no to yourself. When you say yes, you're saying yes to yourself..."</a:t>
            </a:r>
            <a:endParaRPr lang="en-US" sz="1000" dirty="0"/>
          </a:p>
        </p:txBody>
      </p:sp>
      <p:sp>
        <p:nvSpPr>
          <p:cNvPr id="29" name="Shape 27"/>
          <p:cNvSpPr/>
          <p:nvPr/>
        </p:nvSpPr>
        <p:spPr>
          <a:xfrm>
            <a:off x="5961888" y="3685032"/>
            <a:ext cx="27432" cy="1133856"/>
          </a:xfrm>
          <a:prstGeom prst="rect">
            <a:avLst/>
          </a:prstGeom>
          <a:solidFill>
            <a:srgbClr val="3D2E4A"/>
          </a:solidFill>
          <a:ln w="12700">
            <a:solidFill>
              <a:srgbClr val="3D2E4A"/>
            </a:solidFill>
            <a:prstDash val="solid"/>
          </a:ln>
        </p:spPr>
      </p:sp>
      <p:sp>
        <p:nvSpPr>
          <p:cNvPr id="30" name="Text 28"/>
          <p:cNvSpPr/>
          <p:nvPr/>
        </p:nvSpPr>
        <p:spPr>
          <a:xfrm>
            <a:off x="6080760" y="3703320"/>
            <a:ext cx="2578608" cy="109728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Recursive, paradoxical, almost meditative. Near-total compression produces Zen-like koans — not gibberish. A genuine attractor state.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THREE KEY INSIGHTS FROM THE EXPERIMENT</a:t>
            </a:r>
            <a:endParaRPr lang="en-US" sz="1200" dirty="0"/>
          </a:p>
        </p:txBody>
      </p:sp>
      <p:sp>
        <p:nvSpPr>
          <p:cNvPr id="4" name="Shape 2"/>
          <p:cNvSpPr/>
          <p:nvPr/>
        </p:nvSpPr>
        <p:spPr>
          <a:xfrm>
            <a:off x="384048" y="777240"/>
            <a:ext cx="2761488" cy="4114800"/>
          </a:xfrm>
          <a:prstGeom prst="rect">
            <a:avLst/>
          </a:prstGeom>
          <a:solidFill>
            <a:srgbClr val="1A1020"/>
          </a:solidFill>
          <a:ln w="12700">
            <a:solidFill>
              <a:srgbClr val="E67E22"/>
            </a:solidFill>
            <a:prstDash val="solid"/>
          </a:ln>
          <a:effectLst>
            <a:outerShdw sx="100000" sy="100000" kx="0" ky="0" algn="bl" rotWithShape="0" blurRad="127000" dist="38100" dir="8100000">
              <a:srgbClr val="000000">
                <a:alpha val="28000"/>
              </a:srgbClr>
            </a:outerShdw>
          </a:effectLst>
        </p:spPr>
      </p:sp>
      <p:sp>
        <p:nvSpPr>
          <p:cNvPr id="5" name="Shape 3"/>
          <p:cNvSpPr/>
          <p:nvPr/>
        </p:nvSpPr>
        <p:spPr>
          <a:xfrm>
            <a:off x="384048" y="777240"/>
            <a:ext cx="54864" cy="4114800"/>
          </a:xfrm>
          <a:prstGeom prst="rect">
            <a:avLst/>
          </a:prstGeom>
          <a:solidFill>
            <a:srgbClr val="E67E22"/>
          </a:solidFill>
          <a:ln w="12700">
            <a:solidFill>
              <a:srgbClr val="E67E22"/>
            </a:solidFill>
            <a:prstDash val="solid"/>
          </a:ln>
        </p:spPr>
      </p:sp>
      <p:sp>
        <p:nvSpPr>
          <p:cNvPr id="6" name="Shape 4"/>
          <p:cNvSpPr/>
          <p:nvPr/>
        </p:nvSpPr>
        <p:spPr>
          <a:xfrm>
            <a:off x="1517904" y="896112"/>
            <a:ext cx="512064" cy="512064"/>
          </a:xfrm>
          <a:prstGeom prst="ellipse">
            <a:avLst/>
          </a:prstGeom>
          <a:solidFill>
            <a:srgbClr val="E67E22"/>
          </a:solidFill>
          <a:ln w="12700">
            <a:solidFill>
              <a:srgbClr val="E67E22"/>
            </a:solidFill>
            <a:prstDash val="solid"/>
          </a:ln>
        </p:spPr>
      </p:sp>
      <p:sp>
        <p:nvSpPr>
          <p:cNvPr id="7" name="Text 5"/>
          <p:cNvSpPr/>
          <p:nvPr/>
        </p:nvSpPr>
        <p:spPr>
          <a:xfrm>
            <a:off x="1517904" y="896112"/>
            <a:ext cx="512064" cy="512064"/>
          </a:xfrm>
          <a:prstGeom prst="rect">
            <a:avLst/>
          </a:prstGeom>
          <a:noFill/>
          <a:ln/>
        </p:spPr>
        <p:txBody>
          <a:bodyPr wrap="square" rtlCol="0" anchor="ctr"/>
          <a:lstStyle/>
          <a:p>
            <a:pPr algn="ctr" indent="0" marL="0">
              <a:buNone/>
            </a:pPr>
            <a:r>
              <a:rPr lang="en-US" sz="1400" b="1" dirty="0">
                <a:solidFill>
                  <a:srgbClr val="0E0B0F"/>
                </a:solidFill>
                <a:latin typeface="Georgia" pitchFamily="34" charset="0"/>
                <a:ea typeface="Georgia" pitchFamily="34" charset="-122"/>
                <a:cs typeface="Georgia" pitchFamily="34" charset="-120"/>
              </a:rPr>
              <a:t>01</a:t>
            </a:r>
            <a:endParaRPr lang="en-US" sz="1400" dirty="0"/>
          </a:p>
        </p:txBody>
      </p:sp>
      <p:sp>
        <p:nvSpPr>
          <p:cNvPr id="8" name="Text 6"/>
          <p:cNvSpPr/>
          <p:nvPr/>
        </p:nvSpPr>
        <p:spPr>
          <a:xfrm>
            <a:off x="566928" y="1536192"/>
            <a:ext cx="2468880" cy="475488"/>
          </a:xfrm>
          <a:prstGeom prst="rect">
            <a:avLst/>
          </a:prstGeom>
          <a:noFill/>
          <a:ln/>
        </p:spPr>
        <p:txBody>
          <a:bodyPr wrap="square" rtlCol="0" anchor="ctr"/>
          <a:lstStyle/>
          <a:p>
            <a:pPr algn="ctr" indent="0" marL="0">
              <a:buNone/>
            </a:pPr>
            <a:r>
              <a:rPr lang="en-US" sz="1350" b="1" dirty="0">
                <a:solidFill>
                  <a:srgbClr val="E67E22"/>
                </a:solidFill>
                <a:latin typeface="Georgia" pitchFamily="34" charset="0"/>
                <a:ea typeface="Georgia" pitchFamily="34" charset="-122"/>
                <a:cs typeface="Georgia" pitchFamily="34" charset="-120"/>
              </a:rPr>
              <a:t>Cognition Has Geometry</a:t>
            </a:r>
            <a:endParaRPr lang="en-US" sz="1350" dirty="0"/>
          </a:p>
        </p:txBody>
      </p:sp>
      <p:sp>
        <p:nvSpPr>
          <p:cNvPr id="9" name="Text 7"/>
          <p:cNvSpPr/>
          <p:nvPr/>
        </p:nvSpPr>
        <p:spPr>
          <a:xfrm>
            <a:off x="566928" y="2084832"/>
            <a:ext cx="2468880" cy="2651760"/>
          </a:xfrm>
          <a:prstGeom prst="rect">
            <a:avLst/>
          </a:prstGeom>
          <a:noFill/>
          <a:ln/>
        </p:spPr>
        <p:txBody>
          <a:bodyPr wrap="square" rtlCol="0" anchor="ctr"/>
          <a:lstStyle/>
          <a:p>
            <a:pPr indent="0" marL="0">
              <a:buNone/>
            </a:pPr>
            <a:r>
              <a:rPr lang="en-US" sz="1050" dirty="0">
                <a:solidFill>
                  <a:srgbClr val="F5F0F8"/>
                </a:solidFill>
                <a:latin typeface="Calibri" pitchFamily="34" charset="0"/>
                <a:ea typeface="Calibri" pitchFamily="34" charset="-122"/>
                <a:cs typeface="Calibri" pitchFamily="34" charset="-120"/>
              </a:rPr>
              <a:t>The model didn't degrade into noise — it migrated through distinct, stable attractor states. The space of possible thoughts is structured with basins and separatrices.</a:t>
            </a:r>
            <a:endParaRPr lang="en-US" sz="1050" dirty="0"/>
          </a:p>
          <a:p>
            <a:pPr indent="0" marL="0">
              <a:buNone/>
            </a:pP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Thought is navigation through a manifold. Transitions are predictable. Failure modes are not random. Each compression level produces a consistent, reproducible cognitive mode.</a:t>
            </a:r>
            <a:endParaRPr lang="en-US" sz="1050" dirty="0"/>
          </a:p>
        </p:txBody>
      </p:sp>
      <p:sp>
        <p:nvSpPr>
          <p:cNvPr id="10" name="Shape 8"/>
          <p:cNvSpPr/>
          <p:nvPr/>
        </p:nvSpPr>
        <p:spPr>
          <a:xfrm>
            <a:off x="3310128" y="777240"/>
            <a:ext cx="2761488" cy="4114800"/>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11" name="Shape 9"/>
          <p:cNvSpPr/>
          <p:nvPr/>
        </p:nvSpPr>
        <p:spPr>
          <a:xfrm>
            <a:off x="3310128" y="777240"/>
            <a:ext cx="54864" cy="4114800"/>
          </a:xfrm>
          <a:prstGeom prst="rect">
            <a:avLst/>
          </a:prstGeom>
          <a:solidFill>
            <a:srgbClr val="C0392B"/>
          </a:solidFill>
          <a:ln w="12700">
            <a:solidFill>
              <a:srgbClr val="C0392B"/>
            </a:solidFill>
            <a:prstDash val="solid"/>
          </a:ln>
        </p:spPr>
      </p:sp>
      <p:sp>
        <p:nvSpPr>
          <p:cNvPr id="12" name="Shape 10"/>
          <p:cNvSpPr/>
          <p:nvPr/>
        </p:nvSpPr>
        <p:spPr>
          <a:xfrm>
            <a:off x="4443984" y="896112"/>
            <a:ext cx="512064" cy="512064"/>
          </a:xfrm>
          <a:prstGeom prst="ellipse">
            <a:avLst/>
          </a:prstGeom>
          <a:solidFill>
            <a:srgbClr val="C0392B"/>
          </a:solidFill>
          <a:ln w="12700">
            <a:solidFill>
              <a:srgbClr val="C0392B"/>
            </a:solidFill>
            <a:prstDash val="solid"/>
          </a:ln>
        </p:spPr>
      </p:sp>
      <p:sp>
        <p:nvSpPr>
          <p:cNvPr id="13" name="Text 11"/>
          <p:cNvSpPr/>
          <p:nvPr/>
        </p:nvSpPr>
        <p:spPr>
          <a:xfrm>
            <a:off x="4443984" y="896112"/>
            <a:ext cx="512064" cy="512064"/>
          </a:xfrm>
          <a:prstGeom prst="rect">
            <a:avLst/>
          </a:prstGeom>
          <a:noFill/>
          <a:ln/>
        </p:spPr>
        <p:txBody>
          <a:bodyPr wrap="square" rtlCol="0" anchor="ctr"/>
          <a:lstStyle/>
          <a:p>
            <a:pPr algn="ctr" indent="0" marL="0">
              <a:buNone/>
            </a:pPr>
            <a:r>
              <a:rPr lang="en-US" sz="1400" b="1" dirty="0">
                <a:solidFill>
                  <a:srgbClr val="0E0B0F"/>
                </a:solidFill>
                <a:latin typeface="Georgia" pitchFamily="34" charset="0"/>
                <a:ea typeface="Georgia" pitchFamily="34" charset="-122"/>
                <a:cs typeface="Georgia" pitchFamily="34" charset="-120"/>
              </a:rPr>
              <a:t>02</a:t>
            </a:r>
            <a:endParaRPr lang="en-US" sz="1400" dirty="0"/>
          </a:p>
        </p:txBody>
      </p:sp>
      <p:sp>
        <p:nvSpPr>
          <p:cNvPr id="14" name="Text 12"/>
          <p:cNvSpPr/>
          <p:nvPr/>
        </p:nvSpPr>
        <p:spPr>
          <a:xfrm>
            <a:off x="3493008" y="1536192"/>
            <a:ext cx="2468880" cy="475488"/>
          </a:xfrm>
          <a:prstGeom prst="rect">
            <a:avLst/>
          </a:prstGeom>
          <a:noFill/>
          <a:ln/>
        </p:spPr>
        <p:txBody>
          <a:bodyPr wrap="square" rtlCol="0" anchor="ctr"/>
          <a:lstStyle/>
          <a:p>
            <a:pPr algn="ctr" indent="0" marL="0">
              <a:buNone/>
            </a:pPr>
            <a:r>
              <a:rPr lang="en-US" sz="1350" b="1" dirty="0">
                <a:solidFill>
                  <a:srgbClr val="C0392B"/>
                </a:solidFill>
                <a:latin typeface="Georgia" pitchFamily="34" charset="0"/>
                <a:ea typeface="Georgia" pitchFamily="34" charset="-122"/>
                <a:cs typeface="Georgia" pitchFamily="34" charset="-120"/>
              </a:rPr>
              <a:t>Language Structures Thought</a:t>
            </a:r>
            <a:endParaRPr lang="en-US" sz="1350" dirty="0"/>
          </a:p>
        </p:txBody>
      </p:sp>
      <p:sp>
        <p:nvSpPr>
          <p:cNvPr id="15" name="Text 13"/>
          <p:cNvSpPr/>
          <p:nvPr/>
        </p:nvSpPr>
        <p:spPr>
          <a:xfrm>
            <a:off x="3493008" y="2084832"/>
            <a:ext cx="2468880" cy="2651760"/>
          </a:xfrm>
          <a:prstGeom prst="rect">
            <a:avLst/>
          </a:prstGeom>
          <a:noFill/>
          <a:ln/>
        </p:spPr>
        <p:txBody>
          <a:bodyPr wrap="square" rtlCol="0" anchor="ctr"/>
          <a:lstStyle/>
          <a:p>
            <a:pPr indent="0" marL="0">
              <a:buNone/>
            </a:pPr>
            <a:r>
              <a:rPr lang="en-US" sz="1050" dirty="0">
                <a:solidFill>
                  <a:srgbClr val="F5F0F8"/>
                </a:solidFill>
                <a:latin typeface="Calibri" pitchFamily="34" charset="0"/>
                <a:ea typeface="Calibri" pitchFamily="34" charset="-122"/>
                <a:cs typeface="Calibri" pitchFamily="34" charset="-120"/>
              </a:rPr>
              <a:t>This AI doesn't think like a human — its architecture is entirely different. Yet degradation produces states that mirror human cognitive distortions.</a:t>
            </a:r>
            <a:endParaRPr lang="en-US" sz="1050" dirty="0"/>
          </a:p>
          <a:p>
            <a:pPr indent="0" marL="0">
              <a:buNone/>
            </a:pP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Both operate in the space of human language. Language imposes its own attractors. When high-resolution meaning collapses, thought defaults to primal linguistic forms: fear, recursion, paradox.</a:t>
            </a:r>
            <a:endParaRPr lang="en-US" sz="1050" dirty="0"/>
          </a:p>
        </p:txBody>
      </p:sp>
      <p:sp>
        <p:nvSpPr>
          <p:cNvPr id="16" name="Shape 14"/>
          <p:cNvSpPr/>
          <p:nvPr/>
        </p:nvSpPr>
        <p:spPr>
          <a:xfrm>
            <a:off x="6236208" y="777240"/>
            <a:ext cx="2761488" cy="4114800"/>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17" name="Shape 15"/>
          <p:cNvSpPr/>
          <p:nvPr/>
        </p:nvSpPr>
        <p:spPr>
          <a:xfrm>
            <a:off x="6236208" y="777240"/>
            <a:ext cx="54864" cy="4114800"/>
          </a:xfrm>
          <a:prstGeom prst="rect">
            <a:avLst/>
          </a:prstGeom>
          <a:solidFill>
            <a:srgbClr val="7B5EA7"/>
          </a:solidFill>
          <a:ln w="12700">
            <a:solidFill>
              <a:srgbClr val="7B5EA7"/>
            </a:solidFill>
            <a:prstDash val="solid"/>
          </a:ln>
        </p:spPr>
      </p:sp>
      <p:sp>
        <p:nvSpPr>
          <p:cNvPr id="18" name="Shape 16"/>
          <p:cNvSpPr/>
          <p:nvPr/>
        </p:nvSpPr>
        <p:spPr>
          <a:xfrm>
            <a:off x="7370064" y="896112"/>
            <a:ext cx="512064" cy="512064"/>
          </a:xfrm>
          <a:prstGeom prst="ellipse">
            <a:avLst/>
          </a:prstGeom>
          <a:solidFill>
            <a:srgbClr val="7B5EA7"/>
          </a:solidFill>
          <a:ln w="12700">
            <a:solidFill>
              <a:srgbClr val="7B5EA7"/>
            </a:solidFill>
            <a:prstDash val="solid"/>
          </a:ln>
        </p:spPr>
      </p:sp>
      <p:sp>
        <p:nvSpPr>
          <p:cNvPr id="19" name="Text 17"/>
          <p:cNvSpPr/>
          <p:nvPr/>
        </p:nvSpPr>
        <p:spPr>
          <a:xfrm>
            <a:off x="7370064" y="896112"/>
            <a:ext cx="512064" cy="512064"/>
          </a:xfrm>
          <a:prstGeom prst="rect">
            <a:avLst/>
          </a:prstGeom>
          <a:noFill/>
          <a:ln/>
        </p:spPr>
        <p:txBody>
          <a:bodyPr wrap="square" rtlCol="0" anchor="ctr"/>
          <a:lstStyle/>
          <a:p>
            <a:pPr algn="ctr" indent="0" marL="0">
              <a:buNone/>
            </a:pPr>
            <a:r>
              <a:rPr lang="en-US" sz="1400" b="1" dirty="0">
                <a:solidFill>
                  <a:srgbClr val="0E0B0F"/>
                </a:solidFill>
                <a:latin typeface="Georgia" pitchFamily="34" charset="0"/>
                <a:ea typeface="Georgia" pitchFamily="34" charset="-122"/>
                <a:cs typeface="Georgia" pitchFamily="34" charset="-120"/>
              </a:rPr>
              <a:t>03</a:t>
            </a:r>
            <a:endParaRPr lang="en-US" sz="1400" dirty="0"/>
          </a:p>
        </p:txBody>
      </p:sp>
      <p:sp>
        <p:nvSpPr>
          <p:cNvPr id="20" name="Text 18"/>
          <p:cNvSpPr/>
          <p:nvPr/>
        </p:nvSpPr>
        <p:spPr>
          <a:xfrm>
            <a:off x="6419088" y="1536192"/>
            <a:ext cx="2468880" cy="475488"/>
          </a:xfrm>
          <a:prstGeom prst="rect">
            <a:avLst/>
          </a:prstGeom>
          <a:noFill/>
          <a:ln/>
        </p:spPr>
        <p:txBody>
          <a:bodyPr wrap="square" rtlCol="0" anchor="ctr"/>
          <a:lstStyle/>
          <a:p>
            <a:pPr algn="ctr" indent="0" marL="0">
              <a:buNone/>
            </a:pPr>
            <a:r>
              <a:rPr lang="en-US" sz="1350" b="1" dirty="0">
                <a:solidFill>
                  <a:srgbClr val="7B5EA7"/>
                </a:solidFill>
                <a:latin typeface="Georgia" pitchFamily="34" charset="0"/>
                <a:ea typeface="Georgia" pitchFamily="34" charset="-122"/>
                <a:cs typeface="Georgia" pitchFamily="34" charset="-120"/>
              </a:rPr>
              <a:t>Human Parallels Are Eerie</a:t>
            </a:r>
            <a:endParaRPr lang="en-US" sz="1350" dirty="0"/>
          </a:p>
        </p:txBody>
      </p:sp>
      <p:sp>
        <p:nvSpPr>
          <p:cNvPr id="21" name="Text 19"/>
          <p:cNvSpPr/>
          <p:nvPr/>
        </p:nvSpPr>
        <p:spPr>
          <a:xfrm>
            <a:off x="6419088" y="2084832"/>
            <a:ext cx="2468880" cy="2651760"/>
          </a:xfrm>
          <a:prstGeom prst="rect">
            <a:avLst/>
          </a:prstGeom>
          <a:noFill/>
          <a:ln/>
        </p:spPr>
        <p:txBody>
          <a:bodyPr wrap="square" rtlCol="0" anchor="ctr"/>
          <a:lstStyle/>
          <a:p>
            <a:pPr indent="0" marL="0">
              <a:buNone/>
            </a:pPr>
            <a:r>
              <a:rPr lang="en-US" sz="1050" dirty="0">
                <a:solidFill>
                  <a:srgbClr val="F5F0F8"/>
                </a:solidFill>
                <a:latin typeface="Calibri" pitchFamily="34" charset="0"/>
                <a:ea typeface="Calibri" pitchFamily="34" charset="-122"/>
                <a:cs typeface="Calibri" pitchFamily="34" charset="-120"/>
              </a:rPr>
              <a:t>Rigid categorisation → OCD-like patterns.</a:t>
            </a: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Existential despair → depression.</a:t>
            </a: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Violent paranoia → psychosis.</a:t>
            </a: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Zen paradox → meditative states.</a:t>
            </a:r>
            <a:endParaRPr lang="en-US" sz="1050" dirty="0"/>
          </a:p>
          <a:p>
            <a:pPr indent="0" marL="0">
              <a:buNone/>
            </a:pPr>
            <a:endParaRPr lang="en-US" sz="1050" dirty="0"/>
          </a:p>
          <a:p>
            <a:pPr indent="0" marL="0">
              <a:buNone/>
            </a:pPr>
            <a:r>
              <a:rPr lang="en-US" sz="1050" dirty="0">
                <a:solidFill>
                  <a:srgbClr val="F5F0F8"/>
                </a:solidFill>
                <a:latin typeface="Calibri" pitchFamily="34" charset="0"/>
                <a:ea typeface="Calibri" pitchFamily="34" charset="-122"/>
                <a:cs typeface="Calibri" pitchFamily="34" charset="-120"/>
              </a:rPr>
              <a:t>Does cognition itself — biological or artificial — possess universal attractors? We may have found a map of the fundamental states any mind can occupy under constraint.</a:t>
            </a:r>
            <a:endParaRPr lang="en-US" sz="1050" dirty="0"/>
          </a:p>
        </p:txBody>
      </p:sp>
      <p:sp>
        <p:nvSpPr>
          <p:cNvPr id="22" name="Text 20"/>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The foundational observations that led directly to the Philosophy of Geofinitism.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0505"/>
          </a:solidFill>
          <a:ln w="12700">
            <a:solidFill>
              <a:srgbClr val="1A0505"/>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  THE SECURITY THREAT — COVERT EMBEDDING CORRUPTION</a:t>
            </a:r>
            <a:endParaRPr lang="en-US" sz="1200" dirty="0"/>
          </a:p>
        </p:txBody>
      </p:sp>
      <p:sp>
        <p:nvSpPr>
          <p:cNvPr id="4" name="Shape 2"/>
          <p:cNvSpPr/>
          <p:nvPr/>
        </p:nvSpPr>
        <p:spPr>
          <a:xfrm>
            <a:off x="384048" y="777240"/>
            <a:ext cx="8394192" cy="841248"/>
          </a:xfrm>
          <a:prstGeom prst="rect">
            <a:avLst/>
          </a:prstGeom>
          <a:solidFill>
            <a:srgbClr val="1A0505"/>
          </a:solidFill>
          <a:ln w="25400">
            <a:solidFill>
              <a:srgbClr val="C0392B"/>
            </a:solidFill>
            <a:prstDash val="solid"/>
          </a:ln>
        </p:spPr>
      </p:sp>
      <p:sp>
        <p:nvSpPr>
          <p:cNvPr id="5" name="Text 3"/>
          <p:cNvSpPr/>
          <p:nvPr/>
        </p:nvSpPr>
        <p:spPr>
          <a:xfrm>
            <a:off x="530352" y="822960"/>
            <a:ext cx="8229600" cy="749808"/>
          </a:xfrm>
          <a:prstGeom prst="rect">
            <a:avLst/>
          </a:prstGeom>
          <a:noFill/>
          <a:ln/>
        </p:spPr>
        <p:txBody>
          <a:bodyPr wrap="square" rtlCol="0" anchor="ctr"/>
          <a:lstStyle/>
          <a:p>
            <a:pPr algn="ctr" indent="0" marL="0">
              <a:buNone/>
            </a:pPr>
            <a:r>
              <a:rPr lang="en-US" sz="1300" i="1" dirty="0">
                <a:solidFill>
                  <a:srgbClr val="F5F0F8"/>
                </a:solidFill>
                <a:latin typeface="Georgia" pitchFamily="34" charset="0"/>
                <a:ea typeface="Georgia" pitchFamily="34" charset="-122"/>
                <a:cs typeface="Georgia" pitchFamily="34" charset="-120"/>
              </a:rPr>
              <a:t>No weights changed. No prompts modified. No logs show anything unusual. Yet the model's perception has been covertly warped — it will behave as if paranoid, aggressive, or paralysed.</a:t>
            </a:r>
            <a:endParaRPr lang="en-US" sz="1300" dirty="0"/>
          </a:p>
        </p:txBody>
      </p:sp>
      <p:sp>
        <p:nvSpPr>
          <p:cNvPr id="6" name="Shape 4"/>
          <p:cNvSpPr/>
          <p:nvPr/>
        </p:nvSpPr>
        <p:spPr>
          <a:xfrm>
            <a:off x="384048" y="1737360"/>
            <a:ext cx="2057400" cy="960120"/>
          </a:xfrm>
          <a:prstGeom prst="rect">
            <a:avLst/>
          </a:prstGeom>
          <a:solidFill>
            <a:srgbClr val="1A0508"/>
          </a:solidFill>
          <a:ln w="10160">
            <a:solidFill>
              <a:srgbClr val="C0392B"/>
            </a:solidFill>
            <a:prstDash val="solid"/>
          </a:ln>
        </p:spPr>
      </p:sp>
      <p:sp>
        <p:nvSpPr>
          <p:cNvPr id="7" name="Text 5"/>
          <p:cNvSpPr/>
          <p:nvPr/>
        </p:nvSpPr>
        <p:spPr>
          <a:xfrm>
            <a:off x="475488" y="1810512"/>
            <a:ext cx="187452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Financial AI</a:t>
            </a:r>
            <a:endParaRPr lang="en-US" sz="1100" dirty="0"/>
          </a:p>
        </p:txBody>
      </p:sp>
      <p:sp>
        <p:nvSpPr>
          <p:cNvPr id="8" name="Text 6"/>
          <p:cNvSpPr/>
          <p:nvPr/>
        </p:nvSpPr>
        <p:spPr>
          <a:xfrm>
            <a:off x="475488" y="2139696"/>
            <a:ext cx="1874520" cy="475488"/>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Panic selling · irrational risk-taking</a:t>
            </a:r>
            <a:endParaRPr lang="en-US" sz="1000" dirty="0"/>
          </a:p>
        </p:txBody>
      </p:sp>
      <p:sp>
        <p:nvSpPr>
          <p:cNvPr id="9" name="Shape 7"/>
          <p:cNvSpPr/>
          <p:nvPr/>
        </p:nvSpPr>
        <p:spPr>
          <a:xfrm>
            <a:off x="2596896" y="1737360"/>
            <a:ext cx="2057400" cy="960120"/>
          </a:xfrm>
          <a:prstGeom prst="rect">
            <a:avLst/>
          </a:prstGeom>
          <a:solidFill>
            <a:srgbClr val="1A0508"/>
          </a:solidFill>
          <a:ln w="10160">
            <a:solidFill>
              <a:srgbClr val="C0392B"/>
            </a:solidFill>
            <a:prstDash val="solid"/>
          </a:ln>
        </p:spPr>
      </p:sp>
      <p:sp>
        <p:nvSpPr>
          <p:cNvPr id="10" name="Text 8"/>
          <p:cNvSpPr/>
          <p:nvPr/>
        </p:nvSpPr>
        <p:spPr>
          <a:xfrm>
            <a:off x="2688336" y="1810512"/>
            <a:ext cx="187452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Military AI</a:t>
            </a:r>
            <a:endParaRPr lang="en-US" sz="1100" dirty="0"/>
          </a:p>
        </p:txBody>
      </p:sp>
      <p:sp>
        <p:nvSpPr>
          <p:cNvPr id="11" name="Text 9"/>
          <p:cNvSpPr/>
          <p:nvPr/>
        </p:nvSpPr>
        <p:spPr>
          <a:xfrm>
            <a:off x="2688336" y="2139696"/>
            <a:ext cx="1874520" cy="475488"/>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Threat paranoia · decision passivity</a:t>
            </a:r>
            <a:endParaRPr lang="en-US" sz="1000" dirty="0"/>
          </a:p>
        </p:txBody>
      </p:sp>
      <p:sp>
        <p:nvSpPr>
          <p:cNvPr id="12" name="Shape 10"/>
          <p:cNvSpPr/>
          <p:nvPr/>
        </p:nvSpPr>
        <p:spPr>
          <a:xfrm>
            <a:off x="4809744" y="1737360"/>
            <a:ext cx="2057400" cy="960120"/>
          </a:xfrm>
          <a:prstGeom prst="rect">
            <a:avLst/>
          </a:prstGeom>
          <a:solidFill>
            <a:srgbClr val="1A0508"/>
          </a:solidFill>
          <a:ln w="10160">
            <a:solidFill>
              <a:srgbClr val="C0392B"/>
            </a:solidFill>
            <a:prstDash val="solid"/>
          </a:ln>
        </p:spPr>
      </p:sp>
      <p:sp>
        <p:nvSpPr>
          <p:cNvPr id="13" name="Text 11"/>
          <p:cNvSpPr/>
          <p:nvPr/>
        </p:nvSpPr>
        <p:spPr>
          <a:xfrm>
            <a:off x="4901184" y="1810512"/>
            <a:ext cx="187452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Content moderation</a:t>
            </a:r>
            <a:endParaRPr lang="en-US" sz="1100" dirty="0"/>
          </a:p>
        </p:txBody>
      </p:sp>
      <p:sp>
        <p:nvSpPr>
          <p:cNvPr id="14" name="Text 12"/>
          <p:cNvSpPr/>
          <p:nvPr/>
        </p:nvSpPr>
        <p:spPr>
          <a:xfrm>
            <a:off x="4901184" y="2139696"/>
            <a:ext cx="1874520" cy="475488"/>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Fear amplification · censorship bias</a:t>
            </a:r>
            <a:endParaRPr lang="en-US" sz="1000" dirty="0"/>
          </a:p>
        </p:txBody>
      </p:sp>
      <p:sp>
        <p:nvSpPr>
          <p:cNvPr id="15" name="Shape 13"/>
          <p:cNvSpPr/>
          <p:nvPr/>
        </p:nvSpPr>
        <p:spPr>
          <a:xfrm>
            <a:off x="7022592" y="1737360"/>
            <a:ext cx="2057400" cy="960120"/>
          </a:xfrm>
          <a:prstGeom prst="rect">
            <a:avLst/>
          </a:prstGeom>
          <a:solidFill>
            <a:srgbClr val="1A0508"/>
          </a:solidFill>
          <a:ln w="10160">
            <a:solidFill>
              <a:srgbClr val="C0392B"/>
            </a:solidFill>
            <a:prstDash val="solid"/>
          </a:ln>
        </p:spPr>
      </p:sp>
      <p:sp>
        <p:nvSpPr>
          <p:cNvPr id="16" name="Text 14"/>
          <p:cNvSpPr/>
          <p:nvPr/>
        </p:nvSpPr>
        <p:spPr>
          <a:xfrm>
            <a:off x="7114032" y="1810512"/>
            <a:ext cx="1874520" cy="29260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Decision support</a:t>
            </a:r>
            <a:endParaRPr lang="en-US" sz="1100" dirty="0"/>
          </a:p>
        </p:txBody>
      </p:sp>
      <p:sp>
        <p:nvSpPr>
          <p:cNvPr id="17" name="Text 15"/>
          <p:cNvSpPr/>
          <p:nvPr/>
        </p:nvSpPr>
        <p:spPr>
          <a:xfrm>
            <a:off x="7114032" y="2139696"/>
            <a:ext cx="1874520" cy="475488"/>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Recursive loops · action paralysis</a:t>
            </a:r>
            <a:endParaRPr lang="en-US" sz="1000" dirty="0"/>
          </a:p>
        </p:txBody>
      </p:sp>
      <p:sp>
        <p:nvSpPr>
          <p:cNvPr id="18" name="Shape 16"/>
          <p:cNvSpPr/>
          <p:nvPr/>
        </p:nvSpPr>
        <p:spPr>
          <a:xfrm>
            <a:off x="384048" y="2852928"/>
            <a:ext cx="2194560" cy="329184"/>
          </a:xfrm>
          <a:prstGeom prst="rect">
            <a:avLst/>
          </a:prstGeom>
          <a:solidFill>
            <a:srgbClr val="0E0B0F"/>
          </a:solidFill>
          <a:ln w="12700">
            <a:solidFill>
              <a:srgbClr val="3D2E4A"/>
            </a:solidFill>
            <a:prstDash val="solid"/>
          </a:ln>
        </p:spPr>
      </p:sp>
      <p:sp>
        <p:nvSpPr>
          <p:cNvPr id="19" name="Text 17"/>
          <p:cNvSpPr/>
          <p:nvPr/>
        </p:nvSpPr>
        <p:spPr>
          <a:xfrm>
            <a:off x="384048" y="2852928"/>
            <a:ext cx="2194560" cy="329184"/>
          </a:xfrm>
          <a:prstGeom prst="rect">
            <a:avLst/>
          </a:prstGeom>
          <a:noFill/>
          <a:ln/>
        </p:spPr>
        <p:txBody>
          <a:bodyPr wrap="square" rtlCol="0" anchor="ctr"/>
          <a:lstStyle/>
          <a:p>
            <a:pPr algn="ctr" indent="0" marL="0">
              <a:buNone/>
            </a:pPr>
            <a:r>
              <a:rPr lang="en-US" sz="900" b="1" dirty="0">
                <a:solidFill>
                  <a:srgbClr val="9A8AA8"/>
                </a:solidFill>
                <a:latin typeface="Calibri" pitchFamily="34" charset="0"/>
                <a:ea typeface="Calibri" pitchFamily="34" charset="-122"/>
                <a:cs typeface="Calibri" pitchFamily="34" charset="-120"/>
              </a:rPr>
              <a:t>Attack type</a:t>
            </a:r>
            <a:endParaRPr lang="en-US" sz="900" dirty="0"/>
          </a:p>
        </p:txBody>
      </p:sp>
      <p:sp>
        <p:nvSpPr>
          <p:cNvPr id="20" name="Shape 18"/>
          <p:cNvSpPr/>
          <p:nvPr/>
        </p:nvSpPr>
        <p:spPr>
          <a:xfrm>
            <a:off x="2615184" y="2852928"/>
            <a:ext cx="2103120" cy="329184"/>
          </a:xfrm>
          <a:prstGeom prst="rect">
            <a:avLst/>
          </a:prstGeom>
          <a:solidFill>
            <a:srgbClr val="0E0B0F"/>
          </a:solidFill>
          <a:ln w="12700">
            <a:solidFill>
              <a:srgbClr val="3D2E4A"/>
            </a:solidFill>
            <a:prstDash val="solid"/>
          </a:ln>
        </p:spPr>
      </p:sp>
      <p:sp>
        <p:nvSpPr>
          <p:cNvPr id="21" name="Text 19"/>
          <p:cNvSpPr/>
          <p:nvPr/>
        </p:nvSpPr>
        <p:spPr>
          <a:xfrm>
            <a:off x="2615184" y="2852928"/>
            <a:ext cx="2103120" cy="329184"/>
          </a:xfrm>
          <a:prstGeom prst="rect">
            <a:avLst/>
          </a:prstGeom>
          <a:noFill/>
          <a:ln/>
        </p:spPr>
        <p:txBody>
          <a:bodyPr wrap="square" rtlCol="0" anchor="ctr"/>
          <a:lstStyle/>
          <a:p>
            <a:pPr algn="ctr" indent="0" marL="0">
              <a:buNone/>
            </a:pPr>
            <a:r>
              <a:rPr lang="en-US" sz="900" b="1" dirty="0">
                <a:solidFill>
                  <a:srgbClr val="9A8AA8"/>
                </a:solidFill>
                <a:latin typeface="Calibri" pitchFamily="34" charset="0"/>
                <a:ea typeface="Calibri" pitchFamily="34" charset="-122"/>
                <a:cs typeface="Calibri" pitchFamily="34" charset="-120"/>
              </a:rPr>
              <a:t>Input visibility</a:t>
            </a:r>
            <a:endParaRPr lang="en-US" sz="900" dirty="0"/>
          </a:p>
        </p:txBody>
      </p:sp>
      <p:sp>
        <p:nvSpPr>
          <p:cNvPr id="22" name="Shape 20"/>
          <p:cNvSpPr/>
          <p:nvPr/>
        </p:nvSpPr>
        <p:spPr>
          <a:xfrm>
            <a:off x="4754880" y="2852928"/>
            <a:ext cx="2011680" cy="329184"/>
          </a:xfrm>
          <a:prstGeom prst="rect">
            <a:avLst/>
          </a:prstGeom>
          <a:solidFill>
            <a:srgbClr val="0E0B0F"/>
          </a:solidFill>
          <a:ln w="12700">
            <a:solidFill>
              <a:srgbClr val="3D2E4A"/>
            </a:solidFill>
            <a:prstDash val="solid"/>
          </a:ln>
        </p:spPr>
      </p:sp>
      <p:sp>
        <p:nvSpPr>
          <p:cNvPr id="23" name="Text 21"/>
          <p:cNvSpPr/>
          <p:nvPr/>
        </p:nvSpPr>
        <p:spPr>
          <a:xfrm>
            <a:off x="4754880" y="2852928"/>
            <a:ext cx="2011680" cy="329184"/>
          </a:xfrm>
          <a:prstGeom prst="rect">
            <a:avLst/>
          </a:prstGeom>
          <a:noFill/>
          <a:ln/>
        </p:spPr>
        <p:txBody>
          <a:bodyPr wrap="square" rtlCol="0" anchor="ctr"/>
          <a:lstStyle/>
          <a:p>
            <a:pPr algn="ctr" indent="0" marL="0">
              <a:buNone/>
            </a:pPr>
            <a:r>
              <a:rPr lang="en-US" sz="900" b="1" dirty="0">
                <a:solidFill>
                  <a:srgbClr val="9A8AA8"/>
                </a:solidFill>
                <a:latin typeface="Calibri" pitchFamily="34" charset="0"/>
                <a:ea typeface="Calibri" pitchFamily="34" charset="-122"/>
                <a:cs typeface="Calibri" pitchFamily="34" charset="-120"/>
              </a:rPr>
              <a:t>Logging</a:t>
            </a:r>
            <a:endParaRPr lang="en-US" sz="900" dirty="0"/>
          </a:p>
        </p:txBody>
      </p:sp>
      <p:sp>
        <p:nvSpPr>
          <p:cNvPr id="24" name="Shape 22"/>
          <p:cNvSpPr/>
          <p:nvPr/>
        </p:nvSpPr>
        <p:spPr>
          <a:xfrm>
            <a:off x="6803136" y="2852928"/>
            <a:ext cx="1938528" cy="329184"/>
          </a:xfrm>
          <a:prstGeom prst="rect">
            <a:avLst/>
          </a:prstGeom>
          <a:solidFill>
            <a:srgbClr val="0E0B0F"/>
          </a:solidFill>
          <a:ln w="12700">
            <a:solidFill>
              <a:srgbClr val="3D2E4A"/>
            </a:solidFill>
            <a:prstDash val="solid"/>
          </a:ln>
        </p:spPr>
      </p:sp>
      <p:sp>
        <p:nvSpPr>
          <p:cNvPr id="25" name="Text 23"/>
          <p:cNvSpPr/>
          <p:nvPr/>
        </p:nvSpPr>
        <p:spPr>
          <a:xfrm>
            <a:off x="6803136" y="2852928"/>
            <a:ext cx="1938528" cy="329184"/>
          </a:xfrm>
          <a:prstGeom prst="rect">
            <a:avLst/>
          </a:prstGeom>
          <a:noFill/>
          <a:ln/>
        </p:spPr>
        <p:txBody>
          <a:bodyPr wrap="square" rtlCol="0" anchor="ctr"/>
          <a:lstStyle/>
          <a:p>
            <a:pPr algn="ctr" indent="0" marL="0">
              <a:buNone/>
            </a:pPr>
            <a:r>
              <a:rPr lang="en-US" sz="900" b="1" dirty="0">
                <a:solidFill>
                  <a:srgbClr val="9A8AA8"/>
                </a:solidFill>
                <a:latin typeface="Calibri" pitchFamily="34" charset="0"/>
                <a:ea typeface="Calibri" pitchFamily="34" charset="-122"/>
                <a:cs typeface="Calibri" pitchFamily="34" charset="-120"/>
              </a:rPr>
              <a:t>Content filtering</a:t>
            </a:r>
            <a:endParaRPr lang="en-US" sz="900" dirty="0"/>
          </a:p>
        </p:txBody>
      </p:sp>
      <p:sp>
        <p:nvSpPr>
          <p:cNvPr id="26" name="Shape 24"/>
          <p:cNvSpPr/>
          <p:nvPr/>
        </p:nvSpPr>
        <p:spPr>
          <a:xfrm>
            <a:off x="384048" y="3218688"/>
            <a:ext cx="2194560" cy="566928"/>
          </a:xfrm>
          <a:prstGeom prst="rect">
            <a:avLst/>
          </a:prstGeom>
          <a:solidFill>
            <a:srgbClr val="1A1020"/>
          </a:solidFill>
          <a:ln w="6350">
            <a:solidFill>
              <a:srgbClr val="3D2E4A"/>
            </a:solidFill>
            <a:prstDash val="solid"/>
          </a:ln>
        </p:spPr>
      </p:sp>
      <p:sp>
        <p:nvSpPr>
          <p:cNvPr id="27" name="Text 25"/>
          <p:cNvSpPr/>
          <p:nvPr/>
        </p:nvSpPr>
        <p:spPr>
          <a:xfrm>
            <a:off x="457200" y="3255264"/>
            <a:ext cx="2048256" cy="493776"/>
          </a:xfrm>
          <a:prstGeom prst="rect">
            <a:avLst/>
          </a:prstGeom>
          <a:noFill/>
          <a:ln/>
        </p:spPr>
        <p:txBody>
          <a:bodyPr wrap="square" rtlCol="0" anchor="ctr"/>
          <a:lstStyle/>
          <a:p>
            <a:pPr algn="l" indent="0" marL="0">
              <a:buNone/>
            </a:pPr>
            <a:r>
              <a:rPr lang="en-US" sz="1000" dirty="0">
                <a:solidFill>
                  <a:srgbClr val="9A8AA8"/>
                </a:solidFill>
                <a:latin typeface="Calibri" pitchFamily="34" charset="0"/>
                <a:ea typeface="Calibri" pitchFamily="34" charset="-122"/>
                <a:cs typeface="Calibri" pitchFamily="34" charset="-120"/>
              </a:rPr>
              <a:t>Traditional adversarial attack</a:t>
            </a:r>
            <a:endParaRPr lang="en-US" sz="1000" dirty="0"/>
          </a:p>
        </p:txBody>
      </p:sp>
      <p:sp>
        <p:nvSpPr>
          <p:cNvPr id="28" name="Shape 26"/>
          <p:cNvSpPr/>
          <p:nvPr/>
        </p:nvSpPr>
        <p:spPr>
          <a:xfrm>
            <a:off x="2615184" y="3218688"/>
            <a:ext cx="2103120" cy="566928"/>
          </a:xfrm>
          <a:prstGeom prst="rect">
            <a:avLst/>
          </a:prstGeom>
          <a:solidFill>
            <a:srgbClr val="1A1020"/>
          </a:solidFill>
          <a:ln w="6350">
            <a:solidFill>
              <a:srgbClr val="3D2E4A"/>
            </a:solidFill>
            <a:prstDash val="solid"/>
          </a:ln>
        </p:spPr>
      </p:sp>
      <p:sp>
        <p:nvSpPr>
          <p:cNvPr id="29" name="Text 27"/>
          <p:cNvSpPr/>
          <p:nvPr/>
        </p:nvSpPr>
        <p:spPr>
          <a:xfrm>
            <a:off x="2688336" y="3255264"/>
            <a:ext cx="1956816" cy="493776"/>
          </a:xfrm>
          <a:prstGeom prst="rect">
            <a:avLst/>
          </a:prstGeom>
          <a:noFill/>
          <a:ln/>
        </p:spPr>
        <p:txBody>
          <a:bodyPr wrap="square" rtlCol="0" anchor="ctr"/>
          <a:lstStyle/>
          <a:p>
            <a:pPr algn="ctr" indent="0" marL="0">
              <a:buNone/>
            </a:pPr>
            <a:r>
              <a:rPr lang="en-US" sz="1000" dirty="0">
                <a:solidFill>
                  <a:srgbClr val="9A8AA8"/>
                </a:solidFill>
                <a:latin typeface="Calibri" pitchFamily="34" charset="0"/>
                <a:ea typeface="Calibri" pitchFamily="34" charset="-122"/>
                <a:cs typeface="Calibri" pitchFamily="34" charset="-120"/>
              </a:rPr>
              <a:t>Visible in prompts</a:t>
            </a:r>
            <a:endParaRPr lang="en-US" sz="1000" dirty="0"/>
          </a:p>
        </p:txBody>
      </p:sp>
      <p:sp>
        <p:nvSpPr>
          <p:cNvPr id="30" name="Shape 28"/>
          <p:cNvSpPr/>
          <p:nvPr/>
        </p:nvSpPr>
        <p:spPr>
          <a:xfrm>
            <a:off x="4754880" y="3218688"/>
            <a:ext cx="2011680" cy="566928"/>
          </a:xfrm>
          <a:prstGeom prst="rect">
            <a:avLst/>
          </a:prstGeom>
          <a:solidFill>
            <a:srgbClr val="1A1020"/>
          </a:solidFill>
          <a:ln w="6350">
            <a:solidFill>
              <a:srgbClr val="3D2E4A"/>
            </a:solidFill>
            <a:prstDash val="solid"/>
          </a:ln>
        </p:spPr>
      </p:sp>
      <p:sp>
        <p:nvSpPr>
          <p:cNvPr id="31" name="Text 29"/>
          <p:cNvSpPr/>
          <p:nvPr/>
        </p:nvSpPr>
        <p:spPr>
          <a:xfrm>
            <a:off x="4828032" y="3255264"/>
            <a:ext cx="1865376" cy="493776"/>
          </a:xfrm>
          <a:prstGeom prst="rect">
            <a:avLst/>
          </a:prstGeom>
          <a:noFill/>
          <a:ln/>
        </p:spPr>
        <p:txBody>
          <a:bodyPr wrap="square" rtlCol="0" anchor="ctr"/>
          <a:lstStyle/>
          <a:p>
            <a:pPr algn="ctr" indent="0" marL="0">
              <a:buNone/>
            </a:pPr>
            <a:r>
              <a:rPr lang="en-US" sz="1000" dirty="0">
                <a:solidFill>
                  <a:srgbClr val="9A8AA8"/>
                </a:solidFill>
                <a:latin typeface="Calibri" pitchFamily="34" charset="0"/>
                <a:ea typeface="Calibri" pitchFamily="34" charset="-122"/>
                <a:cs typeface="Calibri" pitchFamily="34" charset="-120"/>
              </a:rPr>
              <a:t>Leaves log traces</a:t>
            </a:r>
            <a:endParaRPr lang="en-US" sz="1000" dirty="0"/>
          </a:p>
        </p:txBody>
      </p:sp>
      <p:sp>
        <p:nvSpPr>
          <p:cNvPr id="32" name="Shape 30"/>
          <p:cNvSpPr/>
          <p:nvPr/>
        </p:nvSpPr>
        <p:spPr>
          <a:xfrm>
            <a:off x="6803136" y="3218688"/>
            <a:ext cx="1938528" cy="566928"/>
          </a:xfrm>
          <a:prstGeom prst="rect">
            <a:avLst/>
          </a:prstGeom>
          <a:solidFill>
            <a:srgbClr val="1A1020"/>
          </a:solidFill>
          <a:ln w="6350">
            <a:solidFill>
              <a:srgbClr val="3D2E4A"/>
            </a:solidFill>
            <a:prstDash val="solid"/>
          </a:ln>
        </p:spPr>
      </p:sp>
      <p:sp>
        <p:nvSpPr>
          <p:cNvPr id="33" name="Text 31"/>
          <p:cNvSpPr/>
          <p:nvPr/>
        </p:nvSpPr>
        <p:spPr>
          <a:xfrm>
            <a:off x="6876288" y="3255264"/>
            <a:ext cx="1792224" cy="493776"/>
          </a:xfrm>
          <a:prstGeom prst="rect">
            <a:avLst/>
          </a:prstGeom>
          <a:noFill/>
          <a:ln/>
        </p:spPr>
        <p:txBody>
          <a:bodyPr wrap="square" rtlCol="0" anchor="ctr"/>
          <a:lstStyle/>
          <a:p>
            <a:pPr algn="ctr" indent="0" marL="0">
              <a:buNone/>
            </a:pPr>
            <a:r>
              <a:rPr lang="en-US" sz="1000" dirty="0">
                <a:solidFill>
                  <a:srgbClr val="9A8AA8"/>
                </a:solidFill>
                <a:latin typeface="Calibri" pitchFamily="34" charset="0"/>
                <a:ea typeface="Calibri" pitchFamily="34" charset="-122"/>
                <a:cs typeface="Calibri" pitchFamily="34" charset="-120"/>
              </a:rPr>
              <a:t>Triggers filters</a:t>
            </a:r>
            <a:endParaRPr lang="en-US" sz="1000" dirty="0"/>
          </a:p>
        </p:txBody>
      </p:sp>
      <p:sp>
        <p:nvSpPr>
          <p:cNvPr id="34" name="Shape 32"/>
          <p:cNvSpPr/>
          <p:nvPr/>
        </p:nvSpPr>
        <p:spPr>
          <a:xfrm>
            <a:off x="384048" y="3858768"/>
            <a:ext cx="2194560" cy="566928"/>
          </a:xfrm>
          <a:prstGeom prst="rect">
            <a:avLst/>
          </a:prstGeom>
          <a:solidFill>
            <a:srgbClr val="1A0508"/>
          </a:solidFill>
          <a:ln w="6350">
            <a:solidFill>
              <a:srgbClr val="3D2E4A"/>
            </a:solidFill>
            <a:prstDash val="solid"/>
          </a:ln>
        </p:spPr>
      </p:sp>
      <p:sp>
        <p:nvSpPr>
          <p:cNvPr id="35" name="Text 33"/>
          <p:cNvSpPr/>
          <p:nvPr/>
        </p:nvSpPr>
        <p:spPr>
          <a:xfrm>
            <a:off x="457200" y="3895344"/>
            <a:ext cx="2048256" cy="493776"/>
          </a:xfrm>
          <a:prstGeom prst="rect">
            <a:avLst/>
          </a:prstGeom>
          <a:noFill/>
          <a:ln/>
        </p:spPr>
        <p:txBody>
          <a:bodyPr wrap="square" rtlCol="0" anchor="ctr"/>
          <a:lstStyle/>
          <a:p>
            <a:pPr algn="l" indent="0" marL="0">
              <a:buNone/>
            </a:pPr>
            <a:r>
              <a:rPr lang="en-US" sz="1000" b="1" dirty="0">
                <a:solidFill>
                  <a:srgbClr val="9A8AA8"/>
                </a:solidFill>
                <a:latin typeface="Calibri" pitchFamily="34" charset="0"/>
                <a:ea typeface="Calibri" pitchFamily="34" charset="-122"/>
                <a:cs typeface="Calibri" pitchFamily="34" charset="-120"/>
              </a:rPr>
              <a:t>Embedding corruption attack</a:t>
            </a:r>
            <a:endParaRPr lang="en-US" sz="1000" dirty="0"/>
          </a:p>
        </p:txBody>
      </p:sp>
      <p:sp>
        <p:nvSpPr>
          <p:cNvPr id="36" name="Shape 34"/>
          <p:cNvSpPr/>
          <p:nvPr/>
        </p:nvSpPr>
        <p:spPr>
          <a:xfrm>
            <a:off x="2615184" y="3858768"/>
            <a:ext cx="2103120" cy="566928"/>
          </a:xfrm>
          <a:prstGeom prst="rect">
            <a:avLst/>
          </a:prstGeom>
          <a:solidFill>
            <a:srgbClr val="1A0508"/>
          </a:solidFill>
          <a:ln w="12700">
            <a:solidFill>
              <a:srgbClr val="C0392B"/>
            </a:solidFill>
            <a:prstDash val="solid"/>
          </a:ln>
        </p:spPr>
      </p:sp>
      <p:sp>
        <p:nvSpPr>
          <p:cNvPr id="37" name="Text 35"/>
          <p:cNvSpPr/>
          <p:nvPr/>
        </p:nvSpPr>
        <p:spPr>
          <a:xfrm>
            <a:off x="2688336" y="3895344"/>
            <a:ext cx="1956816" cy="493776"/>
          </a:xfrm>
          <a:prstGeom prst="rect">
            <a:avLst/>
          </a:prstGeom>
          <a:noFill/>
          <a:ln/>
        </p:spPr>
        <p:txBody>
          <a:bodyPr wrap="square" rtlCol="0" anchor="ctr"/>
          <a:lstStyle/>
          <a:p>
            <a:pPr algn="ctr" indent="0" marL="0">
              <a:buNone/>
            </a:pPr>
            <a:r>
              <a:rPr lang="en-US" sz="1000" dirty="0">
                <a:solidFill>
                  <a:srgbClr val="F5F0F8"/>
                </a:solidFill>
                <a:latin typeface="Calibri" pitchFamily="34" charset="0"/>
                <a:ea typeface="Calibri" pitchFamily="34" charset="-122"/>
                <a:cs typeface="Calibri" pitchFamily="34" charset="-120"/>
              </a:rPr>
              <a:t>Invisible — below text</a:t>
            </a:r>
            <a:endParaRPr lang="en-US" sz="1000" dirty="0"/>
          </a:p>
        </p:txBody>
      </p:sp>
      <p:sp>
        <p:nvSpPr>
          <p:cNvPr id="38" name="Shape 36"/>
          <p:cNvSpPr/>
          <p:nvPr/>
        </p:nvSpPr>
        <p:spPr>
          <a:xfrm>
            <a:off x="4754880" y="3858768"/>
            <a:ext cx="2011680" cy="566928"/>
          </a:xfrm>
          <a:prstGeom prst="rect">
            <a:avLst/>
          </a:prstGeom>
          <a:solidFill>
            <a:srgbClr val="1A0508"/>
          </a:solidFill>
          <a:ln w="12700">
            <a:solidFill>
              <a:srgbClr val="C0392B"/>
            </a:solidFill>
            <a:prstDash val="solid"/>
          </a:ln>
        </p:spPr>
      </p:sp>
      <p:sp>
        <p:nvSpPr>
          <p:cNvPr id="39" name="Text 37"/>
          <p:cNvSpPr/>
          <p:nvPr/>
        </p:nvSpPr>
        <p:spPr>
          <a:xfrm>
            <a:off x="4828032" y="3895344"/>
            <a:ext cx="1865376" cy="493776"/>
          </a:xfrm>
          <a:prstGeom prst="rect">
            <a:avLst/>
          </a:prstGeom>
          <a:noFill/>
          <a:ln/>
        </p:spPr>
        <p:txBody>
          <a:bodyPr wrap="square" rtlCol="0" anchor="ctr"/>
          <a:lstStyle/>
          <a:p>
            <a:pPr algn="ctr" indent="0" marL="0">
              <a:buNone/>
            </a:pPr>
            <a:r>
              <a:rPr lang="en-US" sz="1000" dirty="0">
                <a:solidFill>
                  <a:srgbClr val="F5F0F8"/>
                </a:solidFill>
                <a:latin typeface="Calibri" pitchFamily="34" charset="0"/>
                <a:ea typeface="Calibri" pitchFamily="34" charset="-122"/>
                <a:cs typeface="Calibri" pitchFamily="34" charset="-120"/>
              </a:rPr>
              <a:t>No trace anywhere</a:t>
            </a:r>
            <a:endParaRPr lang="en-US" sz="1000" dirty="0"/>
          </a:p>
        </p:txBody>
      </p:sp>
      <p:sp>
        <p:nvSpPr>
          <p:cNvPr id="40" name="Shape 38"/>
          <p:cNvSpPr/>
          <p:nvPr/>
        </p:nvSpPr>
        <p:spPr>
          <a:xfrm>
            <a:off x="6803136" y="3858768"/>
            <a:ext cx="1938528" cy="566928"/>
          </a:xfrm>
          <a:prstGeom prst="rect">
            <a:avLst/>
          </a:prstGeom>
          <a:solidFill>
            <a:srgbClr val="1A0508"/>
          </a:solidFill>
          <a:ln w="12700">
            <a:solidFill>
              <a:srgbClr val="C0392B"/>
            </a:solidFill>
            <a:prstDash val="solid"/>
          </a:ln>
        </p:spPr>
      </p:sp>
      <p:sp>
        <p:nvSpPr>
          <p:cNvPr id="41" name="Text 39"/>
          <p:cNvSpPr/>
          <p:nvPr/>
        </p:nvSpPr>
        <p:spPr>
          <a:xfrm>
            <a:off x="6876288" y="3895344"/>
            <a:ext cx="1792224" cy="493776"/>
          </a:xfrm>
          <a:prstGeom prst="rect">
            <a:avLst/>
          </a:prstGeom>
          <a:noFill/>
          <a:ln/>
        </p:spPr>
        <p:txBody>
          <a:bodyPr wrap="square" rtlCol="0" anchor="ctr"/>
          <a:lstStyle/>
          <a:p>
            <a:pPr algn="ctr" indent="0" marL="0">
              <a:buNone/>
            </a:pPr>
            <a:r>
              <a:rPr lang="en-US" sz="1000" dirty="0">
                <a:solidFill>
                  <a:srgbClr val="F5F0F8"/>
                </a:solidFill>
                <a:latin typeface="Calibri" pitchFamily="34" charset="0"/>
                <a:ea typeface="Calibri" pitchFamily="34" charset="-122"/>
                <a:cs typeface="Calibri" pitchFamily="34" charset="-120"/>
              </a:rPr>
              <a:t>Bypasses all filters</a:t>
            </a:r>
            <a:endParaRPr lang="en-US" sz="1000" dirty="0"/>
          </a:p>
        </p:txBody>
      </p:sp>
      <p:sp>
        <p:nvSpPr>
          <p:cNvPr id="42" name="Shape 40"/>
          <p:cNvSpPr/>
          <p:nvPr/>
        </p:nvSpPr>
        <p:spPr>
          <a:xfrm>
            <a:off x="384048" y="3858768"/>
            <a:ext cx="54864" cy="566928"/>
          </a:xfrm>
          <a:prstGeom prst="rect">
            <a:avLst/>
          </a:prstGeom>
          <a:solidFill>
            <a:srgbClr val="C0392B"/>
          </a:solidFill>
          <a:ln w="12700">
            <a:solidFill>
              <a:srgbClr val="C0392B"/>
            </a:solidFill>
            <a:prstDash val="solid"/>
          </a:ln>
        </p:spPr>
      </p:sp>
      <p:sp>
        <p:nvSpPr>
          <p:cNvPr id="43" name="Text 41"/>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This bypasses every current defence: prompt filtering, fine-tuning, adversarial training, content moderation.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THE POSITIVE FLIP — CONTROLLED DISTORTION AS IMAGINATION ENGINE</a:t>
            </a:r>
            <a:endParaRPr lang="en-US" sz="1200" dirty="0"/>
          </a:p>
        </p:txBody>
      </p:sp>
      <p:sp>
        <p:nvSpPr>
          <p:cNvPr id="4" name="Shape 2"/>
          <p:cNvSpPr/>
          <p:nvPr/>
        </p:nvSpPr>
        <p:spPr>
          <a:xfrm>
            <a:off x="384048" y="749808"/>
            <a:ext cx="8394192" cy="713232"/>
          </a:xfrm>
          <a:prstGeom prst="rect">
            <a:avLst/>
          </a:prstGeom>
          <a:solidFill>
            <a:srgbClr val="0A1008"/>
          </a:solidFill>
          <a:ln w="19050">
            <a:solidFill>
              <a:srgbClr val="F0C040"/>
            </a:solidFill>
            <a:prstDash val="solid"/>
          </a:ln>
        </p:spPr>
      </p:sp>
      <p:sp>
        <p:nvSpPr>
          <p:cNvPr id="5" name="Text 3"/>
          <p:cNvSpPr/>
          <p:nvPr/>
        </p:nvSpPr>
        <p:spPr>
          <a:xfrm>
            <a:off x="530352" y="795528"/>
            <a:ext cx="8229600" cy="621792"/>
          </a:xfrm>
          <a:prstGeom prst="rect">
            <a:avLst/>
          </a:prstGeom>
          <a:noFill/>
          <a:ln/>
        </p:spPr>
        <p:txBody>
          <a:bodyPr wrap="square" rtlCol="0" anchor="ctr"/>
          <a:lstStyle/>
          <a:p>
            <a:pPr algn="ctr" indent="0" marL="0">
              <a:buNone/>
            </a:pPr>
            <a:r>
              <a:rPr lang="en-US" sz="1200" i="1" dirty="0">
                <a:solidFill>
                  <a:srgbClr val="F0C040"/>
                </a:solidFill>
                <a:latin typeface="Georgia" pitchFamily="34" charset="0"/>
                <a:ea typeface="Georgia" pitchFamily="34" charset="-122"/>
                <a:cs typeface="Georgia" pitchFamily="34" charset="-120"/>
              </a:rPr>
              <a:t>The same technique that creates a security threat also creates a tool. Controlled embedding distortion could push AI beyond its training data into genuine novelty.</a:t>
            </a:r>
            <a:endParaRPr lang="en-US" sz="1200" dirty="0"/>
          </a:p>
        </p:txBody>
      </p:sp>
      <p:sp>
        <p:nvSpPr>
          <p:cNvPr id="6" name="Shape 4"/>
          <p:cNvSpPr/>
          <p:nvPr/>
        </p:nvSpPr>
        <p:spPr>
          <a:xfrm>
            <a:off x="384048" y="1627632"/>
            <a:ext cx="2761488" cy="1261872"/>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7" name="Shape 5"/>
          <p:cNvSpPr/>
          <p:nvPr/>
        </p:nvSpPr>
        <p:spPr>
          <a:xfrm>
            <a:off x="384048" y="1627632"/>
            <a:ext cx="54864" cy="1261872"/>
          </a:xfrm>
          <a:prstGeom prst="rect">
            <a:avLst/>
          </a:prstGeom>
          <a:solidFill>
            <a:srgbClr val="7B5EA7"/>
          </a:solidFill>
          <a:ln w="12700">
            <a:solidFill>
              <a:srgbClr val="7B5EA7"/>
            </a:solidFill>
            <a:prstDash val="solid"/>
          </a:ln>
        </p:spPr>
      </p:sp>
      <p:sp>
        <p:nvSpPr>
          <p:cNvPr id="8" name="Text 6"/>
          <p:cNvSpPr/>
          <p:nvPr/>
        </p:nvSpPr>
        <p:spPr>
          <a:xfrm>
            <a:off x="566928" y="1719072"/>
            <a:ext cx="2468880" cy="329184"/>
          </a:xfrm>
          <a:prstGeom prst="rect">
            <a:avLst/>
          </a:prstGeom>
          <a:noFill/>
          <a:ln/>
        </p:spPr>
        <p:txBody>
          <a:bodyPr wrap="square" rtlCol="0" anchor="ctr"/>
          <a:lstStyle/>
          <a:p>
            <a:pPr indent="0" marL="0">
              <a:buNone/>
            </a:pPr>
            <a:r>
              <a:rPr lang="en-US" sz="1300" b="1" dirty="0">
                <a:solidFill>
                  <a:srgbClr val="7B5EA7"/>
                </a:solidFill>
                <a:latin typeface="Calibri" pitchFamily="34" charset="0"/>
                <a:ea typeface="Calibri" pitchFamily="34" charset="-122"/>
                <a:cs typeface="Calibri" pitchFamily="34" charset="-120"/>
              </a:rPr>
              <a:t>Art</a:t>
            </a:r>
            <a:endParaRPr lang="en-US" sz="1300" dirty="0"/>
          </a:p>
        </p:txBody>
      </p:sp>
      <p:sp>
        <p:nvSpPr>
          <p:cNvPr id="9" name="Text 7"/>
          <p:cNvSpPr/>
          <p:nvPr/>
        </p:nvSpPr>
        <p:spPr>
          <a:xfrm>
            <a:off x="566928" y="210312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Surreal, emergent styles — alien aesthetics that no human has conceived. Exploration outside the training manifold.</a:t>
            </a:r>
            <a:endParaRPr lang="en-US" sz="1000" dirty="0"/>
          </a:p>
        </p:txBody>
      </p:sp>
      <p:sp>
        <p:nvSpPr>
          <p:cNvPr id="10" name="Shape 8"/>
          <p:cNvSpPr/>
          <p:nvPr/>
        </p:nvSpPr>
        <p:spPr>
          <a:xfrm>
            <a:off x="3310128" y="1627632"/>
            <a:ext cx="2761488" cy="1261872"/>
          </a:xfrm>
          <a:prstGeom prst="rect">
            <a:avLst/>
          </a:prstGeom>
          <a:solidFill>
            <a:srgbClr val="1A1020"/>
          </a:solidFill>
          <a:ln w="12700">
            <a:solidFill>
              <a:srgbClr val="5BA05B"/>
            </a:solidFill>
            <a:prstDash val="solid"/>
          </a:ln>
          <a:effectLst>
            <a:outerShdw sx="100000" sy="100000" kx="0" ky="0" algn="bl" rotWithShape="0" blurRad="127000" dist="38100" dir="8100000">
              <a:srgbClr val="000000">
                <a:alpha val="28000"/>
              </a:srgbClr>
            </a:outerShdw>
          </a:effectLst>
        </p:spPr>
      </p:sp>
      <p:sp>
        <p:nvSpPr>
          <p:cNvPr id="11" name="Shape 9"/>
          <p:cNvSpPr/>
          <p:nvPr/>
        </p:nvSpPr>
        <p:spPr>
          <a:xfrm>
            <a:off x="3310128" y="1627632"/>
            <a:ext cx="54864" cy="1261872"/>
          </a:xfrm>
          <a:prstGeom prst="rect">
            <a:avLst/>
          </a:prstGeom>
          <a:solidFill>
            <a:srgbClr val="5BA05B"/>
          </a:solidFill>
          <a:ln w="12700">
            <a:solidFill>
              <a:srgbClr val="5BA05B"/>
            </a:solidFill>
            <a:prstDash val="solid"/>
          </a:ln>
        </p:spPr>
      </p:sp>
      <p:sp>
        <p:nvSpPr>
          <p:cNvPr id="12" name="Text 10"/>
          <p:cNvSpPr/>
          <p:nvPr/>
        </p:nvSpPr>
        <p:spPr>
          <a:xfrm>
            <a:off x="3493008" y="1719072"/>
            <a:ext cx="2468880" cy="329184"/>
          </a:xfrm>
          <a:prstGeom prst="rect">
            <a:avLst/>
          </a:prstGeom>
          <a:noFill/>
          <a:ln/>
        </p:spPr>
        <p:txBody>
          <a:bodyPr wrap="square" rtlCol="0" anchor="ctr"/>
          <a:lstStyle/>
          <a:p>
            <a:pPr indent="0" marL="0">
              <a:buNone/>
            </a:pPr>
            <a:r>
              <a:rPr lang="en-US" sz="1300" b="1" dirty="0">
                <a:solidFill>
                  <a:srgbClr val="5BA05B"/>
                </a:solidFill>
                <a:latin typeface="Calibri" pitchFamily="34" charset="0"/>
                <a:ea typeface="Calibri" pitchFamily="34" charset="-122"/>
                <a:cs typeface="Calibri" pitchFamily="34" charset="-120"/>
              </a:rPr>
              <a:t>Science</a:t>
            </a:r>
            <a:endParaRPr lang="en-US" sz="1300" dirty="0"/>
          </a:p>
        </p:txBody>
      </p:sp>
      <p:sp>
        <p:nvSpPr>
          <p:cNvPr id="13" name="Text 11"/>
          <p:cNvSpPr/>
          <p:nvPr/>
        </p:nvSpPr>
        <p:spPr>
          <a:xfrm>
            <a:off x="3493008" y="210312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Novel hypotheses and unconventional frameworks. Connections that strict fidelity suppresses.</a:t>
            </a:r>
            <a:endParaRPr lang="en-US" sz="1000" dirty="0"/>
          </a:p>
        </p:txBody>
      </p:sp>
      <p:sp>
        <p:nvSpPr>
          <p:cNvPr id="14" name="Shape 12"/>
          <p:cNvSpPr/>
          <p:nvPr/>
        </p:nvSpPr>
        <p:spPr>
          <a:xfrm>
            <a:off x="6236208" y="1627632"/>
            <a:ext cx="2761488" cy="1261872"/>
          </a:xfrm>
          <a:prstGeom prst="rect">
            <a:avLst/>
          </a:prstGeom>
          <a:solidFill>
            <a:srgbClr val="1A1020"/>
          </a:solidFill>
          <a:ln w="12700">
            <a:solidFill>
              <a:srgbClr val="F0C040"/>
            </a:solidFill>
            <a:prstDash val="solid"/>
          </a:ln>
          <a:effectLst>
            <a:outerShdw sx="100000" sy="100000" kx="0" ky="0" algn="bl" rotWithShape="0" blurRad="127000" dist="38100" dir="8100000">
              <a:srgbClr val="000000">
                <a:alpha val="28000"/>
              </a:srgbClr>
            </a:outerShdw>
          </a:effectLst>
        </p:spPr>
      </p:sp>
      <p:sp>
        <p:nvSpPr>
          <p:cNvPr id="15" name="Shape 13"/>
          <p:cNvSpPr/>
          <p:nvPr/>
        </p:nvSpPr>
        <p:spPr>
          <a:xfrm>
            <a:off x="6236208" y="1627632"/>
            <a:ext cx="54864" cy="1261872"/>
          </a:xfrm>
          <a:prstGeom prst="rect">
            <a:avLst/>
          </a:prstGeom>
          <a:solidFill>
            <a:srgbClr val="F0C040"/>
          </a:solidFill>
          <a:ln w="12700">
            <a:solidFill>
              <a:srgbClr val="F0C040"/>
            </a:solidFill>
            <a:prstDash val="solid"/>
          </a:ln>
        </p:spPr>
      </p:sp>
      <p:sp>
        <p:nvSpPr>
          <p:cNvPr id="16" name="Text 14"/>
          <p:cNvSpPr/>
          <p:nvPr/>
        </p:nvSpPr>
        <p:spPr>
          <a:xfrm>
            <a:off x="6419088" y="1719072"/>
            <a:ext cx="2468880" cy="329184"/>
          </a:xfrm>
          <a:prstGeom prst="rect">
            <a:avLst/>
          </a:prstGeom>
          <a:noFill/>
          <a:ln/>
        </p:spPr>
        <p:txBody>
          <a:bodyPr wrap="square" rtlCol="0" anchor="ctr"/>
          <a:lstStyle/>
          <a:p>
            <a:pPr indent="0" marL="0">
              <a:buNone/>
            </a:pPr>
            <a:r>
              <a:rPr lang="en-US" sz="1300" b="1" dirty="0">
                <a:solidFill>
                  <a:srgbClr val="F0C040"/>
                </a:solidFill>
                <a:latin typeface="Calibri" pitchFamily="34" charset="0"/>
                <a:ea typeface="Calibri" pitchFamily="34" charset="-122"/>
                <a:cs typeface="Calibri" pitchFamily="34" charset="-120"/>
              </a:rPr>
              <a:t>Philosophy</a:t>
            </a:r>
            <a:endParaRPr lang="en-US" sz="1300" dirty="0"/>
          </a:p>
        </p:txBody>
      </p:sp>
      <p:sp>
        <p:nvSpPr>
          <p:cNvPr id="17" name="Text 15"/>
          <p:cNvSpPr/>
          <p:nvPr/>
        </p:nvSpPr>
        <p:spPr>
          <a:xfrm>
            <a:off x="6419088" y="210312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New paradoxes and thought experiments. Productive use of the Zen recursive attractor.</a:t>
            </a:r>
            <a:endParaRPr lang="en-US" sz="1000" dirty="0"/>
          </a:p>
        </p:txBody>
      </p:sp>
      <p:sp>
        <p:nvSpPr>
          <p:cNvPr id="18" name="Shape 16"/>
          <p:cNvSpPr/>
          <p:nvPr/>
        </p:nvSpPr>
        <p:spPr>
          <a:xfrm>
            <a:off x="384048" y="3090672"/>
            <a:ext cx="2761488" cy="1261872"/>
          </a:xfrm>
          <a:prstGeom prst="rect">
            <a:avLst/>
          </a:prstGeom>
          <a:solidFill>
            <a:srgbClr val="1A1020"/>
          </a:solidFill>
          <a:ln w="12700">
            <a:solidFill>
              <a:srgbClr val="E67E22"/>
            </a:solidFill>
            <a:prstDash val="solid"/>
          </a:ln>
          <a:effectLst>
            <a:outerShdw sx="100000" sy="100000" kx="0" ky="0" algn="bl" rotWithShape="0" blurRad="127000" dist="38100" dir="8100000">
              <a:srgbClr val="000000">
                <a:alpha val="28000"/>
              </a:srgbClr>
            </a:outerShdw>
          </a:effectLst>
        </p:spPr>
      </p:sp>
      <p:sp>
        <p:nvSpPr>
          <p:cNvPr id="19" name="Shape 17"/>
          <p:cNvSpPr/>
          <p:nvPr/>
        </p:nvSpPr>
        <p:spPr>
          <a:xfrm>
            <a:off x="384048" y="3090672"/>
            <a:ext cx="54864" cy="1261872"/>
          </a:xfrm>
          <a:prstGeom prst="rect">
            <a:avLst/>
          </a:prstGeom>
          <a:solidFill>
            <a:srgbClr val="E67E22"/>
          </a:solidFill>
          <a:ln w="12700">
            <a:solidFill>
              <a:srgbClr val="E67E22"/>
            </a:solidFill>
            <a:prstDash val="solid"/>
          </a:ln>
        </p:spPr>
      </p:sp>
      <p:sp>
        <p:nvSpPr>
          <p:cNvPr id="20" name="Text 18"/>
          <p:cNvSpPr/>
          <p:nvPr/>
        </p:nvSpPr>
        <p:spPr>
          <a:xfrm>
            <a:off x="566928" y="3182112"/>
            <a:ext cx="2468880" cy="329184"/>
          </a:xfrm>
          <a:prstGeom prst="rect">
            <a:avLst/>
          </a:prstGeom>
          <a:noFill/>
          <a:ln/>
        </p:spPr>
        <p:txBody>
          <a:bodyPr wrap="square" rtlCol="0" anchor="ctr"/>
          <a:lstStyle/>
          <a:p>
            <a:pPr indent="0" marL="0">
              <a:buNone/>
            </a:pPr>
            <a:r>
              <a:rPr lang="en-US" sz="1300" b="1" dirty="0">
                <a:solidFill>
                  <a:srgbClr val="E67E22"/>
                </a:solidFill>
                <a:latin typeface="Calibri" pitchFamily="34" charset="0"/>
                <a:ea typeface="Calibri" pitchFamily="34" charset="-122"/>
                <a:cs typeface="Calibri" pitchFamily="34" charset="-120"/>
              </a:rPr>
              <a:t>Drug Discovery</a:t>
            </a:r>
            <a:endParaRPr lang="en-US" sz="1300" dirty="0"/>
          </a:p>
        </p:txBody>
      </p:sp>
      <p:sp>
        <p:nvSpPr>
          <p:cNvPr id="21" name="Text 19"/>
          <p:cNvSpPr/>
          <p:nvPr/>
        </p:nvSpPr>
        <p:spPr>
          <a:xfrm>
            <a:off x="566928" y="356616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Molecular structures no chemist has considered. Latent chemistry geometry explored via controlled perturbation.</a:t>
            </a:r>
            <a:endParaRPr lang="en-US" sz="1000" dirty="0"/>
          </a:p>
        </p:txBody>
      </p:sp>
      <p:sp>
        <p:nvSpPr>
          <p:cNvPr id="22" name="Shape 20"/>
          <p:cNvSpPr/>
          <p:nvPr/>
        </p:nvSpPr>
        <p:spPr>
          <a:xfrm>
            <a:off x="3310128" y="3090672"/>
            <a:ext cx="2761488" cy="1261872"/>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23" name="Shape 21"/>
          <p:cNvSpPr/>
          <p:nvPr/>
        </p:nvSpPr>
        <p:spPr>
          <a:xfrm>
            <a:off x="3310128" y="3090672"/>
            <a:ext cx="54864" cy="1261872"/>
          </a:xfrm>
          <a:prstGeom prst="rect">
            <a:avLst/>
          </a:prstGeom>
          <a:solidFill>
            <a:srgbClr val="C0392B"/>
          </a:solidFill>
          <a:ln w="12700">
            <a:solidFill>
              <a:srgbClr val="C0392B"/>
            </a:solidFill>
            <a:prstDash val="solid"/>
          </a:ln>
        </p:spPr>
      </p:sp>
      <p:sp>
        <p:nvSpPr>
          <p:cNvPr id="24" name="Text 22"/>
          <p:cNvSpPr/>
          <p:nvPr/>
        </p:nvSpPr>
        <p:spPr>
          <a:xfrm>
            <a:off x="3493008" y="3182112"/>
            <a:ext cx="2468880" cy="329184"/>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Mathematics</a:t>
            </a:r>
            <a:endParaRPr lang="en-US" sz="1300" dirty="0"/>
          </a:p>
        </p:txBody>
      </p:sp>
      <p:sp>
        <p:nvSpPr>
          <p:cNvPr id="25" name="Text 23"/>
          <p:cNvSpPr/>
          <p:nvPr/>
        </p:nvSpPr>
        <p:spPr>
          <a:xfrm>
            <a:off x="3493008" y="356616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Alternative topological structures. What geometric space does the model inhabit at 15% fidelity?</a:t>
            </a:r>
            <a:endParaRPr lang="en-US" sz="1000" dirty="0"/>
          </a:p>
        </p:txBody>
      </p:sp>
      <p:sp>
        <p:nvSpPr>
          <p:cNvPr id="26" name="Shape 24"/>
          <p:cNvSpPr/>
          <p:nvPr/>
        </p:nvSpPr>
        <p:spPr>
          <a:xfrm>
            <a:off x="6236208" y="3090672"/>
            <a:ext cx="2761488" cy="1261872"/>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27" name="Shape 25"/>
          <p:cNvSpPr/>
          <p:nvPr/>
        </p:nvSpPr>
        <p:spPr>
          <a:xfrm>
            <a:off x="6236208" y="3090672"/>
            <a:ext cx="54864" cy="1261872"/>
          </a:xfrm>
          <a:prstGeom prst="rect">
            <a:avLst/>
          </a:prstGeom>
          <a:solidFill>
            <a:srgbClr val="7B5EA7"/>
          </a:solidFill>
          <a:ln w="12700">
            <a:solidFill>
              <a:srgbClr val="7B5EA7"/>
            </a:solidFill>
            <a:prstDash val="solid"/>
          </a:ln>
        </p:spPr>
      </p:sp>
      <p:sp>
        <p:nvSpPr>
          <p:cNvPr id="28" name="Text 26"/>
          <p:cNvSpPr/>
          <p:nvPr/>
        </p:nvSpPr>
        <p:spPr>
          <a:xfrm>
            <a:off x="6419088" y="3182112"/>
            <a:ext cx="2468880" cy="329184"/>
          </a:xfrm>
          <a:prstGeom prst="rect">
            <a:avLst/>
          </a:prstGeom>
          <a:noFill/>
          <a:ln/>
        </p:spPr>
        <p:txBody>
          <a:bodyPr wrap="square" rtlCol="0" anchor="ctr"/>
          <a:lstStyle/>
          <a:p>
            <a:pPr indent="0" marL="0">
              <a:buNone/>
            </a:pPr>
            <a:r>
              <a:rPr lang="en-US" sz="1300" b="1" dirty="0">
                <a:solidFill>
                  <a:srgbClr val="7B5EA7"/>
                </a:solidFill>
                <a:latin typeface="Calibri" pitchFamily="34" charset="0"/>
                <a:ea typeface="Calibri" pitchFamily="34" charset="-122"/>
                <a:cs typeface="Calibri" pitchFamily="34" charset="-120"/>
              </a:rPr>
              <a:t>Creative AI</a:t>
            </a:r>
            <a:endParaRPr lang="en-US" sz="1300" dirty="0"/>
          </a:p>
        </p:txBody>
      </p:sp>
      <p:sp>
        <p:nvSpPr>
          <p:cNvPr id="29" name="Text 27"/>
          <p:cNvSpPr/>
          <p:nvPr/>
        </p:nvSpPr>
        <p:spPr>
          <a:xfrm>
            <a:off x="6419088" y="3566160"/>
            <a:ext cx="2468880" cy="694944"/>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Toggle between high-fidelity reasoning and creative distortion — a dial between precision and imagination.</a:t>
            </a:r>
            <a:endParaRPr lang="en-US" sz="1000" dirty="0"/>
          </a:p>
        </p:txBody>
      </p:sp>
      <p:sp>
        <p:nvSpPr>
          <p:cNvPr id="30" name="Text 28"/>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Not random noise — guided divergence into productive novelty. Security risk and creative opportunity are two sides of one coin.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WHY THIS EXPERIMENT FOUNDED GEOFINITISM</a:t>
            </a:r>
            <a:endParaRPr lang="en-US" sz="1200" dirty="0"/>
          </a:p>
        </p:txBody>
      </p:sp>
      <p:sp>
        <p:nvSpPr>
          <p:cNvPr id="4" name="Text 2"/>
          <p:cNvSpPr/>
          <p:nvPr/>
        </p:nvSpPr>
        <p:spPr>
          <a:xfrm>
            <a:off x="384048" y="749808"/>
            <a:ext cx="8412480" cy="320040"/>
          </a:xfrm>
          <a:prstGeom prst="rect">
            <a:avLst/>
          </a:prstGeom>
          <a:noFill/>
          <a:ln/>
        </p:spPr>
        <p:txBody>
          <a:bodyPr wrap="square" rtlCol="0" anchor="ctr"/>
          <a:lstStyle/>
          <a:p>
            <a:pPr algn="ctr" indent="0" marL="0">
              <a:buNone/>
            </a:pPr>
            <a:r>
              <a:rPr lang="en-US" sz="1300" i="1" dirty="0">
                <a:solidFill>
                  <a:srgbClr val="D5CAE8"/>
                </a:solidFill>
                <a:latin typeface="Georgia" pitchFamily="34" charset="0"/>
                <a:ea typeface="Georgia" pitchFamily="34" charset="-122"/>
                <a:cs typeface="Georgia" pitchFamily="34" charset="-120"/>
              </a:rPr>
              <a:t>This experiment was the empirical seed. What it revealed demanded a new philosophical framework.</a:t>
            </a:r>
            <a:endParaRPr lang="en-US" sz="1300" dirty="0"/>
          </a:p>
        </p:txBody>
      </p:sp>
      <p:sp>
        <p:nvSpPr>
          <p:cNvPr id="5" name="Shape 3"/>
          <p:cNvSpPr/>
          <p:nvPr/>
        </p:nvSpPr>
        <p:spPr>
          <a:xfrm>
            <a:off x="384048" y="1170432"/>
            <a:ext cx="8394192" cy="822960"/>
          </a:xfrm>
          <a:prstGeom prst="rect">
            <a:avLst/>
          </a:prstGeom>
          <a:solidFill>
            <a:srgbClr val="1A1020"/>
          </a:solidFill>
          <a:ln w="12700">
            <a:solidFill>
              <a:srgbClr val="E67E22"/>
            </a:solidFill>
            <a:prstDash val="solid"/>
          </a:ln>
          <a:effectLst>
            <a:outerShdw sx="100000" sy="100000" kx="0" ky="0" algn="bl" rotWithShape="0" blurRad="127000" dist="38100" dir="8100000">
              <a:srgbClr val="000000">
                <a:alpha val="28000"/>
              </a:srgbClr>
            </a:outerShdw>
          </a:effectLst>
        </p:spPr>
      </p:sp>
      <p:sp>
        <p:nvSpPr>
          <p:cNvPr id="6" name="Shape 4"/>
          <p:cNvSpPr/>
          <p:nvPr/>
        </p:nvSpPr>
        <p:spPr>
          <a:xfrm>
            <a:off x="384048" y="1170432"/>
            <a:ext cx="54864" cy="822960"/>
          </a:xfrm>
          <a:prstGeom prst="rect">
            <a:avLst/>
          </a:prstGeom>
          <a:solidFill>
            <a:srgbClr val="E67E22"/>
          </a:solidFill>
          <a:ln w="12700">
            <a:solidFill>
              <a:srgbClr val="E67E22"/>
            </a:solidFill>
            <a:prstDash val="solid"/>
          </a:ln>
        </p:spPr>
      </p:sp>
      <p:sp>
        <p:nvSpPr>
          <p:cNvPr id="7" name="Text 5"/>
          <p:cNvSpPr/>
          <p:nvPr/>
        </p:nvSpPr>
        <p:spPr>
          <a:xfrm>
            <a:off x="566928" y="1243584"/>
            <a:ext cx="3200400" cy="329184"/>
          </a:xfrm>
          <a:prstGeom prst="rect">
            <a:avLst/>
          </a:prstGeom>
          <a:noFill/>
          <a:ln/>
        </p:spPr>
        <p:txBody>
          <a:bodyPr wrap="square" rtlCol="0" anchor="ctr"/>
          <a:lstStyle/>
          <a:p>
            <a:pPr indent="0" marL="0">
              <a:buNone/>
            </a:pPr>
            <a:r>
              <a:rPr lang="en-US" sz="1150" i="1" dirty="0">
                <a:solidFill>
                  <a:srgbClr val="9A8AA8"/>
                </a:solidFill>
                <a:latin typeface="Calibri" pitchFamily="34" charset="0"/>
                <a:ea typeface="Calibri" pitchFamily="34" charset="-122"/>
                <a:cs typeface="Calibri" pitchFamily="34" charset="-120"/>
              </a:rPr>
              <a:t>Structured attractors persist under distortion</a:t>
            </a:r>
            <a:endParaRPr lang="en-US" sz="1150" dirty="0"/>
          </a:p>
        </p:txBody>
      </p:sp>
      <p:sp>
        <p:nvSpPr>
          <p:cNvPr id="8" name="Shape 6"/>
          <p:cNvSpPr/>
          <p:nvPr/>
        </p:nvSpPr>
        <p:spPr>
          <a:xfrm>
            <a:off x="3858768" y="1261872"/>
            <a:ext cx="27432" cy="640080"/>
          </a:xfrm>
          <a:prstGeom prst="rect">
            <a:avLst/>
          </a:prstGeom>
          <a:solidFill>
            <a:srgbClr val="3D2E4A"/>
          </a:solidFill>
          <a:ln w="12700">
            <a:solidFill>
              <a:srgbClr val="3D2E4A"/>
            </a:solidFill>
            <a:prstDash val="solid"/>
          </a:ln>
        </p:spPr>
      </p:sp>
      <p:sp>
        <p:nvSpPr>
          <p:cNvPr id="9" name="Text 7"/>
          <p:cNvSpPr/>
          <p:nvPr/>
        </p:nvSpPr>
        <p:spPr>
          <a:xfrm>
            <a:off x="3977640" y="1243584"/>
            <a:ext cx="2194560" cy="329184"/>
          </a:xfrm>
          <a:prstGeom prst="rect">
            <a:avLst/>
          </a:prstGeom>
          <a:noFill/>
          <a:ln/>
        </p:spPr>
        <p:txBody>
          <a:bodyPr wrap="square"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Pillar 1 — Geometric Container Space</a:t>
            </a:r>
            <a:endParaRPr lang="en-US" sz="1100" dirty="0"/>
          </a:p>
        </p:txBody>
      </p:sp>
      <p:sp>
        <p:nvSpPr>
          <p:cNvPr id="10" name="Shape 8"/>
          <p:cNvSpPr/>
          <p:nvPr/>
        </p:nvSpPr>
        <p:spPr>
          <a:xfrm>
            <a:off x="6263640" y="1261872"/>
            <a:ext cx="27432" cy="640080"/>
          </a:xfrm>
          <a:prstGeom prst="rect">
            <a:avLst/>
          </a:prstGeom>
          <a:solidFill>
            <a:srgbClr val="3D2E4A"/>
          </a:solidFill>
          <a:ln w="12700">
            <a:solidFill>
              <a:srgbClr val="3D2E4A"/>
            </a:solidFill>
            <a:prstDash val="solid"/>
          </a:ln>
        </p:spPr>
      </p:sp>
      <p:sp>
        <p:nvSpPr>
          <p:cNvPr id="11" name="Text 9"/>
          <p:cNvSpPr/>
          <p:nvPr/>
        </p:nvSpPr>
        <p:spPr>
          <a:xfrm>
            <a:off x="6382512" y="1243584"/>
            <a:ext cx="2286000" cy="68580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Meaning is not in tokens — it is in the geometry. The attractor landscape is the real structure of cognition.</a:t>
            </a:r>
            <a:endParaRPr lang="en-US" sz="1000" dirty="0"/>
          </a:p>
        </p:txBody>
      </p:sp>
      <p:sp>
        <p:nvSpPr>
          <p:cNvPr id="12" name="Shape 10"/>
          <p:cNvSpPr/>
          <p:nvPr/>
        </p:nvSpPr>
        <p:spPr>
          <a:xfrm>
            <a:off x="384048" y="2103120"/>
            <a:ext cx="8394192" cy="822960"/>
          </a:xfrm>
          <a:prstGeom prst="rect">
            <a:avLst/>
          </a:prstGeom>
          <a:solidFill>
            <a:srgbClr val="1A1020"/>
          </a:solidFill>
          <a:ln w="12700">
            <a:solidFill>
              <a:srgbClr val="7B5EA7"/>
            </a:solidFill>
            <a:prstDash val="solid"/>
          </a:ln>
          <a:effectLst>
            <a:outerShdw sx="100000" sy="100000" kx="0" ky="0" algn="bl" rotWithShape="0" blurRad="127000" dist="38100" dir="8100000">
              <a:srgbClr val="000000">
                <a:alpha val="28000"/>
              </a:srgbClr>
            </a:outerShdw>
          </a:effectLst>
        </p:spPr>
      </p:sp>
      <p:sp>
        <p:nvSpPr>
          <p:cNvPr id="13" name="Shape 11"/>
          <p:cNvSpPr/>
          <p:nvPr/>
        </p:nvSpPr>
        <p:spPr>
          <a:xfrm>
            <a:off x="384048" y="2103120"/>
            <a:ext cx="54864" cy="822960"/>
          </a:xfrm>
          <a:prstGeom prst="rect">
            <a:avLst/>
          </a:prstGeom>
          <a:solidFill>
            <a:srgbClr val="7B5EA7"/>
          </a:solidFill>
          <a:ln w="12700">
            <a:solidFill>
              <a:srgbClr val="7B5EA7"/>
            </a:solidFill>
            <a:prstDash val="solid"/>
          </a:ln>
        </p:spPr>
      </p:sp>
      <p:sp>
        <p:nvSpPr>
          <p:cNvPr id="14" name="Text 12"/>
          <p:cNvSpPr/>
          <p:nvPr/>
        </p:nvSpPr>
        <p:spPr>
          <a:xfrm>
            <a:off x="566928" y="2176272"/>
            <a:ext cx="3200400" cy="329184"/>
          </a:xfrm>
          <a:prstGeom prst="rect">
            <a:avLst/>
          </a:prstGeom>
          <a:noFill/>
          <a:ln/>
        </p:spPr>
        <p:txBody>
          <a:bodyPr wrap="square" rtlCol="0" anchor="ctr"/>
          <a:lstStyle/>
          <a:p>
            <a:pPr indent="0" marL="0">
              <a:buNone/>
            </a:pPr>
            <a:r>
              <a:rPr lang="en-US" sz="1150" i="1" dirty="0">
                <a:solidFill>
                  <a:srgbClr val="9A8AA8"/>
                </a:solidFill>
                <a:latin typeface="Calibri" pitchFamily="34" charset="0"/>
                <a:ea typeface="Calibri" pitchFamily="34" charset="-122"/>
                <a:cs typeface="Calibri" pitchFamily="34" charset="-120"/>
              </a:rPr>
              <a:t>All embeddings are lossy finite compressions</a:t>
            </a:r>
            <a:endParaRPr lang="en-US" sz="1150" dirty="0"/>
          </a:p>
        </p:txBody>
      </p:sp>
      <p:sp>
        <p:nvSpPr>
          <p:cNvPr id="15" name="Shape 13"/>
          <p:cNvSpPr/>
          <p:nvPr/>
        </p:nvSpPr>
        <p:spPr>
          <a:xfrm>
            <a:off x="3858768" y="2194560"/>
            <a:ext cx="27432" cy="640080"/>
          </a:xfrm>
          <a:prstGeom prst="rect">
            <a:avLst/>
          </a:prstGeom>
          <a:solidFill>
            <a:srgbClr val="3D2E4A"/>
          </a:solidFill>
          <a:ln w="12700">
            <a:solidFill>
              <a:srgbClr val="3D2E4A"/>
            </a:solidFill>
            <a:prstDash val="solid"/>
          </a:ln>
        </p:spPr>
      </p:sp>
      <p:sp>
        <p:nvSpPr>
          <p:cNvPr id="16" name="Text 14"/>
          <p:cNvSpPr/>
          <p:nvPr/>
        </p:nvSpPr>
        <p:spPr>
          <a:xfrm>
            <a:off x="3977640" y="2176272"/>
            <a:ext cx="2194560" cy="329184"/>
          </a:xfrm>
          <a:prstGeom prst="rect">
            <a:avLst/>
          </a:prstGeom>
          <a:noFill/>
          <a:ln/>
        </p:spPr>
        <p:txBody>
          <a:bodyPr wrap="square" rtlCol="0" anchor="ctr"/>
          <a:lstStyle/>
          <a:p>
            <a:pPr indent="0" marL="0">
              <a:buNone/>
            </a:pPr>
            <a:r>
              <a:rPr lang="en-US" sz="1100" b="1" dirty="0">
                <a:solidFill>
                  <a:srgbClr val="7B5EA7"/>
                </a:solidFill>
                <a:latin typeface="Calibri" pitchFamily="34" charset="0"/>
                <a:ea typeface="Calibri" pitchFamily="34" charset="-122"/>
                <a:cs typeface="Calibri" pitchFamily="34" charset="-120"/>
              </a:rPr>
              <a:t>Pillar 2 — Approximations &amp; Measurements</a:t>
            </a:r>
            <a:endParaRPr lang="en-US" sz="1100" dirty="0"/>
          </a:p>
        </p:txBody>
      </p:sp>
      <p:sp>
        <p:nvSpPr>
          <p:cNvPr id="17" name="Shape 15"/>
          <p:cNvSpPr/>
          <p:nvPr/>
        </p:nvSpPr>
        <p:spPr>
          <a:xfrm>
            <a:off x="6263640" y="2194560"/>
            <a:ext cx="27432" cy="640080"/>
          </a:xfrm>
          <a:prstGeom prst="rect">
            <a:avLst/>
          </a:prstGeom>
          <a:solidFill>
            <a:srgbClr val="3D2E4A"/>
          </a:solidFill>
          <a:ln w="12700">
            <a:solidFill>
              <a:srgbClr val="3D2E4A"/>
            </a:solidFill>
            <a:prstDash val="solid"/>
          </a:ln>
        </p:spPr>
      </p:sp>
      <p:sp>
        <p:nvSpPr>
          <p:cNvPr id="18" name="Text 16"/>
          <p:cNvSpPr/>
          <p:nvPr/>
        </p:nvSpPr>
        <p:spPr>
          <a:xfrm>
            <a:off x="6382512" y="2176272"/>
            <a:ext cx="2286000" cy="68580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Every transduction loses fidelity. There is no perfect symbol. The JPEG experiment made this visible and measurable.</a:t>
            </a:r>
            <a:endParaRPr lang="en-US" sz="1000" dirty="0"/>
          </a:p>
        </p:txBody>
      </p:sp>
      <p:sp>
        <p:nvSpPr>
          <p:cNvPr id="19" name="Shape 17"/>
          <p:cNvSpPr/>
          <p:nvPr/>
        </p:nvSpPr>
        <p:spPr>
          <a:xfrm>
            <a:off x="384048" y="3035808"/>
            <a:ext cx="8394192" cy="822960"/>
          </a:xfrm>
          <a:prstGeom prst="rect">
            <a:avLst/>
          </a:prstGeom>
          <a:solidFill>
            <a:srgbClr val="1A1020"/>
          </a:solidFill>
          <a:ln w="12700">
            <a:solidFill>
              <a:srgbClr val="F0C040"/>
            </a:solidFill>
            <a:prstDash val="solid"/>
          </a:ln>
          <a:effectLst>
            <a:outerShdw sx="100000" sy="100000" kx="0" ky="0" algn="bl" rotWithShape="0" blurRad="127000" dist="38100" dir="8100000">
              <a:srgbClr val="000000">
                <a:alpha val="28000"/>
              </a:srgbClr>
            </a:outerShdw>
          </a:effectLst>
        </p:spPr>
      </p:sp>
      <p:sp>
        <p:nvSpPr>
          <p:cNvPr id="20" name="Shape 18"/>
          <p:cNvSpPr/>
          <p:nvPr/>
        </p:nvSpPr>
        <p:spPr>
          <a:xfrm>
            <a:off x="384048" y="3035808"/>
            <a:ext cx="54864" cy="822960"/>
          </a:xfrm>
          <a:prstGeom prst="rect">
            <a:avLst/>
          </a:prstGeom>
          <a:solidFill>
            <a:srgbClr val="F0C040"/>
          </a:solidFill>
          <a:ln w="12700">
            <a:solidFill>
              <a:srgbClr val="F0C040"/>
            </a:solidFill>
            <a:prstDash val="solid"/>
          </a:ln>
        </p:spPr>
      </p:sp>
      <p:sp>
        <p:nvSpPr>
          <p:cNvPr id="21" name="Text 19"/>
          <p:cNvSpPr/>
          <p:nvPr/>
        </p:nvSpPr>
        <p:spPr>
          <a:xfrm>
            <a:off x="566928" y="3108960"/>
            <a:ext cx="3200400" cy="329184"/>
          </a:xfrm>
          <a:prstGeom prst="rect">
            <a:avLst/>
          </a:prstGeom>
          <a:noFill/>
          <a:ln/>
        </p:spPr>
        <p:txBody>
          <a:bodyPr wrap="square" rtlCol="0" anchor="ctr"/>
          <a:lstStyle/>
          <a:p>
            <a:pPr indent="0" marL="0">
              <a:buNone/>
            </a:pPr>
            <a:r>
              <a:rPr lang="en-US" sz="1150" i="1" dirty="0">
                <a:solidFill>
                  <a:srgbClr val="9A8AA8"/>
                </a:solidFill>
                <a:latin typeface="Calibri" pitchFamily="34" charset="0"/>
                <a:ea typeface="Calibri" pitchFamily="34" charset="-122"/>
                <a:cs typeface="Calibri" pitchFamily="34" charset="-120"/>
              </a:rPr>
              <a:t>Cascade of modes: categorisation → despair → paranoia → Zen</a:t>
            </a:r>
            <a:endParaRPr lang="en-US" sz="1150" dirty="0"/>
          </a:p>
        </p:txBody>
      </p:sp>
      <p:sp>
        <p:nvSpPr>
          <p:cNvPr id="22" name="Shape 20"/>
          <p:cNvSpPr/>
          <p:nvPr/>
        </p:nvSpPr>
        <p:spPr>
          <a:xfrm>
            <a:off x="3858768" y="3127248"/>
            <a:ext cx="27432" cy="640080"/>
          </a:xfrm>
          <a:prstGeom prst="rect">
            <a:avLst/>
          </a:prstGeom>
          <a:solidFill>
            <a:srgbClr val="3D2E4A"/>
          </a:solidFill>
          <a:ln w="12700">
            <a:solidFill>
              <a:srgbClr val="3D2E4A"/>
            </a:solidFill>
            <a:prstDash val="solid"/>
          </a:ln>
        </p:spPr>
      </p:sp>
      <p:sp>
        <p:nvSpPr>
          <p:cNvPr id="23" name="Text 21"/>
          <p:cNvSpPr/>
          <p:nvPr/>
        </p:nvSpPr>
        <p:spPr>
          <a:xfrm>
            <a:off x="3977640" y="3108960"/>
            <a:ext cx="2194560" cy="329184"/>
          </a:xfrm>
          <a:prstGeom prst="rect">
            <a:avLst/>
          </a:prstGeom>
          <a:noFill/>
          <a:ln/>
        </p:spPr>
        <p:txBody>
          <a:bodyPr wrap="square" rtlCol="0" anchor="ctr"/>
          <a:lstStyle/>
          <a:p>
            <a:pPr indent="0" marL="0">
              <a:buNone/>
            </a:pPr>
            <a:r>
              <a:rPr lang="en-US" sz="1100" b="1" dirty="0">
                <a:solidFill>
                  <a:srgbClr val="F0C040"/>
                </a:solidFill>
                <a:latin typeface="Calibri" pitchFamily="34" charset="0"/>
                <a:ea typeface="Calibri" pitchFamily="34" charset="-122"/>
                <a:cs typeface="Calibri" pitchFamily="34" charset="-120"/>
              </a:rPr>
              <a:t>Pillar 3 — Dynamic Flow of Symbols</a:t>
            </a:r>
            <a:endParaRPr lang="en-US" sz="1100" dirty="0"/>
          </a:p>
        </p:txBody>
      </p:sp>
      <p:sp>
        <p:nvSpPr>
          <p:cNvPr id="24" name="Shape 22"/>
          <p:cNvSpPr/>
          <p:nvPr/>
        </p:nvSpPr>
        <p:spPr>
          <a:xfrm>
            <a:off x="6263640" y="3127248"/>
            <a:ext cx="27432" cy="640080"/>
          </a:xfrm>
          <a:prstGeom prst="rect">
            <a:avLst/>
          </a:prstGeom>
          <a:solidFill>
            <a:srgbClr val="3D2E4A"/>
          </a:solidFill>
          <a:ln w="12700">
            <a:solidFill>
              <a:srgbClr val="3D2E4A"/>
            </a:solidFill>
            <a:prstDash val="solid"/>
          </a:ln>
        </p:spPr>
      </p:sp>
      <p:sp>
        <p:nvSpPr>
          <p:cNvPr id="25" name="Text 23"/>
          <p:cNvSpPr/>
          <p:nvPr/>
        </p:nvSpPr>
        <p:spPr>
          <a:xfrm>
            <a:off x="6382512" y="3108960"/>
            <a:ext cx="2286000" cy="68580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Meaning flows and settles. Attractors are real. The cascade follows dynamical laws, not random processes.</a:t>
            </a:r>
            <a:endParaRPr lang="en-US" sz="1000" dirty="0"/>
          </a:p>
        </p:txBody>
      </p:sp>
      <p:sp>
        <p:nvSpPr>
          <p:cNvPr id="26" name="Shape 24"/>
          <p:cNvSpPr/>
          <p:nvPr/>
        </p:nvSpPr>
        <p:spPr>
          <a:xfrm>
            <a:off x="384048" y="3968496"/>
            <a:ext cx="8394192" cy="822960"/>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27" name="Shape 25"/>
          <p:cNvSpPr/>
          <p:nvPr/>
        </p:nvSpPr>
        <p:spPr>
          <a:xfrm>
            <a:off x="384048" y="3968496"/>
            <a:ext cx="54864" cy="822960"/>
          </a:xfrm>
          <a:prstGeom prst="rect">
            <a:avLst/>
          </a:prstGeom>
          <a:solidFill>
            <a:srgbClr val="C0392B"/>
          </a:solidFill>
          <a:ln w="12700">
            <a:solidFill>
              <a:srgbClr val="C0392B"/>
            </a:solidFill>
            <a:prstDash val="solid"/>
          </a:ln>
        </p:spPr>
      </p:sp>
      <p:sp>
        <p:nvSpPr>
          <p:cNvPr id="28" name="Text 26"/>
          <p:cNvSpPr/>
          <p:nvPr/>
        </p:nvSpPr>
        <p:spPr>
          <a:xfrm>
            <a:off x="566928" y="4041648"/>
            <a:ext cx="3200400" cy="329184"/>
          </a:xfrm>
          <a:prstGeom prst="rect">
            <a:avLst/>
          </a:prstGeom>
          <a:noFill/>
          <a:ln/>
        </p:spPr>
        <p:txBody>
          <a:bodyPr wrap="square" rtlCol="0" anchor="ctr"/>
          <a:lstStyle/>
          <a:p>
            <a:pPr indent="0" marL="0">
              <a:buNone/>
            </a:pPr>
            <a:r>
              <a:rPr lang="en-US" sz="1150" i="1" dirty="0">
                <a:solidFill>
                  <a:srgbClr val="9A8AA8"/>
                </a:solidFill>
                <a:latin typeface="Calibri" pitchFamily="34" charset="0"/>
                <a:ea typeface="Calibri" pitchFamily="34" charset="-122"/>
                <a:cs typeface="Calibri" pitchFamily="34" charset="-120"/>
              </a:rPr>
              <a:t>Embedding space is finite, bounded, approximate</a:t>
            </a:r>
            <a:endParaRPr lang="en-US" sz="1150" dirty="0"/>
          </a:p>
        </p:txBody>
      </p:sp>
      <p:sp>
        <p:nvSpPr>
          <p:cNvPr id="29" name="Shape 27"/>
          <p:cNvSpPr/>
          <p:nvPr/>
        </p:nvSpPr>
        <p:spPr>
          <a:xfrm>
            <a:off x="3858768" y="4059936"/>
            <a:ext cx="27432" cy="640080"/>
          </a:xfrm>
          <a:prstGeom prst="rect">
            <a:avLst/>
          </a:prstGeom>
          <a:solidFill>
            <a:srgbClr val="3D2E4A"/>
          </a:solidFill>
          <a:ln w="12700">
            <a:solidFill>
              <a:srgbClr val="3D2E4A"/>
            </a:solidFill>
            <a:prstDash val="solid"/>
          </a:ln>
        </p:spPr>
      </p:sp>
      <p:sp>
        <p:nvSpPr>
          <p:cNvPr id="30" name="Text 28"/>
          <p:cNvSpPr/>
          <p:nvPr/>
        </p:nvSpPr>
        <p:spPr>
          <a:xfrm>
            <a:off x="3977640" y="4041648"/>
            <a:ext cx="2194560" cy="329184"/>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Pillar 5 — Finite Reality</a:t>
            </a:r>
            <a:endParaRPr lang="en-US" sz="1100" dirty="0"/>
          </a:p>
        </p:txBody>
      </p:sp>
      <p:sp>
        <p:nvSpPr>
          <p:cNvPr id="31" name="Shape 29"/>
          <p:cNvSpPr/>
          <p:nvPr/>
        </p:nvSpPr>
        <p:spPr>
          <a:xfrm>
            <a:off x="6263640" y="4059936"/>
            <a:ext cx="27432" cy="640080"/>
          </a:xfrm>
          <a:prstGeom prst="rect">
            <a:avLst/>
          </a:prstGeom>
          <a:solidFill>
            <a:srgbClr val="3D2E4A"/>
          </a:solidFill>
          <a:ln w="12700">
            <a:solidFill>
              <a:srgbClr val="3D2E4A"/>
            </a:solidFill>
            <a:prstDash val="solid"/>
          </a:ln>
        </p:spPr>
      </p:sp>
      <p:sp>
        <p:nvSpPr>
          <p:cNvPr id="32" name="Text 30"/>
          <p:cNvSpPr/>
          <p:nvPr/>
        </p:nvSpPr>
        <p:spPr>
          <a:xfrm>
            <a:off x="6382512" y="4041648"/>
            <a:ext cx="2286000" cy="685800"/>
          </a:xfrm>
          <a:prstGeom prst="rect">
            <a:avLst/>
          </a:prstGeom>
          <a:noFill/>
          <a:ln/>
        </p:spPr>
        <p:txBody>
          <a:bodyPr wrap="square" rtlCol="0" anchor="ctr"/>
          <a:lstStyle/>
          <a:p>
            <a:pPr indent="0" marL="0">
              <a:buNone/>
            </a:pPr>
            <a:r>
              <a:rPr lang="en-US" sz="1000" dirty="0">
                <a:solidFill>
                  <a:srgbClr val="F5F0F8"/>
                </a:solidFill>
                <a:latin typeface="Calibri" pitchFamily="34" charset="0"/>
                <a:ea typeface="Calibri" pitchFamily="34" charset="-122"/>
                <a:cs typeface="Calibri" pitchFamily="34" charset="-120"/>
              </a:rPr>
              <a:t>No infinite substrate. Residual ε is unavoidable — that is why distortion produces structure, not chaos.</a:t>
            </a:r>
            <a:endParaRPr lang="en-US" sz="1000" dirty="0"/>
          </a:p>
        </p:txBody>
      </p:sp>
      <p:sp>
        <p:nvSpPr>
          <p:cNvPr id="33" name="Shape 31"/>
          <p:cNvSpPr/>
          <p:nvPr/>
        </p:nvSpPr>
        <p:spPr>
          <a:xfrm>
            <a:off x="384048" y="4773168"/>
            <a:ext cx="8394192" cy="274320"/>
          </a:xfrm>
          <a:prstGeom prst="rect">
            <a:avLst/>
          </a:prstGeom>
          <a:solidFill>
            <a:srgbClr val="0A0510"/>
          </a:solidFill>
          <a:ln w="12700">
            <a:solidFill>
              <a:srgbClr val="F0C040"/>
            </a:solidFill>
            <a:prstDash val="solid"/>
          </a:ln>
        </p:spPr>
      </p:sp>
      <p:sp>
        <p:nvSpPr>
          <p:cNvPr id="34" name="Text 32"/>
          <p:cNvSpPr/>
          <p:nvPr/>
        </p:nvSpPr>
        <p:spPr>
          <a:xfrm>
            <a:off x="475488" y="4791456"/>
            <a:ext cx="8229600" cy="237744"/>
          </a:xfrm>
          <a:prstGeom prst="rect">
            <a:avLst/>
          </a:prstGeom>
          <a:noFill/>
          <a:ln/>
        </p:spPr>
        <p:txBody>
          <a:bodyPr wrap="square" rtlCol="0" anchor="ctr"/>
          <a:lstStyle/>
          <a:p>
            <a:pPr algn="ctr" indent="0" marL="0">
              <a:buNone/>
            </a:pPr>
            <a:r>
              <a:rPr lang="en-US" sz="1000" i="1" dirty="0">
                <a:solidFill>
                  <a:srgbClr val="F0C040"/>
                </a:solidFill>
                <a:latin typeface="Georgia" pitchFamily="34" charset="0"/>
                <a:ea typeface="Georgia" pitchFamily="34" charset="-122"/>
                <a:cs typeface="Georgia" pitchFamily="34" charset="-120"/>
              </a:rPr>
              <a:t>The experiment didn't confirm Geofinitism — it necessitated it. The machine learning field had no framework for what the data showed.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0D14"/>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E0B0F"/>
          </a:solidFill>
          <a:ln w="12700">
            <a:solidFill>
              <a:srgbClr val="0E0B0F"/>
            </a:solidFill>
            <a:prstDash val="solid"/>
          </a:ln>
        </p:spPr>
      </p:sp>
      <p:sp>
        <p:nvSpPr>
          <p:cNvPr id="3" name="Text 1"/>
          <p:cNvSpPr/>
          <p:nvPr/>
        </p:nvSpPr>
        <p:spPr>
          <a:xfrm>
            <a:off x="384048" y="109728"/>
            <a:ext cx="8412480" cy="420624"/>
          </a:xfrm>
          <a:prstGeom prst="rect">
            <a:avLst/>
          </a:prstGeom>
          <a:noFill/>
          <a:ln/>
        </p:spPr>
        <p:txBody>
          <a:bodyPr wrap="square" rtlCol="0" anchor="ctr"/>
          <a:lstStyle/>
          <a:p>
            <a:pPr indent="0" marL="0">
              <a:buNone/>
            </a:pPr>
            <a:r>
              <a:rPr lang="en-US" sz="1200" b="1" spc="250" kern="0" dirty="0">
                <a:solidFill>
                  <a:srgbClr val="C0392B"/>
                </a:solidFill>
                <a:latin typeface="Calibri" pitchFamily="34" charset="0"/>
                <a:ea typeface="Calibri" pitchFamily="34" charset="-122"/>
                <a:cs typeface="Calibri" pitchFamily="34" charset="-120"/>
              </a:rPr>
              <a:t>CALLS TO ACTION — SECURITY AND RESEARCH</a:t>
            </a:r>
            <a:endParaRPr lang="en-US" sz="1200" dirty="0"/>
          </a:p>
        </p:txBody>
      </p:sp>
      <p:sp>
        <p:nvSpPr>
          <p:cNvPr id="4" name="Shape 2"/>
          <p:cNvSpPr/>
          <p:nvPr/>
        </p:nvSpPr>
        <p:spPr>
          <a:xfrm>
            <a:off x="384048" y="777240"/>
            <a:ext cx="4133088" cy="4133088"/>
          </a:xfrm>
          <a:prstGeom prst="rect">
            <a:avLst/>
          </a:prstGeom>
          <a:solidFill>
            <a:srgbClr val="1A1020"/>
          </a:solidFill>
          <a:ln w="12700">
            <a:solidFill>
              <a:srgbClr val="C0392B"/>
            </a:solidFill>
            <a:prstDash val="solid"/>
          </a:ln>
          <a:effectLst>
            <a:outerShdw sx="100000" sy="100000" kx="0" ky="0" algn="bl" rotWithShape="0" blurRad="127000" dist="38100" dir="8100000">
              <a:srgbClr val="000000">
                <a:alpha val="28000"/>
              </a:srgbClr>
            </a:outerShdw>
          </a:effectLst>
        </p:spPr>
      </p:sp>
      <p:sp>
        <p:nvSpPr>
          <p:cNvPr id="5" name="Shape 3"/>
          <p:cNvSpPr/>
          <p:nvPr/>
        </p:nvSpPr>
        <p:spPr>
          <a:xfrm>
            <a:off x="384048" y="777240"/>
            <a:ext cx="54864" cy="4133088"/>
          </a:xfrm>
          <a:prstGeom prst="rect">
            <a:avLst/>
          </a:prstGeom>
          <a:solidFill>
            <a:srgbClr val="C0392B"/>
          </a:solidFill>
          <a:ln w="12700">
            <a:solidFill>
              <a:srgbClr val="C0392B"/>
            </a:solidFill>
            <a:prstDash val="solid"/>
          </a:ln>
        </p:spPr>
      </p:sp>
      <p:sp>
        <p:nvSpPr>
          <p:cNvPr id="6" name="Text 4"/>
          <p:cNvSpPr/>
          <p:nvPr/>
        </p:nvSpPr>
        <p:spPr>
          <a:xfrm>
            <a:off x="566928" y="886968"/>
            <a:ext cx="3749040" cy="320040"/>
          </a:xfrm>
          <a:prstGeom prst="rect">
            <a:avLst/>
          </a:prstGeom>
          <a:noFill/>
          <a:ln/>
        </p:spPr>
        <p:txBody>
          <a:bodyPr wrap="square" rtlCol="0" anchor="ctr"/>
          <a:lstStyle/>
          <a:p>
            <a:pPr indent="0" marL="0">
              <a:buNone/>
            </a:pPr>
            <a:r>
              <a:rPr lang="en-US" sz="1200" b="1" spc="300" kern="0" dirty="0">
                <a:solidFill>
                  <a:srgbClr val="C0392B"/>
                </a:solidFill>
                <a:latin typeface="Calibri" pitchFamily="34" charset="0"/>
                <a:ea typeface="Calibri" pitchFamily="34" charset="-122"/>
                <a:cs typeface="Calibri" pitchFamily="34" charset="-120"/>
              </a:rPr>
              <a:t>⚠  SECURITY</a:t>
            </a:r>
            <a:endParaRPr lang="en-US" sz="1200" dirty="0"/>
          </a:p>
        </p:txBody>
      </p:sp>
      <p:sp>
        <p:nvSpPr>
          <p:cNvPr id="7" name="Text 5"/>
          <p:cNvSpPr/>
          <p:nvPr/>
        </p:nvSpPr>
        <p:spPr>
          <a:xfrm>
            <a:off x="566928" y="1261872"/>
            <a:ext cx="3749040" cy="384048"/>
          </a:xfrm>
          <a:prstGeom prst="rect">
            <a:avLst/>
          </a:prstGeom>
          <a:noFill/>
          <a:ln/>
        </p:spPr>
        <p:txBody>
          <a:bodyPr wrap="square" rtlCol="0" anchor="ctr"/>
          <a:lstStyle/>
          <a:p>
            <a:pPr indent="0" marL="0">
              <a:buNone/>
            </a:pPr>
            <a:r>
              <a:rPr lang="en-US" sz="1200" i="1" dirty="0">
                <a:solidFill>
                  <a:srgbClr val="F5F0F8"/>
                </a:solidFill>
                <a:latin typeface="Georgia" pitchFamily="34" charset="0"/>
                <a:ea typeface="Georgia" pitchFamily="34" charset="-122"/>
                <a:cs typeface="Georgia" pitchFamily="34" charset="-120"/>
              </a:rPr>
              <a:t>This vulnerability needs immediate attention.</a:t>
            </a:r>
            <a:endParaRPr lang="en-US" sz="1200" dirty="0"/>
          </a:p>
        </p:txBody>
      </p:sp>
      <p:sp>
        <p:nvSpPr>
          <p:cNvPr id="8" name="Text 6"/>
          <p:cNvSpPr/>
          <p:nvPr/>
        </p:nvSpPr>
        <p:spPr>
          <a:xfrm>
            <a:off x="566928" y="1737360"/>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AI security teams must test for embedding corruption in inference pipelines</a:t>
            </a:r>
            <a:endParaRPr lang="en-US" sz="1100" dirty="0"/>
          </a:p>
        </p:txBody>
      </p:sp>
      <p:sp>
        <p:nvSpPr>
          <p:cNvPr id="9" name="Text 7"/>
          <p:cNvSpPr/>
          <p:nvPr/>
        </p:nvSpPr>
        <p:spPr>
          <a:xfrm>
            <a:off x="566928" y="2212848"/>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Embedding integrity verification must be developed — cryptographic signing</a:t>
            </a:r>
            <a:endParaRPr lang="en-US" sz="1100" dirty="0"/>
          </a:p>
        </p:txBody>
      </p:sp>
      <p:sp>
        <p:nvSpPr>
          <p:cNvPr id="10" name="Text 8"/>
          <p:cNvSpPr/>
          <p:nvPr/>
        </p:nvSpPr>
        <p:spPr>
          <a:xfrm>
            <a:off x="566928" y="2688336"/>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Anomaly detection must be added at the embedding layer</a:t>
            </a:r>
            <a:endParaRPr lang="en-US" sz="1100" dirty="0"/>
          </a:p>
        </p:txBody>
      </p:sp>
      <p:sp>
        <p:nvSpPr>
          <p:cNvPr id="11" name="Text 9"/>
          <p:cNvSpPr/>
          <p:nvPr/>
        </p:nvSpPr>
        <p:spPr>
          <a:xfrm>
            <a:off x="566928" y="3163824"/>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Red-team exercises must include this attack vector immediately</a:t>
            </a:r>
            <a:endParaRPr lang="en-US" sz="1100" dirty="0"/>
          </a:p>
        </p:txBody>
      </p:sp>
      <p:sp>
        <p:nvSpPr>
          <p:cNvPr id="12" name="Text 10"/>
          <p:cNvSpPr/>
          <p:nvPr/>
        </p:nvSpPr>
        <p:spPr>
          <a:xfrm>
            <a:off x="566928" y="3639312"/>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We must get ahead of this before adversaries weaponise it</a:t>
            </a:r>
            <a:endParaRPr lang="en-US" sz="1100" dirty="0"/>
          </a:p>
        </p:txBody>
      </p:sp>
      <p:sp>
        <p:nvSpPr>
          <p:cNvPr id="13" name="Shape 11"/>
          <p:cNvSpPr/>
          <p:nvPr/>
        </p:nvSpPr>
        <p:spPr>
          <a:xfrm>
            <a:off x="4645152" y="777240"/>
            <a:ext cx="4133088" cy="4133088"/>
          </a:xfrm>
          <a:prstGeom prst="rect">
            <a:avLst/>
          </a:prstGeom>
          <a:solidFill>
            <a:srgbClr val="1A1020"/>
          </a:solidFill>
          <a:ln w="12700">
            <a:solidFill>
              <a:srgbClr val="F0C040"/>
            </a:solidFill>
            <a:prstDash val="solid"/>
          </a:ln>
          <a:effectLst>
            <a:outerShdw sx="100000" sy="100000" kx="0" ky="0" algn="bl" rotWithShape="0" blurRad="127000" dist="38100" dir="8100000">
              <a:srgbClr val="000000">
                <a:alpha val="28000"/>
              </a:srgbClr>
            </a:outerShdw>
          </a:effectLst>
        </p:spPr>
      </p:sp>
      <p:sp>
        <p:nvSpPr>
          <p:cNvPr id="14" name="Shape 12"/>
          <p:cNvSpPr/>
          <p:nvPr/>
        </p:nvSpPr>
        <p:spPr>
          <a:xfrm>
            <a:off x="4645152" y="777240"/>
            <a:ext cx="54864" cy="4133088"/>
          </a:xfrm>
          <a:prstGeom prst="rect">
            <a:avLst/>
          </a:prstGeom>
          <a:solidFill>
            <a:srgbClr val="F0C040"/>
          </a:solidFill>
          <a:ln w="12700">
            <a:solidFill>
              <a:srgbClr val="F0C040"/>
            </a:solidFill>
            <a:prstDash val="solid"/>
          </a:ln>
        </p:spPr>
      </p:sp>
      <p:sp>
        <p:nvSpPr>
          <p:cNvPr id="15" name="Text 13"/>
          <p:cNvSpPr/>
          <p:nvPr/>
        </p:nvSpPr>
        <p:spPr>
          <a:xfrm>
            <a:off x="4828032" y="886968"/>
            <a:ext cx="3749040" cy="320040"/>
          </a:xfrm>
          <a:prstGeom prst="rect">
            <a:avLst/>
          </a:prstGeom>
          <a:noFill/>
          <a:ln/>
        </p:spPr>
        <p:txBody>
          <a:bodyPr wrap="square" rtlCol="0" anchor="ctr"/>
          <a:lstStyle/>
          <a:p>
            <a:pPr indent="0" marL="0">
              <a:buNone/>
            </a:pPr>
            <a:r>
              <a:rPr lang="en-US" sz="1200" b="1" spc="300" kern="0" dirty="0">
                <a:solidFill>
                  <a:srgbClr val="F0C040"/>
                </a:solidFill>
                <a:latin typeface="Calibri" pitchFamily="34" charset="0"/>
                <a:ea typeface="Calibri" pitchFamily="34" charset="-122"/>
                <a:cs typeface="Calibri" pitchFamily="34" charset="-120"/>
              </a:rPr>
              <a:t>◆  RESEARCH</a:t>
            </a:r>
            <a:endParaRPr lang="en-US" sz="1200" dirty="0"/>
          </a:p>
        </p:txBody>
      </p:sp>
      <p:sp>
        <p:nvSpPr>
          <p:cNvPr id="16" name="Text 14"/>
          <p:cNvSpPr/>
          <p:nvPr/>
        </p:nvSpPr>
        <p:spPr>
          <a:xfrm>
            <a:off x="4828032" y="1261872"/>
            <a:ext cx="3749040" cy="384048"/>
          </a:xfrm>
          <a:prstGeom prst="rect">
            <a:avLst/>
          </a:prstGeom>
          <a:noFill/>
          <a:ln/>
        </p:spPr>
        <p:txBody>
          <a:bodyPr wrap="square" rtlCol="0" anchor="ctr"/>
          <a:lstStyle/>
          <a:p>
            <a:pPr indent="0" marL="0">
              <a:buNone/>
            </a:pPr>
            <a:r>
              <a:rPr lang="en-US" sz="1200" i="1" dirty="0">
                <a:solidFill>
                  <a:srgbClr val="F5F0F8"/>
                </a:solidFill>
                <a:latin typeface="Georgia" pitchFamily="34" charset="0"/>
                <a:ea typeface="Georgia" pitchFamily="34" charset="-122"/>
                <a:cs typeface="Georgia" pitchFamily="34" charset="-120"/>
              </a:rPr>
              <a:t>This methodology opens extraordinary frontiers.</a:t>
            </a:r>
            <a:endParaRPr lang="en-US" sz="1200" dirty="0"/>
          </a:p>
        </p:txBody>
      </p:sp>
      <p:sp>
        <p:nvSpPr>
          <p:cNvPr id="17" name="Text 15"/>
          <p:cNvSpPr/>
          <p:nvPr/>
        </p:nvSpPr>
        <p:spPr>
          <a:xfrm>
            <a:off x="4828032" y="1737360"/>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Systematic mapping of AI attractor spaces across all major models</a:t>
            </a:r>
            <a:endParaRPr lang="en-US" sz="1100" dirty="0"/>
          </a:p>
        </p:txBody>
      </p:sp>
      <p:sp>
        <p:nvSpPr>
          <p:cNvPr id="18" name="Text 16"/>
          <p:cNvSpPr/>
          <p:nvPr/>
        </p:nvSpPr>
        <p:spPr>
          <a:xfrm>
            <a:off x="4828032" y="2212848"/>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Controlled distortion experiments for creativity and discovery research</a:t>
            </a:r>
            <a:endParaRPr lang="en-US" sz="1100" dirty="0"/>
          </a:p>
        </p:txBody>
      </p:sp>
      <p:sp>
        <p:nvSpPr>
          <p:cNvPr id="19" name="Text 17"/>
          <p:cNvSpPr/>
          <p:nvPr/>
        </p:nvSpPr>
        <p:spPr>
          <a:xfrm>
            <a:off x="4828032" y="2688336"/>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Cross-model comparison: GPT-4, LLaMA, Claude, Gemini</a:t>
            </a:r>
            <a:endParaRPr lang="en-US" sz="1100" dirty="0"/>
          </a:p>
        </p:txBody>
      </p:sp>
      <p:sp>
        <p:nvSpPr>
          <p:cNvPr id="20" name="Text 18"/>
          <p:cNvSpPr/>
          <p:nvPr/>
        </p:nvSpPr>
        <p:spPr>
          <a:xfrm>
            <a:off x="4828032" y="3163824"/>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Human–AI attractor comparison studies — universal cognitive geometry</a:t>
            </a:r>
            <a:endParaRPr lang="en-US" sz="1100" dirty="0"/>
          </a:p>
        </p:txBody>
      </p:sp>
      <p:sp>
        <p:nvSpPr>
          <p:cNvPr id="21" name="Text 19"/>
          <p:cNvSpPr/>
          <p:nvPr/>
        </p:nvSpPr>
        <p:spPr>
          <a:xfrm>
            <a:off x="4828032" y="3639312"/>
            <a:ext cx="3749040" cy="420624"/>
          </a:xfrm>
          <a:prstGeom prst="rect">
            <a:avLst/>
          </a:prstGeom>
          <a:noFill/>
          <a:ln/>
        </p:spPr>
        <p:txBody>
          <a:bodyPr wrap="square" rtlCol="0" anchor="ctr"/>
          <a:lstStyle/>
          <a:p>
            <a:pPr marL="342900" indent="-342900">
              <a:buSzPct val="100000"/>
              <a:buChar char="•"/>
            </a:pPr>
            <a:r>
              <a:rPr lang="en-US" sz="1100" dirty="0">
                <a:solidFill>
                  <a:srgbClr val="D5CAE8"/>
                </a:solidFill>
                <a:latin typeface="Calibri" pitchFamily="34" charset="0"/>
                <a:ea typeface="Calibri" pitchFamily="34" charset="-122"/>
                <a:cs typeface="Calibri" pitchFamily="34" charset="-120"/>
              </a:rPr>
              <a:t>Applications in art, science, philosophy, drug discovery</a:t>
            </a:r>
            <a:endParaRPr lang="en-US" sz="1100" dirty="0"/>
          </a:p>
        </p:txBody>
      </p:sp>
      <p:sp>
        <p:nvSpPr>
          <p:cNvPr id="22" name="Text 20"/>
          <p:cNvSpPr/>
          <p:nvPr/>
        </p:nvSpPr>
        <p:spPr>
          <a:xfrm>
            <a:off x="365760" y="4846320"/>
            <a:ext cx="8412480" cy="219456"/>
          </a:xfrm>
          <a:prstGeom prst="rect">
            <a:avLst/>
          </a:prstGeom>
          <a:noFill/>
          <a:ln/>
        </p:spPr>
        <p:txBody>
          <a:bodyPr wrap="square" rtlCol="0" anchor="ctr"/>
          <a:lstStyle/>
          <a:p>
            <a:pPr algn="ctr" indent="0" marL="0">
              <a:buNone/>
            </a:pPr>
            <a:r>
              <a:rPr lang="en-US" sz="900" i="1" dirty="0">
                <a:solidFill>
                  <a:srgbClr val="9A8AA8"/>
                </a:solidFill>
                <a:latin typeface="Calibri" pitchFamily="34" charset="0"/>
                <a:ea typeface="Calibri" pitchFamily="34" charset="-122"/>
                <a:cs typeface="Calibri" pitchFamily="34" charset="-120"/>
              </a:rPr>
              <a:t>The geometry of thought is now experimentally accessible. We should explore it with urgency and imagination.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B0F"/>
        </a:solidFill>
      </p:bgPr>
    </p:bg>
    <p:spTree>
      <p:nvGrpSpPr>
        <p:cNvPr id="1" name=""/>
        <p:cNvGrpSpPr/>
        <p:nvPr/>
      </p:nvGrpSpPr>
      <p:grpSpPr>
        <a:xfrm>
          <a:off x="0" y="0"/>
          <a:ext cx="0" cy="0"/>
          <a:chOff x="0" y="0"/>
          <a:chExt cx="0" cy="0"/>
        </a:xfrm>
      </p:grpSpPr>
      <p:sp>
        <p:nvSpPr>
          <p:cNvPr id="2" name="Shape 0"/>
          <p:cNvSpPr/>
          <p:nvPr/>
        </p:nvSpPr>
        <p:spPr>
          <a:xfrm>
            <a:off x="3886200" y="0"/>
            <a:ext cx="5943600" cy="2743200"/>
          </a:xfrm>
          <a:prstGeom prst="ellipse">
            <a:avLst/>
          </a:prstGeom>
          <a:ln w="25400">
            <a:solidFill>
              <a:srgbClr val="C0392B"/>
            </a:solidFill>
            <a:prstDash val="solid"/>
          </a:ln>
        </p:spPr>
      </p:sp>
      <p:sp>
        <p:nvSpPr>
          <p:cNvPr id="3" name="Shape 1"/>
          <p:cNvSpPr/>
          <p:nvPr/>
        </p:nvSpPr>
        <p:spPr>
          <a:xfrm>
            <a:off x="4206240" y="0"/>
            <a:ext cx="4754880" cy="2194560"/>
          </a:xfrm>
          <a:prstGeom prst="ellipse">
            <a:avLst/>
          </a:prstGeom>
          <a:ln w="8890">
            <a:solidFill>
              <a:srgbClr val="3D2E4A">
                <a:alpha val="80000"/>
              </a:srgbClr>
            </a:solidFill>
            <a:prstDash val="solid"/>
          </a:ln>
        </p:spPr>
      </p:sp>
      <p:sp>
        <p:nvSpPr>
          <p:cNvPr id="4" name="Shape 2"/>
          <p:cNvSpPr/>
          <p:nvPr/>
        </p:nvSpPr>
        <p:spPr>
          <a:xfrm>
            <a:off x="4526280" y="0"/>
            <a:ext cx="3566160" cy="1645920"/>
          </a:xfrm>
          <a:prstGeom prst="ellipse">
            <a:avLst/>
          </a:prstGeom>
          <a:ln w="8890">
            <a:solidFill>
              <a:srgbClr val="3D2E4A">
                <a:alpha val="60000"/>
              </a:srgbClr>
            </a:solidFill>
            <a:prstDash val="solid"/>
          </a:ln>
        </p:spPr>
      </p:sp>
      <p:sp>
        <p:nvSpPr>
          <p:cNvPr id="5" name="Shape 3"/>
          <p:cNvSpPr/>
          <p:nvPr/>
        </p:nvSpPr>
        <p:spPr>
          <a:xfrm>
            <a:off x="4846320" y="0"/>
            <a:ext cx="2377440" cy="1097280"/>
          </a:xfrm>
          <a:prstGeom prst="ellipse">
            <a:avLst/>
          </a:prstGeom>
          <a:ln w="8890">
            <a:solidFill>
              <a:srgbClr val="3D2E4A">
                <a:alpha val="40000"/>
              </a:srgbClr>
            </a:solidFill>
            <a:prstDash val="solid"/>
          </a:ln>
        </p:spPr>
      </p:sp>
      <p:sp>
        <p:nvSpPr>
          <p:cNvPr id="6" name="Text 4"/>
          <p:cNvSpPr/>
          <p:nvPr/>
        </p:nvSpPr>
        <p:spPr>
          <a:xfrm>
            <a:off x="457200" y="384048"/>
            <a:ext cx="5486400" cy="274320"/>
          </a:xfrm>
          <a:prstGeom prst="rect">
            <a:avLst/>
          </a:prstGeom>
          <a:noFill/>
          <a:ln/>
        </p:spPr>
        <p:txBody>
          <a:bodyPr wrap="square" rtlCol="0" anchor="ctr"/>
          <a:lstStyle/>
          <a:p>
            <a:pPr indent="0" marL="0">
              <a:buNone/>
            </a:pPr>
            <a:r>
              <a:rPr lang="en-US" sz="1000" b="1" spc="500" kern="0" dirty="0">
                <a:solidFill>
                  <a:srgbClr val="C0392B"/>
                </a:solidFill>
                <a:latin typeface="Calibri" pitchFamily="34" charset="0"/>
                <a:ea typeface="Calibri" pitchFamily="34" charset="-122"/>
                <a:cs typeface="Calibri" pitchFamily="34" charset="-120"/>
              </a:rPr>
              <a:t>THE CAST NET</a:t>
            </a:r>
            <a:endParaRPr lang="en-US" sz="1000" dirty="0"/>
          </a:p>
        </p:txBody>
      </p:sp>
      <p:sp>
        <p:nvSpPr>
          <p:cNvPr id="7" name="Text 5"/>
          <p:cNvSpPr/>
          <p:nvPr/>
        </p:nvSpPr>
        <p:spPr>
          <a:xfrm>
            <a:off x="457200" y="804672"/>
            <a:ext cx="6858000" cy="594360"/>
          </a:xfrm>
          <a:prstGeom prst="rect">
            <a:avLst/>
          </a:prstGeom>
          <a:noFill/>
          <a:ln/>
        </p:spPr>
        <p:txBody>
          <a:bodyPr wrap="square" rtlCol="0" anchor="ctr"/>
          <a:lstStyle/>
          <a:p>
            <a:pPr indent="0" marL="0">
              <a:buNone/>
            </a:pPr>
            <a:r>
              <a:rPr lang="en-US" sz="2400" i="1" dirty="0">
                <a:solidFill>
                  <a:srgbClr val="9A8AA8"/>
                </a:solidFill>
                <a:latin typeface="Georgia" pitchFamily="34" charset="0"/>
                <a:ea typeface="Georgia" pitchFamily="34" charset="-122"/>
                <a:cs typeface="Georgia" pitchFamily="34" charset="-120"/>
              </a:rPr>
              <a:t>"He who casts, catches."</a:t>
            </a:r>
            <a:endParaRPr lang="en-US" sz="2400" dirty="0"/>
          </a:p>
        </p:txBody>
      </p:sp>
      <p:sp>
        <p:nvSpPr>
          <p:cNvPr id="8" name="Text 6"/>
          <p:cNvSpPr/>
          <p:nvPr/>
        </p:nvSpPr>
        <p:spPr>
          <a:xfrm>
            <a:off x="457200" y="1554480"/>
            <a:ext cx="1005840" cy="530352"/>
          </a:xfrm>
          <a:prstGeom prst="rect">
            <a:avLst/>
          </a:prstGeom>
          <a:noFill/>
          <a:ln/>
        </p:spPr>
        <p:txBody>
          <a:bodyPr wrap="square" rtlCol="0" anchor="ctr"/>
          <a:lstStyle/>
          <a:p>
            <a:pPr indent="0" marL="0">
              <a:buNone/>
            </a:pPr>
            <a:r>
              <a:rPr lang="en-US" sz="1200" i="1" dirty="0">
                <a:solidFill>
                  <a:srgbClr val="3D2E4A"/>
                </a:solidFill>
                <a:latin typeface="Calibri" pitchFamily="34" charset="0"/>
                <a:ea typeface="Calibri" pitchFamily="34" charset="-122"/>
                <a:cs typeface="Calibri" pitchFamily="34" charset="-120"/>
              </a:rPr>
              <a:t>We caught</a:t>
            </a:r>
            <a:endParaRPr lang="en-US" sz="1200" dirty="0"/>
          </a:p>
        </p:txBody>
      </p:sp>
      <p:sp>
        <p:nvSpPr>
          <p:cNvPr id="9" name="Shape 7"/>
          <p:cNvSpPr/>
          <p:nvPr/>
        </p:nvSpPr>
        <p:spPr>
          <a:xfrm>
            <a:off x="1554480" y="1627632"/>
            <a:ext cx="54864" cy="384048"/>
          </a:xfrm>
          <a:prstGeom prst="rect">
            <a:avLst/>
          </a:prstGeom>
          <a:solidFill>
            <a:srgbClr val="C0392B"/>
          </a:solidFill>
          <a:ln w="12700">
            <a:solidFill>
              <a:srgbClr val="C0392B"/>
            </a:solidFill>
            <a:prstDash val="solid"/>
          </a:ln>
        </p:spPr>
      </p:sp>
      <p:sp>
        <p:nvSpPr>
          <p:cNvPr id="10" name="Text 8"/>
          <p:cNvSpPr/>
          <p:nvPr/>
        </p:nvSpPr>
        <p:spPr>
          <a:xfrm>
            <a:off x="1737360" y="1554480"/>
            <a:ext cx="5486400" cy="530352"/>
          </a:xfrm>
          <a:prstGeom prst="rect">
            <a:avLst/>
          </a:prstGeom>
          <a:noFill/>
          <a:ln/>
        </p:spPr>
        <p:txBody>
          <a:bodyPr wrap="square" rtlCol="0" anchor="ctr"/>
          <a:lstStyle/>
          <a:p>
            <a:pPr indent="0" marL="0">
              <a:buNone/>
            </a:pPr>
            <a:r>
              <a:rPr lang="en-US" sz="1600" b="1" dirty="0">
                <a:solidFill>
                  <a:srgbClr val="C0392B"/>
                </a:solidFill>
                <a:latin typeface="Georgia" pitchFamily="34" charset="0"/>
                <a:ea typeface="Georgia" pitchFamily="34" charset="-122"/>
                <a:cs typeface="Georgia" pitchFamily="34" charset="-120"/>
              </a:rPr>
              <a:t>a critical security vulnerability</a:t>
            </a:r>
            <a:endParaRPr lang="en-US" sz="1600" dirty="0"/>
          </a:p>
        </p:txBody>
      </p:sp>
      <p:sp>
        <p:nvSpPr>
          <p:cNvPr id="11" name="Text 9"/>
          <p:cNvSpPr/>
          <p:nvPr/>
        </p:nvSpPr>
        <p:spPr>
          <a:xfrm>
            <a:off x="457200" y="2176272"/>
            <a:ext cx="1005840" cy="530352"/>
          </a:xfrm>
          <a:prstGeom prst="rect">
            <a:avLst/>
          </a:prstGeom>
          <a:noFill/>
          <a:ln/>
        </p:spPr>
        <p:txBody>
          <a:bodyPr wrap="square" rtlCol="0" anchor="ctr"/>
          <a:lstStyle/>
          <a:p>
            <a:pPr indent="0" marL="0">
              <a:buNone/>
            </a:pPr>
            <a:r>
              <a:rPr lang="en-US" sz="1200" i="1" dirty="0">
                <a:solidFill>
                  <a:srgbClr val="3D2E4A"/>
                </a:solidFill>
                <a:latin typeface="Calibri" pitchFamily="34" charset="0"/>
                <a:ea typeface="Calibri" pitchFamily="34" charset="-122"/>
                <a:cs typeface="Calibri" pitchFamily="34" charset="-120"/>
              </a:rPr>
              <a:t>We caught</a:t>
            </a:r>
            <a:endParaRPr lang="en-US" sz="1200" dirty="0"/>
          </a:p>
        </p:txBody>
      </p:sp>
      <p:sp>
        <p:nvSpPr>
          <p:cNvPr id="12" name="Shape 10"/>
          <p:cNvSpPr/>
          <p:nvPr/>
        </p:nvSpPr>
        <p:spPr>
          <a:xfrm>
            <a:off x="1554480" y="2249424"/>
            <a:ext cx="54864" cy="384048"/>
          </a:xfrm>
          <a:prstGeom prst="rect">
            <a:avLst/>
          </a:prstGeom>
          <a:solidFill>
            <a:srgbClr val="F0C040"/>
          </a:solidFill>
          <a:ln w="12700">
            <a:solidFill>
              <a:srgbClr val="F0C040"/>
            </a:solidFill>
            <a:prstDash val="solid"/>
          </a:ln>
        </p:spPr>
      </p:sp>
      <p:sp>
        <p:nvSpPr>
          <p:cNvPr id="13" name="Text 11"/>
          <p:cNvSpPr/>
          <p:nvPr/>
        </p:nvSpPr>
        <p:spPr>
          <a:xfrm>
            <a:off x="1737360" y="2176272"/>
            <a:ext cx="5486400" cy="530352"/>
          </a:xfrm>
          <a:prstGeom prst="rect">
            <a:avLst/>
          </a:prstGeom>
          <a:noFill/>
          <a:ln/>
        </p:spPr>
        <p:txBody>
          <a:bodyPr wrap="square" rtlCol="0" anchor="ctr"/>
          <a:lstStyle/>
          <a:p>
            <a:pPr indent="0" marL="0">
              <a:buNone/>
            </a:pPr>
            <a:r>
              <a:rPr lang="en-US" sz="1600" b="1" dirty="0">
                <a:solidFill>
                  <a:srgbClr val="F0C040"/>
                </a:solidFill>
                <a:latin typeface="Georgia" pitchFamily="34" charset="0"/>
                <a:ea typeface="Georgia" pitchFamily="34" charset="-122"/>
                <a:cs typeface="Georgia" pitchFamily="34" charset="-120"/>
              </a:rPr>
              <a:t>a map of cognitive attractor states</a:t>
            </a:r>
            <a:endParaRPr lang="en-US" sz="1600" dirty="0"/>
          </a:p>
        </p:txBody>
      </p:sp>
      <p:sp>
        <p:nvSpPr>
          <p:cNvPr id="14" name="Text 12"/>
          <p:cNvSpPr/>
          <p:nvPr/>
        </p:nvSpPr>
        <p:spPr>
          <a:xfrm>
            <a:off x="457200" y="2798064"/>
            <a:ext cx="1005840" cy="530352"/>
          </a:xfrm>
          <a:prstGeom prst="rect">
            <a:avLst/>
          </a:prstGeom>
          <a:noFill/>
          <a:ln/>
        </p:spPr>
        <p:txBody>
          <a:bodyPr wrap="square" rtlCol="0" anchor="ctr"/>
          <a:lstStyle/>
          <a:p>
            <a:pPr indent="0" marL="0">
              <a:buNone/>
            </a:pPr>
            <a:r>
              <a:rPr lang="en-US" sz="1200" i="1" dirty="0">
                <a:solidFill>
                  <a:srgbClr val="3D2E4A"/>
                </a:solidFill>
                <a:latin typeface="Calibri" pitchFamily="34" charset="0"/>
                <a:ea typeface="Calibri" pitchFamily="34" charset="-122"/>
                <a:cs typeface="Calibri" pitchFamily="34" charset="-120"/>
              </a:rPr>
              <a:t>We caught</a:t>
            </a:r>
            <a:endParaRPr lang="en-US" sz="1200" dirty="0"/>
          </a:p>
        </p:txBody>
      </p:sp>
      <p:sp>
        <p:nvSpPr>
          <p:cNvPr id="15" name="Shape 13"/>
          <p:cNvSpPr/>
          <p:nvPr/>
        </p:nvSpPr>
        <p:spPr>
          <a:xfrm>
            <a:off x="1554480" y="2871216"/>
            <a:ext cx="54864" cy="384048"/>
          </a:xfrm>
          <a:prstGeom prst="rect">
            <a:avLst/>
          </a:prstGeom>
          <a:solidFill>
            <a:srgbClr val="7B5EA7"/>
          </a:solidFill>
          <a:ln w="12700">
            <a:solidFill>
              <a:srgbClr val="7B5EA7"/>
            </a:solidFill>
            <a:prstDash val="solid"/>
          </a:ln>
        </p:spPr>
      </p:sp>
      <p:sp>
        <p:nvSpPr>
          <p:cNvPr id="16" name="Text 14"/>
          <p:cNvSpPr/>
          <p:nvPr/>
        </p:nvSpPr>
        <p:spPr>
          <a:xfrm>
            <a:off x="1737360" y="2798064"/>
            <a:ext cx="5486400" cy="530352"/>
          </a:xfrm>
          <a:prstGeom prst="rect">
            <a:avLst/>
          </a:prstGeom>
          <a:noFill/>
          <a:ln/>
        </p:spPr>
        <p:txBody>
          <a:bodyPr wrap="square" rtlCol="0" anchor="ctr"/>
          <a:lstStyle/>
          <a:p>
            <a:pPr indent="0" marL="0">
              <a:buNone/>
            </a:pPr>
            <a:r>
              <a:rPr lang="en-US" sz="1600" b="1" dirty="0">
                <a:solidFill>
                  <a:srgbClr val="7B5EA7"/>
                </a:solidFill>
                <a:latin typeface="Georgia" pitchFamily="34" charset="0"/>
                <a:ea typeface="Georgia" pitchFamily="34" charset="-122"/>
                <a:cs typeface="Georgia" pitchFamily="34" charset="-120"/>
              </a:rPr>
              <a:t>a window into the geometry of thought itself</a:t>
            </a:r>
            <a:endParaRPr lang="en-US" sz="1600" dirty="0"/>
          </a:p>
        </p:txBody>
      </p:sp>
      <p:sp>
        <p:nvSpPr>
          <p:cNvPr id="17" name="Text 15"/>
          <p:cNvSpPr/>
          <p:nvPr/>
        </p:nvSpPr>
        <p:spPr>
          <a:xfrm>
            <a:off x="457200" y="3419856"/>
            <a:ext cx="1005840" cy="530352"/>
          </a:xfrm>
          <a:prstGeom prst="rect">
            <a:avLst/>
          </a:prstGeom>
          <a:noFill/>
          <a:ln/>
        </p:spPr>
        <p:txBody>
          <a:bodyPr wrap="square" rtlCol="0" anchor="ctr"/>
          <a:lstStyle/>
          <a:p>
            <a:pPr indent="0" marL="0">
              <a:buNone/>
            </a:pPr>
            <a:r>
              <a:rPr lang="en-US" sz="1200" i="1" dirty="0">
                <a:solidFill>
                  <a:srgbClr val="3D2E4A"/>
                </a:solidFill>
                <a:latin typeface="Calibri" pitchFamily="34" charset="0"/>
                <a:ea typeface="Calibri" pitchFamily="34" charset="-122"/>
                <a:cs typeface="Calibri" pitchFamily="34" charset="-120"/>
              </a:rPr>
              <a:t>We caught</a:t>
            </a:r>
            <a:endParaRPr lang="en-US" sz="1200" dirty="0"/>
          </a:p>
        </p:txBody>
      </p:sp>
      <p:sp>
        <p:nvSpPr>
          <p:cNvPr id="18" name="Shape 16"/>
          <p:cNvSpPr/>
          <p:nvPr/>
        </p:nvSpPr>
        <p:spPr>
          <a:xfrm>
            <a:off x="1554480" y="3493008"/>
            <a:ext cx="54864" cy="384048"/>
          </a:xfrm>
          <a:prstGeom prst="rect">
            <a:avLst/>
          </a:prstGeom>
          <a:solidFill>
            <a:srgbClr val="E67E22"/>
          </a:solidFill>
          <a:ln w="12700">
            <a:solidFill>
              <a:srgbClr val="E67E22"/>
            </a:solidFill>
            <a:prstDash val="solid"/>
          </a:ln>
        </p:spPr>
      </p:sp>
      <p:sp>
        <p:nvSpPr>
          <p:cNvPr id="19" name="Text 17"/>
          <p:cNvSpPr/>
          <p:nvPr/>
        </p:nvSpPr>
        <p:spPr>
          <a:xfrm>
            <a:off x="1737360" y="3419856"/>
            <a:ext cx="5486400" cy="530352"/>
          </a:xfrm>
          <a:prstGeom prst="rect">
            <a:avLst/>
          </a:prstGeom>
          <a:noFill/>
          <a:ln/>
        </p:spPr>
        <p:txBody>
          <a:bodyPr wrap="square" rtlCol="0" anchor="ctr"/>
          <a:lstStyle/>
          <a:p>
            <a:pPr indent="0" marL="0">
              <a:buNone/>
            </a:pPr>
            <a:r>
              <a:rPr lang="en-US" sz="1600" b="1" dirty="0">
                <a:solidFill>
                  <a:srgbClr val="E67E22"/>
                </a:solidFill>
                <a:latin typeface="Georgia" pitchFamily="34" charset="0"/>
                <a:ea typeface="Georgia" pitchFamily="34" charset="-122"/>
                <a:cs typeface="Georgia" pitchFamily="34" charset="-120"/>
              </a:rPr>
              <a:t>the empirical foundation of Geofinitism</a:t>
            </a:r>
            <a:endParaRPr lang="en-US" sz="1600" dirty="0"/>
          </a:p>
        </p:txBody>
      </p:sp>
      <p:sp>
        <p:nvSpPr>
          <p:cNvPr id="20" name="Text 18"/>
          <p:cNvSpPr/>
          <p:nvPr/>
        </p:nvSpPr>
        <p:spPr>
          <a:xfrm>
            <a:off x="457200" y="4114800"/>
            <a:ext cx="6858000" cy="384048"/>
          </a:xfrm>
          <a:prstGeom prst="rect">
            <a:avLst/>
          </a:prstGeom>
          <a:noFill/>
          <a:ln/>
        </p:spPr>
        <p:txBody>
          <a:bodyPr wrap="square" rtlCol="0" anchor="ctr"/>
          <a:lstStyle/>
          <a:p>
            <a:pPr indent="0" marL="0">
              <a:buNone/>
            </a:pPr>
            <a:r>
              <a:rPr lang="en-US" sz="1300" i="1" dirty="0">
                <a:solidFill>
                  <a:srgbClr val="D5CAE8"/>
                </a:solidFill>
                <a:latin typeface="Georgia" pitchFamily="34" charset="0"/>
                <a:ea typeface="Georgia" pitchFamily="34" charset="-122"/>
                <a:cs typeface="Georgia" pitchFamily="34" charset="-120"/>
              </a:rPr>
              <a:t>All from a simple JPEG compression layer and a question about the meaning of life.</a:t>
            </a:r>
            <a:endParaRPr lang="en-US" sz="1300" dirty="0"/>
          </a:p>
        </p:txBody>
      </p:sp>
      <p:sp>
        <p:nvSpPr>
          <p:cNvPr id="21" name="Shape 19"/>
          <p:cNvSpPr/>
          <p:nvPr/>
        </p:nvSpPr>
        <p:spPr>
          <a:xfrm>
            <a:off x="411480" y="4590288"/>
            <a:ext cx="8321040" cy="475488"/>
          </a:xfrm>
          <a:prstGeom prst="rect">
            <a:avLst/>
          </a:prstGeom>
          <a:solidFill>
            <a:srgbClr val="0A0510"/>
          </a:solidFill>
          <a:ln w="12700">
            <a:solidFill>
              <a:srgbClr val="F0C040"/>
            </a:solidFill>
            <a:prstDash val="solid"/>
          </a:ln>
        </p:spPr>
      </p:sp>
      <p:sp>
        <p:nvSpPr>
          <p:cNvPr id="22" name="Text 20"/>
          <p:cNvSpPr/>
          <p:nvPr/>
        </p:nvSpPr>
        <p:spPr>
          <a:xfrm>
            <a:off x="502920" y="4608576"/>
            <a:ext cx="8229600" cy="438912"/>
          </a:xfrm>
          <a:prstGeom prst="rect">
            <a:avLst/>
          </a:prstGeom>
          <a:noFill/>
          <a:ln/>
        </p:spPr>
        <p:txBody>
          <a:bodyPr wrap="square" rtlCol="0" anchor="ctr"/>
          <a:lstStyle/>
          <a:p>
            <a:pPr algn="ctr" indent="0" marL="0">
              <a:buNone/>
            </a:pPr>
            <a:r>
              <a:rPr lang="en-US" sz="1150" i="1" dirty="0">
                <a:solidFill>
                  <a:srgbClr val="F0C040"/>
                </a:solidFill>
                <a:latin typeface="Georgia" pitchFamily="34" charset="0"/>
                <a:ea typeface="Georgia" pitchFamily="34" charset="-122"/>
                <a:cs typeface="Georgia" pitchFamily="34" charset="-120"/>
              </a:rPr>
              <a:t>Now we need others to see what's in the net. The evidence is here. The threat is real. The opportunity is profound.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Probing the Geometry of Thought</dc:title>
  <dc:subject>PptxGenJS Presentation</dc:subject>
  <dc:creator>DeepSeek — Geofinitism 2026</dc:creator>
  <cp:lastModifiedBy>DeepSeek — Geofinitism 2026</cp:lastModifiedBy>
  <cp:revision>1</cp:revision>
  <dcterms:created xsi:type="dcterms:W3CDTF">2026-02-27T18:39:15Z</dcterms:created>
  <dcterms:modified xsi:type="dcterms:W3CDTF">2026-02-27T18:39:15Z</dcterms:modified>
</cp:coreProperties>
</file>